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60" r:id="rId1"/>
  </p:sldMasterIdLst>
  <p:notesMasterIdLst>
    <p:notesMasterId r:id="rId29"/>
  </p:notesMasterIdLst>
  <p:sldIdLst>
    <p:sldId id="256" r:id="rId2"/>
    <p:sldId id="257" r:id="rId3"/>
    <p:sldId id="260" r:id="rId4"/>
    <p:sldId id="262" r:id="rId5"/>
    <p:sldId id="259" r:id="rId6"/>
    <p:sldId id="266" r:id="rId7"/>
    <p:sldId id="268" r:id="rId8"/>
    <p:sldId id="267" r:id="rId9"/>
    <p:sldId id="263" r:id="rId10"/>
    <p:sldId id="264" r:id="rId11"/>
    <p:sldId id="265" r:id="rId12"/>
    <p:sldId id="269" r:id="rId13"/>
    <p:sldId id="270" r:id="rId14"/>
    <p:sldId id="271" r:id="rId15"/>
    <p:sldId id="272" r:id="rId16"/>
    <p:sldId id="273" r:id="rId17"/>
    <p:sldId id="276" r:id="rId18"/>
    <p:sldId id="277" r:id="rId19"/>
    <p:sldId id="278" r:id="rId20"/>
    <p:sldId id="283" r:id="rId21"/>
    <p:sldId id="284" r:id="rId22"/>
    <p:sldId id="285" r:id="rId23"/>
    <p:sldId id="279" r:id="rId24"/>
    <p:sldId id="280" r:id="rId25"/>
    <p:sldId id="281" r:id="rId26"/>
    <p:sldId id="286" r:id="rId27"/>
    <p:sldId id="282" r:id="rId28"/>
  </p:sldIdLst>
  <p:sldSz cx="9144000" cy="6858000" type="screen4x3"/>
  <p:notesSz cx="6858000" cy="9144000"/>
  <p:defaultTex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1961" autoAdjust="0"/>
  </p:normalViewPr>
  <p:slideViewPr>
    <p:cSldViewPr>
      <p:cViewPr varScale="1">
        <p:scale>
          <a:sx n="68" d="100"/>
          <a:sy n="68" d="100"/>
        </p:scale>
        <p:origin x="1446" y="72"/>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oleObject" Target="Book1"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layout/>
      <c:overlay val="0"/>
    </c:title>
    <c:autoTitleDeleted val="0"/>
    <c:plotArea>
      <c:layout>
        <c:manualLayout>
          <c:layoutTarget val="inner"/>
          <c:xMode val="edge"/>
          <c:yMode val="edge"/>
          <c:x val="0.14103018372703502"/>
          <c:y val="0.15081562385346994"/>
          <c:w val="0.5641377952755906"/>
          <c:h val="0.67190246380492769"/>
        </c:manualLayout>
      </c:layout>
      <c:barChart>
        <c:barDir val="col"/>
        <c:grouping val="clustered"/>
        <c:varyColors val="0"/>
        <c:ser>
          <c:idx val="0"/>
          <c:order val="0"/>
          <c:tx>
            <c:strRef>
              <c:f>Sheet1!$B$6</c:f>
              <c:strCache>
                <c:ptCount val="1"/>
                <c:pt idx="0">
                  <c:v>Mức hài lòng chung</c:v>
                </c:pt>
              </c:strCache>
            </c:strRef>
          </c:tx>
          <c:invertIfNegative val="0"/>
          <c:dLbls>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Sheet1!$C$5:$G$5</c:f>
              <c:strCache>
                <c:ptCount val="5"/>
                <c:pt idx="0">
                  <c:v>Các Sở</c:v>
                </c:pt>
                <c:pt idx="1">
                  <c:v>BHXH</c:v>
                </c:pt>
                <c:pt idx="2">
                  <c:v>Kho bạc</c:v>
                </c:pt>
                <c:pt idx="3">
                  <c:v>Thuế</c:v>
                </c:pt>
                <c:pt idx="4">
                  <c:v>UBND cấp huyện</c:v>
                </c:pt>
              </c:strCache>
            </c:strRef>
          </c:cat>
          <c:val>
            <c:numRef>
              <c:f>Sheet1!$C$6:$G$6</c:f>
              <c:numCache>
                <c:formatCode>#,000%</c:formatCode>
                <c:ptCount val="5"/>
                <c:pt idx="0">
                  <c:v>0.73140000000000005</c:v>
                </c:pt>
                <c:pt idx="1">
                  <c:v>0.70040000000000002</c:v>
                </c:pt>
                <c:pt idx="2">
                  <c:v>0.76650000000000063</c:v>
                </c:pt>
                <c:pt idx="3">
                  <c:v>0.70970000000000188</c:v>
                </c:pt>
                <c:pt idx="4">
                  <c:v>0.72470000000000212</c:v>
                </c:pt>
              </c:numCache>
            </c:numRef>
          </c:val>
        </c:ser>
        <c:dLbls>
          <c:showLegendKey val="0"/>
          <c:showVal val="0"/>
          <c:showCatName val="0"/>
          <c:showSerName val="0"/>
          <c:showPercent val="0"/>
          <c:showBubbleSize val="0"/>
        </c:dLbls>
        <c:gapWidth val="150"/>
        <c:axId val="-1710240464"/>
        <c:axId val="-1710248624"/>
      </c:barChart>
      <c:catAx>
        <c:axId val="-1710240464"/>
        <c:scaling>
          <c:orientation val="minMax"/>
        </c:scaling>
        <c:delete val="0"/>
        <c:axPos val="b"/>
        <c:numFmt formatCode="General" sourceLinked="0"/>
        <c:majorTickMark val="out"/>
        <c:minorTickMark val="none"/>
        <c:tickLblPos val="nextTo"/>
        <c:crossAx val="-1710248624"/>
        <c:crosses val="autoZero"/>
        <c:auto val="1"/>
        <c:lblAlgn val="ctr"/>
        <c:lblOffset val="100"/>
        <c:noMultiLvlLbl val="0"/>
      </c:catAx>
      <c:valAx>
        <c:axId val="-1710248624"/>
        <c:scaling>
          <c:orientation val="minMax"/>
          <c:max val="1"/>
          <c:min val="0.2"/>
        </c:scaling>
        <c:delete val="0"/>
        <c:axPos val="l"/>
        <c:majorGridlines/>
        <c:numFmt formatCode="0%" sourceLinked="0"/>
        <c:majorTickMark val="out"/>
        <c:minorTickMark val="none"/>
        <c:tickLblPos val="nextTo"/>
        <c:crossAx val="-1710240464"/>
        <c:crosses val="autoZero"/>
        <c:crossBetween val="between"/>
        <c:majorUnit val="0.1"/>
      </c:valAx>
    </c:plotArea>
    <c:legend>
      <c:legendPos val="r"/>
      <c:layout>
        <c:manualLayout>
          <c:xMode val="edge"/>
          <c:yMode val="edge"/>
          <c:x val="0.75516797900262456"/>
          <c:y val="0.45858803939830223"/>
          <c:w val="0.20038757655293091"/>
          <c:h val="0.1293294386588773"/>
        </c:manualLayout>
      </c:layout>
      <c:overlay val="0"/>
    </c:legend>
    <c:plotVisOnly val="1"/>
    <c:dispBlanksAs val="gap"/>
    <c:showDLblsOverMax val="0"/>
  </c:chart>
  <c:externalData r:id="rId1">
    <c:autoUpdate val="0"/>
  </c:externalData>
</c:chartSpac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2FEBA81-A60C-4540-8BF2-D53E75650E59}" type="doc">
      <dgm:prSet loTypeId="urn:microsoft.com/office/officeart/2005/8/layout/process1" loCatId="process" qsTypeId="urn:microsoft.com/office/officeart/2005/8/quickstyle/simple1" qsCatId="simple" csTypeId="urn:microsoft.com/office/officeart/2005/8/colors/accent1_2" csCatId="accent1" phldr="1"/>
      <dgm:spPr/>
    </dgm:pt>
    <dgm:pt modelId="{EBC7C8B6-2106-4EE3-A7C9-AA1D34C6615C}">
      <dgm:prSet phldrT="[Text]"/>
      <dgm:spPr/>
      <dgm:t>
        <a:bodyPr/>
        <a:lstStyle/>
        <a:p>
          <a:r>
            <a:rPr lang="en-US" smtClean="0"/>
            <a:t>T</a:t>
          </a:r>
          <a:r>
            <a:rPr lang="vi-VN" smtClean="0"/>
            <a:t>hiết lập tiêu chí đánh giáị</a:t>
          </a:r>
          <a:endParaRPr lang="en-US"/>
        </a:p>
      </dgm:t>
    </dgm:pt>
    <dgm:pt modelId="{0DF62DC2-4E8B-45A1-BEFC-F273473C1AFE}" type="parTrans" cxnId="{6DA710BB-763D-4D0E-8D17-15131893C6EE}">
      <dgm:prSet/>
      <dgm:spPr/>
      <dgm:t>
        <a:bodyPr/>
        <a:lstStyle/>
        <a:p>
          <a:endParaRPr lang="en-US"/>
        </a:p>
      </dgm:t>
    </dgm:pt>
    <dgm:pt modelId="{2FE362E2-A5A1-4FCA-9317-3D89F09A8972}" type="sibTrans" cxnId="{6DA710BB-763D-4D0E-8D17-15131893C6EE}">
      <dgm:prSet/>
      <dgm:spPr/>
      <dgm:t>
        <a:bodyPr/>
        <a:lstStyle/>
        <a:p>
          <a:endParaRPr lang="en-US"/>
        </a:p>
      </dgm:t>
    </dgm:pt>
    <dgm:pt modelId="{CF89B935-12ED-4E7D-AB3A-0473DF8D49BA}">
      <dgm:prSet phldrT="[Text]"/>
      <dgm:spPr/>
      <dgm:t>
        <a:bodyPr/>
        <a:lstStyle/>
        <a:p>
          <a:r>
            <a:rPr lang="en-US" err="1" smtClean="0"/>
            <a:t>Thiết</a:t>
          </a:r>
          <a:r>
            <a:rPr lang="en-US" smtClean="0"/>
            <a:t> </a:t>
          </a:r>
          <a:r>
            <a:rPr lang="en-US" err="1" smtClean="0"/>
            <a:t>lập</a:t>
          </a:r>
          <a:r>
            <a:rPr lang="en-US" smtClean="0"/>
            <a:t> </a:t>
          </a:r>
          <a:r>
            <a:rPr lang="en-US" err="1" smtClean="0"/>
            <a:t>danh</a:t>
          </a:r>
          <a:r>
            <a:rPr lang="en-US" smtClean="0"/>
            <a:t> </a:t>
          </a:r>
          <a:r>
            <a:rPr lang="en-US" err="1" smtClean="0"/>
            <a:t>sách</a:t>
          </a:r>
          <a:r>
            <a:rPr lang="en-US" smtClean="0"/>
            <a:t> </a:t>
          </a:r>
          <a:r>
            <a:rPr lang="en-US" err="1" smtClean="0"/>
            <a:t>cán</a:t>
          </a:r>
          <a:r>
            <a:rPr lang="en-US" smtClean="0"/>
            <a:t> </a:t>
          </a:r>
          <a:r>
            <a:rPr lang="en-US" err="1" smtClean="0"/>
            <a:t>bộ</a:t>
          </a:r>
          <a:r>
            <a:rPr lang="en-US" smtClean="0"/>
            <a:t> </a:t>
          </a:r>
          <a:r>
            <a:rPr lang="en-US" err="1" smtClean="0"/>
            <a:t>được</a:t>
          </a:r>
          <a:r>
            <a:rPr lang="en-US" smtClean="0"/>
            <a:t> </a:t>
          </a:r>
          <a:r>
            <a:rPr lang="en-US" err="1" smtClean="0"/>
            <a:t>đánh</a:t>
          </a:r>
          <a:r>
            <a:rPr lang="en-US" smtClean="0"/>
            <a:t> </a:t>
          </a:r>
          <a:r>
            <a:rPr lang="en-US" err="1" smtClean="0"/>
            <a:t>giá</a:t>
          </a:r>
          <a:r>
            <a:rPr lang="en-US" smtClean="0"/>
            <a:t> </a:t>
          </a:r>
          <a:endParaRPr lang="en-US"/>
        </a:p>
      </dgm:t>
    </dgm:pt>
    <dgm:pt modelId="{3188F2DD-6715-4D23-BF27-60CA1432B956}" type="parTrans" cxnId="{0FC72EDB-B37D-42D7-9710-77F35AA20559}">
      <dgm:prSet/>
      <dgm:spPr/>
      <dgm:t>
        <a:bodyPr/>
        <a:lstStyle/>
        <a:p>
          <a:endParaRPr lang="en-US"/>
        </a:p>
      </dgm:t>
    </dgm:pt>
    <dgm:pt modelId="{EC41730E-FDC4-44AD-8A61-622171A7872A}" type="sibTrans" cxnId="{0FC72EDB-B37D-42D7-9710-77F35AA20559}">
      <dgm:prSet/>
      <dgm:spPr/>
      <dgm:t>
        <a:bodyPr/>
        <a:lstStyle/>
        <a:p>
          <a:endParaRPr lang="en-US"/>
        </a:p>
      </dgm:t>
    </dgm:pt>
    <dgm:pt modelId="{95854777-30D4-4072-A363-9FD3C2E1D085}">
      <dgm:prSet phldrT="[Text]"/>
      <dgm:spPr>
        <a:solidFill>
          <a:srgbClr val="C00000"/>
        </a:solidFill>
      </dgm:spPr>
      <dgm:t>
        <a:bodyPr/>
        <a:lstStyle/>
        <a:p>
          <a:r>
            <a:rPr lang="en-US" err="1" smtClean="0"/>
            <a:t>Thực</a:t>
          </a:r>
          <a:r>
            <a:rPr lang="en-US" smtClean="0"/>
            <a:t> </a:t>
          </a:r>
          <a:r>
            <a:rPr lang="en-US" err="1" smtClean="0"/>
            <a:t>hiện</a:t>
          </a:r>
          <a:r>
            <a:rPr lang="en-US" smtClean="0"/>
            <a:t> </a:t>
          </a:r>
          <a:r>
            <a:rPr lang="en-US" err="1" smtClean="0"/>
            <a:t>đánh</a:t>
          </a:r>
          <a:r>
            <a:rPr lang="en-US" smtClean="0"/>
            <a:t> </a:t>
          </a:r>
          <a:r>
            <a:rPr lang="en-US" err="1" smtClean="0"/>
            <a:t>giá</a:t>
          </a:r>
          <a:endParaRPr lang="en-US"/>
        </a:p>
      </dgm:t>
    </dgm:pt>
    <dgm:pt modelId="{AFB27A5B-D377-4575-B562-E917EC80CF9C}" type="parTrans" cxnId="{D5CB8918-995D-410B-9EFC-0268A4463168}">
      <dgm:prSet/>
      <dgm:spPr/>
      <dgm:t>
        <a:bodyPr/>
        <a:lstStyle/>
        <a:p>
          <a:endParaRPr lang="en-US"/>
        </a:p>
      </dgm:t>
    </dgm:pt>
    <dgm:pt modelId="{276494CC-14AC-48D7-A201-6BEA8AC3A28F}" type="sibTrans" cxnId="{D5CB8918-995D-410B-9EFC-0268A4463168}">
      <dgm:prSet/>
      <dgm:spPr/>
      <dgm:t>
        <a:bodyPr/>
        <a:lstStyle/>
        <a:p>
          <a:endParaRPr lang="en-US"/>
        </a:p>
      </dgm:t>
    </dgm:pt>
    <dgm:pt modelId="{8E68A1B9-5208-4D66-B2B1-F302298C3072}">
      <dgm:prSet phldrT="[Text]"/>
      <dgm:spPr/>
      <dgm:t>
        <a:bodyPr/>
        <a:lstStyle/>
        <a:p>
          <a:r>
            <a:rPr lang="en-US" err="1" smtClean="0"/>
            <a:t>Thống</a:t>
          </a:r>
          <a:r>
            <a:rPr lang="en-US" smtClean="0"/>
            <a:t> </a:t>
          </a:r>
          <a:r>
            <a:rPr lang="en-US" err="1" smtClean="0"/>
            <a:t>kê</a:t>
          </a:r>
          <a:r>
            <a:rPr lang="en-US" smtClean="0"/>
            <a:t> </a:t>
          </a:r>
          <a:r>
            <a:rPr lang="en-US" err="1" smtClean="0"/>
            <a:t>báo</a:t>
          </a:r>
          <a:r>
            <a:rPr lang="en-US" smtClean="0"/>
            <a:t> </a:t>
          </a:r>
          <a:r>
            <a:rPr lang="en-US" err="1" smtClean="0"/>
            <a:t>cáo</a:t>
          </a:r>
          <a:r>
            <a:rPr lang="en-US" smtClean="0"/>
            <a:t>, </a:t>
          </a:r>
          <a:r>
            <a:rPr lang="en-US" err="1" smtClean="0"/>
            <a:t>phân</a:t>
          </a:r>
          <a:r>
            <a:rPr lang="en-US" smtClean="0"/>
            <a:t> </a:t>
          </a:r>
          <a:r>
            <a:rPr lang="en-US" err="1" smtClean="0"/>
            <a:t>tích</a:t>
          </a:r>
          <a:r>
            <a:rPr lang="en-US" smtClean="0"/>
            <a:t> </a:t>
          </a:r>
          <a:r>
            <a:rPr lang="en-US" err="1" smtClean="0"/>
            <a:t>kết</a:t>
          </a:r>
          <a:r>
            <a:rPr lang="en-US" smtClean="0"/>
            <a:t> </a:t>
          </a:r>
          <a:r>
            <a:rPr lang="en-US" err="1" smtClean="0"/>
            <a:t>quả</a:t>
          </a:r>
          <a:endParaRPr lang="en-US"/>
        </a:p>
      </dgm:t>
    </dgm:pt>
    <dgm:pt modelId="{958D1EC3-FB9B-4481-A29D-9CFCBA8F9769}" type="parTrans" cxnId="{474341B3-7E17-45EA-A1E2-3534ACB59D52}">
      <dgm:prSet/>
      <dgm:spPr/>
      <dgm:t>
        <a:bodyPr/>
        <a:lstStyle/>
        <a:p>
          <a:endParaRPr lang="en-US"/>
        </a:p>
      </dgm:t>
    </dgm:pt>
    <dgm:pt modelId="{5BD74EEC-A904-4B91-BB87-D01392D46C6C}" type="sibTrans" cxnId="{474341B3-7E17-45EA-A1E2-3534ACB59D52}">
      <dgm:prSet/>
      <dgm:spPr/>
      <dgm:t>
        <a:bodyPr/>
        <a:lstStyle/>
        <a:p>
          <a:endParaRPr lang="en-US"/>
        </a:p>
      </dgm:t>
    </dgm:pt>
    <dgm:pt modelId="{13EBF38A-189E-4059-AAE1-2FE37D23A0B3}" type="pres">
      <dgm:prSet presAssocID="{52FEBA81-A60C-4540-8BF2-D53E75650E59}" presName="Name0" presStyleCnt="0">
        <dgm:presLayoutVars>
          <dgm:dir/>
          <dgm:resizeHandles val="exact"/>
        </dgm:presLayoutVars>
      </dgm:prSet>
      <dgm:spPr/>
    </dgm:pt>
    <dgm:pt modelId="{1ED8335C-1C49-4BDE-A9E3-C6FD049BA7B8}" type="pres">
      <dgm:prSet presAssocID="{EBC7C8B6-2106-4EE3-A7C9-AA1D34C6615C}" presName="node" presStyleLbl="node1" presStyleIdx="0" presStyleCnt="4">
        <dgm:presLayoutVars>
          <dgm:bulletEnabled val="1"/>
        </dgm:presLayoutVars>
      </dgm:prSet>
      <dgm:spPr/>
      <dgm:t>
        <a:bodyPr/>
        <a:lstStyle/>
        <a:p>
          <a:endParaRPr lang="en-US"/>
        </a:p>
      </dgm:t>
    </dgm:pt>
    <dgm:pt modelId="{ABA99DFF-DD44-4D94-A1BD-F046548C2DF5}" type="pres">
      <dgm:prSet presAssocID="{2FE362E2-A5A1-4FCA-9317-3D89F09A8972}" presName="sibTrans" presStyleLbl="sibTrans2D1" presStyleIdx="0" presStyleCnt="3"/>
      <dgm:spPr/>
      <dgm:t>
        <a:bodyPr/>
        <a:lstStyle/>
        <a:p>
          <a:endParaRPr lang="en-US"/>
        </a:p>
      </dgm:t>
    </dgm:pt>
    <dgm:pt modelId="{69420619-9380-4671-977B-E7518F5BCEAB}" type="pres">
      <dgm:prSet presAssocID="{2FE362E2-A5A1-4FCA-9317-3D89F09A8972}" presName="connectorText" presStyleLbl="sibTrans2D1" presStyleIdx="0" presStyleCnt="3"/>
      <dgm:spPr/>
      <dgm:t>
        <a:bodyPr/>
        <a:lstStyle/>
        <a:p>
          <a:endParaRPr lang="en-US"/>
        </a:p>
      </dgm:t>
    </dgm:pt>
    <dgm:pt modelId="{202D7FF7-C8E3-483D-B397-56EF62608091}" type="pres">
      <dgm:prSet presAssocID="{CF89B935-12ED-4E7D-AB3A-0473DF8D49BA}" presName="node" presStyleLbl="node1" presStyleIdx="1" presStyleCnt="4">
        <dgm:presLayoutVars>
          <dgm:bulletEnabled val="1"/>
        </dgm:presLayoutVars>
      </dgm:prSet>
      <dgm:spPr/>
      <dgm:t>
        <a:bodyPr/>
        <a:lstStyle/>
        <a:p>
          <a:endParaRPr lang="en-US"/>
        </a:p>
      </dgm:t>
    </dgm:pt>
    <dgm:pt modelId="{7B38333A-260C-4232-B5F7-0A65B907E9AA}" type="pres">
      <dgm:prSet presAssocID="{EC41730E-FDC4-44AD-8A61-622171A7872A}" presName="sibTrans" presStyleLbl="sibTrans2D1" presStyleIdx="1" presStyleCnt="3"/>
      <dgm:spPr/>
      <dgm:t>
        <a:bodyPr/>
        <a:lstStyle/>
        <a:p>
          <a:endParaRPr lang="en-US"/>
        </a:p>
      </dgm:t>
    </dgm:pt>
    <dgm:pt modelId="{8A72F549-06DD-4217-960E-450FBFF0F9D7}" type="pres">
      <dgm:prSet presAssocID="{EC41730E-FDC4-44AD-8A61-622171A7872A}" presName="connectorText" presStyleLbl="sibTrans2D1" presStyleIdx="1" presStyleCnt="3"/>
      <dgm:spPr/>
      <dgm:t>
        <a:bodyPr/>
        <a:lstStyle/>
        <a:p>
          <a:endParaRPr lang="en-US"/>
        </a:p>
      </dgm:t>
    </dgm:pt>
    <dgm:pt modelId="{BABEFBD1-C04C-4A1C-A802-DB1D56E8C800}" type="pres">
      <dgm:prSet presAssocID="{95854777-30D4-4072-A363-9FD3C2E1D085}" presName="node" presStyleLbl="node1" presStyleIdx="2" presStyleCnt="4">
        <dgm:presLayoutVars>
          <dgm:bulletEnabled val="1"/>
        </dgm:presLayoutVars>
      </dgm:prSet>
      <dgm:spPr/>
      <dgm:t>
        <a:bodyPr/>
        <a:lstStyle/>
        <a:p>
          <a:endParaRPr lang="en-US"/>
        </a:p>
      </dgm:t>
    </dgm:pt>
    <dgm:pt modelId="{3A42FB48-8C8D-468A-A4A6-CC50F71BF0EF}" type="pres">
      <dgm:prSet presAssocID="{276494CC-14AC-48D7-A201-6BEA8AC3A28F}" presName="sibTrans" presStyleLbl="sibTrans2D1" presStyleIdx="2" presStyleCnt="3"/>
      <dgm:spPr/>
      <dgm:t>
        <a:bodyPr/>
        <a:lstStyle/>
        <a:p>
          <a:endParaRPr lang="en-US"/>
        </a:p>
      </dgm:t>
    </dgm:pt>
    <dgm:pt modelId="{B1AF1ADF-BB84-41C8-A55E-6BB9F4C42546}" type="pres">
      <dgm:prSet presAssocID="{276494CC-14AC-48D7-A201-6BEA8AC3A28F}" presName="connectorText" presStyleLbl="sibTrans2D1" presStyleIdx="2" presStyleCnt="3"/>
      <dgm:spPr/>
      <dgm:t>
        <a:bodyPr/>
        <a:lstStyle/>
        <a:p>
          <a:endParaRPr lang="en-US"/>
        </a:p>
      </dgm:t>
    </dgm:pt>
    <dgm:pt modelId="{D1566BA0-D7BF-4D68-9D94-08F88FCA5DC4}" type="pres">
      <dgm:prSet presAssocID="{8E68A1B9-5208-4D66-B2B1-F302298C3072}" presName="node" presStyleLbl="node1" presStyleIdx="3" presStyleCnt="4">
        <dgm:presLayoutVars>
          <dgm:bulletEnabled val="1"/>
        </dgm:presLayoutVars>
      </dgm:prSet>
      <dgm:spPr/>
      <dgm:t>
        <a:bodyPr/>
        <a:lstStyle/>
        <a:p>
          <a:endParaRPr lang="en-US"/>
        </a:p>
      </dgm:t>
    </dgm:pt>
  </dgm:ptLst>
  <dgm:cxnLst>
    <dgm:cxn modelId="{D34AE023-B9B9-4EBA-8E1C-07DCCC969469}" type="presOf" srcId="{2FE362E2-A5A1-4FCA-9317-3D89F09A8972}" destId="{ABA99DFF-DD44-4D94-A1BD-F046548C2DF5}" srcOrd="0" destOrd="0" presId="urn:microsoft.com/office/officeart/2005/8/layout/process1"/>
    <dgm:cxn modelId="{656961F0-6120-4095-B574-2D63959B08AE}" type="presOf" srcId="{95854777-30D4-4072-A363-9FD3C2E1D085}" destId="{BABEFBD1-C04C-4A1C-A802-DB1D56E8C800}" srcOrd="0" destOrd="0" presId="urn:microsoft.com/office/officeart/2005/8/layout/process1"/>
    <dgm:cxn modelId="{8F79BA5B-FFD5-4B49-9DB7-592F38193906}" type="presOf" srcId="{52FEBA81-A60C-4540-8BF2-D53E75650E59}" destId="{13EBF38A-189E-4059-AAE1-2FE37D23A0B3}" srcOrd="0" destOrd="0" presId="urn:microsoft.com/office/officeart/2005/8/layout/process1"/>
    <dgm:cxn modelId="{6CCEAE31-8E1E-4D69-BF89-953503E20AA7}" type="presOf" srcId="{2FE362E2-A5A1-4FCA-9317-3D89F09A8972}" destId="{69420619-9380-4671-977B-E7518F5BCEAB}" srcOrd="1" destOrd="0" presId="urn:microsoft.com/office/officeart/2005/8/layout/process1"/>
    <dgm:cxn modelId="{474341B3-7E17-45EA-A1E2-3534ACB59D52}" srcId="{52FEBA81-A60C-4540-8BF2-D53E75650E59}" destId="{8E68A1B9-5208-4D66-B2B1-F302298C3072}" srcOrd="3" destOrd="0" parTransId="{958D1EC3-FB9B-4481-A29D-9CFCBA8F9769}" sibTransId="{5BD74EEC-A904-4B91-BB87-D01392D46C6C}"/>
    <dgm:cxn modelId="{66B2A439-4946-474B-AFDF-2BC72C95DCC5}" type="presOf" srcId="{EBC7C8B6-2106-4EE3-A7C9-AA1D34C6615C}" destId="{1ED8335C-1C49-4BDE-A9E3-C6FD049BA7B8}" srcOrd="0" destOrd="0" presId="urn:microsoft.com/office/officeart/2005/8/layout/process1"/>
    <dgm:cxn modelId="{58D63D70-4199-4C19-9D14-6FEFD43EFFF1}" type="presOf" srcId="{8E68A1B9-5208-4D66-B2B1-F302298C3072}" destId="{D1566BA0-D7BF-4D68-9D94-08F88FCA5DC4}" srcOrd="0" destOrd="0" presId="urn:microsoft.com/office/officeart/2005/8/layout/process1"/>
    <dgm:cxn modelId="{8C66330C-4CB4-4B73-ACDB-8388F10D2989}" type="presOf" srcId="{276494CC-14AC-48D7-A201-6BEA8AC3A28F}" destId="{3A42FB48-8C8D-468A-A4A6-CC50F71BF0EF}" srcOrd="0" destOrd="0" presId="urn:microsoft.com/office/officeart/2005/8/layout/process1"/>
    <dgm:cxn modelId="{CEB2B5EE-A8D9-430D-82B2-E149F3DA372D}" type="presOf" srcId="{276494CC-14AC-48D7-A201-6BEA8AC3A28F}" destId="{B1AF1ADF-BB84-41C8-A55E-6BB9F4C42546}" srcOrd="1" destOrd="0" presId="urn:microsoft.com/office/officeart/2005/8/layout/process1"/>
    <dgm:cxn modelId="{D5CB8918-995D-410B-9EFC-0268A4463168}" srcId="{52FEBA81-A60C-4540-8BF2-D53E75650E59}" destId="{95854777-30D4-4072-A363-9FD3C2E1D085}" srcOrd="2" destOrd="0" parTransId="{AFB27A5B-D377-4575-B562-E917EC80CF9C}" sibTransId="{276494CC-14AC-48D7-A201-6BEA8AC3A28F}"/>
    <dgm:cxn modelId="{549791A6-40C4-413E-B67E-3BB0FE2518A2}" type="presOf" srcId="{EC41730E-FDC4-44AD-8A61-622171A7872A}" destId="{8A72F549-06DD-4217-960E-450FBFF0F9D7}" srcOrd="1" destOrd="0" presId="urn:microsoft.com/office/officeart/2005/8/layout/process1"/>
    <dgm:cxn modelId="{0FC72EDB-B37D-42D7-9710-77F35AA20559}" srcId="{52FEBA81-A60C-4540-8BF2-D53E75650E59}" destId="{CF89B935-12ED-4E7D-AB3A-0473DF8D49BA}" srcOrd="1" destOrd="0" parTransId="{3188F2DD-6715-4D23-BF27-60CA1432B956}" sibTransId="{EC41730E-FDC4-44AD-8A61-622171A7872A}"/>
    <dgm:cxn modelId="{6DA710BB-763D-4D0E-8D17-15131893C6EE}" srcId="{52FEBA81-A60C-4540-8BF2-D53E75650E59}" destId="{EBC7C8B6-2106-4EE3-A7C9-AA1D34C6615C}" srcOrd="0" destOrd="0" parTransId="{0DF62DC2-4E8B-45A1-BEFC-F273473C1AFE}" sibTransId="{2FE362E2-A5A1-4FCA-9317-3D89F09A8972}"/>
    <dgm:cxn modelId="{99F686CB-FA53-4E3D-98A7-8022735F1380}" type="presOf" srcId="{CF89B935-12ED-4E7D-AB3A-0473DF8D49BA}" destId="{202D7FF7-C8E3-483D-B397-56EF62608091}" srcOrd="0" destOrd="0" presId="urn:microsoft.com/office/officeart/2005/8/layout/process1"/>
    <dgm:cxn modelId="{F6F26220-B345-4156-A3E4-60C15B363D98}" type="presOf" srcId="{EC41730E-FDC4-44AD-8A61-622171A7872A}" destId="{7B38333A-260C-4232-B5F7-0A65B907E9AA}" srcOrd="0" destOrd="0" presId="urn:microsoft.com/office/officeart/2005/8/layout/process1"/>
    <dgm:cxn modelId="{7DA25BA2-FF1F-46CB-9F23-97D8FEA4B64A}" type="presParOf" srcId="{13EBF38A-189E-4059-AAE1-2FE37D23A0B3}" destId="{1ED8335C-1C49-4BDE-A9E3-C6FD049BA7B8}" srcOrd="0" destOrd="0" presId="urn:microsoft.com/office/officeart/2005/8/layout/process1"/>
    <dgm:cxn modelId="{F460A598-8523-4EBB-A22B-F2BDC47F1E5A}" type="presParOf" srcId="{13EBF38A-189E-4059-AAE1-2FE37D23A0B3}" destId="{ABA99DFF-DD44-4D94-A1BD-F046548C2DF5}" srcOrd="1" destOrd="0" presId="urn:microsoft.com/office/officeart/2005/8/layout/process1"/>
    <dgm:cxn modelId="{0DE76899-F3F0-4573-B55F-FB00E852C196}" type="presParOf" srcId="{ABA99DFF-DD44-4D94-A1BD-F046548C2DF5}" destId="{69420619-9380-4671-977B-E7518F5BCEAB}" srcOrd="0" destOrd="0" presId="urn:microsoft.com/office/officeart/2005/8/layout/process1"/>
    <dgm:cxn modelId="{9BDA0FEC-EDA6-4A99-A0A7-8A0D80F5B17D}" type="presParOf" srcId="{13EBF38A-189E-4059-AAE1-2FE37D23A0B3}" destId="{202D7FF7-C8E3-483D-B397-56EF62608091}" srcOrd="2" destOrd="0" presId="urn:microsoft.com/office/officeart/2005/8/layout/process1"/>
    <dgm:cxn modelId="{2D604C51-4DFD-404F-91F6-8ACDEF795CAA}" type="presParOf" srcId="{13EBF38A-189E-4059-AAE1-2FE37D23A0B3}" destId="{7B38333A-260C-4232-B5F7-0A65B907E9AA}" srcOrd="3" destOrd="0" presId="urn:microsoft.com/office/officeart/2005/8/layout/process1"/>
    <dgm:cxn modelId="{1CDD8BE7-7F4A-46D4-9C1A-38120C1CC268}" type="presParOf" srcId="{7B38333A-260C-4232-B5F7-0A65B907E9AA}" destId="{8A72F549-06DD-4217-960E-450FBFF0F9D7}" srcOrd="0" destOrd="0" presId="urn:microsoft.com/office/officeart/2005/8/layout/process1"/>
    <dgm:cxn modelId="{41CB77AE-1053-47C1-84FC-97B884EB98B6}" type="presParOf" srcId="{13EBF38A-189E-4059-AAE1-2FE37D23A0B3}" destId="{BABEFBD1-C04C-4A1C-A802-DB1D56E8C800}" srcOrd="4" destOrd="0" presId="urn:microsoft.com/office/officeart/2005/8/layout/process1"/>
    <dgm:cxn modelId="{5070B0E7-F0F0-4B70-A975-D5D148978876}" type="presParOf" srcId="{13EBF38A-189E-4059-AAE1-2FE37D23A0B3}" destId="{3A42FB48-8C8D-468A-A4A6-CC50F71BF0EF}" srcOrd="5" destOrd="0" presId="urn:microsoft.com/office/officeart/2005/8/layout/process1"/>
    <dgm:cxn modelId="{A6586390-370C-48AF-B14F-05B030DA803A}" type="presParOf" srcId="{3A42FB48-8C8D-468A-A4A6-CC50F71BF0EF}" destId="{B1AF1ADF-BB84-41C8-A55E-6BB9F4C42546}" srcOrd="0" destOrd="0" presId="urn:microsoft.com/office/officeart/2005/8/layout/process1"/>
    <dgm:cxn modelId="{0E7B5A51-203D-4602-995C-FAAF9DB5E908}" type="presParOf" srcId="{13EBF38A-189E-4059-AAE1-2FE37D23A0B3}" destId="{D1566BA0-D7BF-4D68-9D94-08F88FCA5DC4}" srcOrd="6"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2FEBA81-A60C-4540-8BF2-D53E75650E59}" type="doc">
      <dgm:prSet loTypeId="urn:microsoft.com/office/officeart/2005/8/layout/process1" loCatId="process" qsTypeId="urn:microsoft.com/office/officeart/2005/8/quickstyle/simple1" qsCatId="simple" csTypeId="urn:microsoft.com/office/officeart/2005/8/colors/accent1_2" csCatId="accent1" phldr="1"/>
      <dgm:spPr/>
    </dgm:pt>
    <dgm:pt modelId="{EBC7C8B6-2106-4EE3-A7C9-AA1D34C6615C}">
      <dgm:prSet phldrT="[Text]"/>
      <dgm:spPr/>
      <dgm:t>
        <a:bodyPr/>
        <a:lstStyle/>
        <a:p>
          <a:r>
            <a:rPr lang="en-US" err="1" smtClean="0"/>
            <a:t>Cung</a:t>
          </a:r>
          <a:r>
            <a:rPr lang="en-US" smtClean="0"/>
            <a:t> </a:t>
          </a:r>
          <a:r>
            <a:rPr lang="en-US" err="1" smtClean="0"/>
            <a:t>cấp</a:t>
          </a:r>
          <a:r>
            <a:rPr lang="en-US" smtClean="0"/>
            <a:t> </a:t>
          </a:r>
          <a:r>
            <a:rPr lang="en-US" err="1" smtClean="0"/>
            <a:t>số</a:t>
          </a:r>
          <a:r>
            <a:rPr lang="en-US" smtClean="0"/>
            <a:t> </a:t>
          </a:r>
          <a:r>
            <a:rPr lang="en-US" err="1" smtClean="0"/>
            <a:t>Biên</a:t>
          </a:r>
          <a:r>
            <a:rPr lang="en-US" smtClean="0"/>
            <a:t> </a:t>
          </a:r>
          <a:r>
            <a:rPr lang="en-US" err="1" smtClean="0"/>
            <a:t>nhận</a:t>
          </a:r>
          <a:r>
            <a:rPr lang="en-US" smtClean="0"/>
            <a:t> </a:t>
          </a:r>
          <a:r>
            <a:rPr lang="en-US" err="1" smtClean="0"/>
            <a:t>hoặc</a:t>
          </a:r>
          <a:r>
            <a:rPr lang="en-US" smtClean="0"/>
            <a:t> </a:t>
          </a:r>
          <a:r>
            <a:rPr lang="en-US" err="1" smtClean="0"/>
            <a:t>số</a:t>
          </a:r>
          <a:r>
            <a:rPr lang="en-US" smtClean="0"/>
            <a:t> </a:t>
          </a:r>
          <a:r>
            <a:rPr lang="en-US" err="1" smtClean="0"/>
            <a:t>điện</a:t>
          </a:r>
          <a:r>
            <a:rPr lang="en-US" smtClean="0"/>
            <a:t> </a:t>
          </a:r>
          <a:r>
            <a:rPr lang="en-US" err="1" smtClean="0"/>
            <a:t>thoại</a:t>
          </a:r>
          <a:endParaRPr lang="en-US"/>
        </a:p>
      </dgm:t>
    </dgm:pt>
    <dgm:pt modelId="{0DF62DC2-4E8B-45A1-BEFC-F273473C1AFE}" type="parTrans" cxnId="{6DA710BB-763D-4D0E-8D17-15131893C6EE}">
      <dgm:prSet/>
      <dgm:spPr/>
      <dgm:t>
        <a:bodyPr/>
        <a:lstStyle/>
        <a:p>
          <a:endParaRPr lang="en-US"/>
        </a:p>
      </dgm:t>
    </dgm:pt>
    <dgm:pt modelId="{2FE362E2-A5A1-4FCA-9317-3D89F09A8972}" type="sibTrans" cxnId="{6DA710BB-763D-4D0E-8D17-15131893C6EE}">
      <dgm:prSet/>
      <dgm:spPr/>
      <dgm:t>
        <a:bodyPr/>
        <a:lstStyle/>
        <a:p>
          <a:endParaRPr lang="en-US"/>
        </a:p>
      </dgm:t>
    </dgm:pt>
    <dgm:pt modelId="{CF89B935-12ED-4E7D-AB3A-0473DF8D49BA}">
      <dgm:prSet phldrT="[Text]"/>
      <dgm:spPr/>
      <dgm:t>
        <a:bodyPr/>
        <a:lstStyle/>
        <a:p>
          <a:r>
            <a:rPr lang="en-US" err="1" smtClean="0"/>
            <a:t>Trả</a:t>
          </a:r>
          <a:r>
            <a:rPr lang="en-US" smtClean="0"/>
            <a:t> </a:t>
          </a:r>
          <a:r>
            <a:rPr lang="en-US" err="1" smtClean="0"/>
            <a:t>lời</a:t>
          </a:r>
          <a:r>
            <a:rPr lang="en-US" smtClean="0"/>
            <a:t> </a:t>
          </a:r>
          <a:r>
            <a:rPr lang="en-US" err="1" smtClean="0"/>
            <a:t>các</a:t>
          </a:r>
          <a:r>
            <a:rPr lang="en-US" smtClean="0"/>
            <a:t> </a:t>
          </a:r>
          <a:r>
            <a:rPr lang="en-US" err="1" smtClean="0"/>
            <a:t>câu</a:t>
          </a:r>
          <a:r>
            <a:rPr lang="en-US" smtClean="0"/>
            <a:t> </a:t>
          </a:r>
          <a:r>
            <a:rPr lang="en-US" err="1" smtClean="0"/>
            <a:t>hỏi</a:t>
          </a:r>
          <a:r>
            <a:rPr lang="en-US" smtClean="0"/>
            <a:t> </a:t>
          </a:r>
          <a:endParaRPr lang="en-US"/>
        </a:p>
      </dgm:t>
    </dgm:pt>
    <dgm:pt modelId="{3188F2DD-6715-4D23-BF27-60CA1432B956}" type="parTrans" cxnId="{0FC72EDB-B37D-42D7-9710-77F35AA20559}">
      <dgm:prSet/>
      <dgm:spPr/>
      <dgm:t>
        <a:bodyPr/>
        <a:lstStyle/>
        <a:p>
          <a:endParaRPr lang="en-US"/>
        </a:p>
      </dgm:t>
    </dgm:pt>
    <dgm:pt modelId="{EC41730E-FDC4-44AD-8A61-622171A7872A}" type="sibTrans" cxnId="{0FC72EDB-B37D-42D7-9710-77F35AA20559}">
      <dgm:prSet/>
      <dgm:spPr/>
      <dgm:t>
        <a:bodyPr/>
        <a:lstStyle/>
        <a:p>
          <a:endParaRPr lang="en-US"/>
        </a:p>
      </dgm:t>
    </dgm:pt>
    <dgm:pt modelId="{95854777-30D4-4072-A363-9FD3C2E1D085}">
      <dgm:prSet phldrT="[Text]"/>
      <dgm:spPr/>
      <dgm:t>
        <a:bodyPr/>
        <a:lstStyle/>
        <a:p>
          <a:r>
            <a:rPr lang="en-US" err="1" smtClean="0"/>
            <a:t>Gửi</a:t>
          </a:r>
          <a:r>
            <a:rPr lang="en-US" smtClean="0"/>
            <a:t> </a:t>
          </a:r>
          <a:r>
            <a:rPr lang="en-US" err="1" smtClean="0"/>
            <a:t>kết</a:t>
          </a:r>
          <a:r>
            <a:rPr lang="en-US" smtClean="0"/>
            <a:t> </a:t>
          </a:r>
          <a:r>
            <a:rPr lang="en-US" err="1" smtClean="0"/>
            <a:t>quả</a:t>
          </a:r>
          <a:endParaRPr lang="en-US"/>
        </a:p>
      </dgm:t>
    </dgm:pt>
    <dgm:pt modelId="{AFB27A5B-D377-4575-B562-E917EC80CF9C}" type="parTrans" cxnId="{D5CB8918-995D-410B-9EFC-0268A4463168}">
      <dgm:prSet/>
      <dgm:spPr/>
      <dgm:t>
        <a:bodyPr/>
        <a:lstStyle/>
        <a:p>
          <a:endParaRPr lang="en-US"/>
        </a:p>
      </dgm:t>
    </dgm:pt>
    <dgm:pt modelId="{276494CC-14AC-48D7-A201-6BEA8AC3A28F}" type="sibTrans" cxnId="{D5CB8918-995D-410B-9EFC-0268A4463168}">
      <dgm:prSet/>
      <dgm:spPr/>
      <dgm:t>
        <a:bodyPr/>
        <a:lstStyle/>
        <a:p>
          <a:endParaRPr lang="en-US"/>
        </a:p>
      </dgm:t>
    </dgm:pt>
    <dgm:pt modelId="{13EBF38A-189E-4059-AAE1-2FE37D23A0B3}" type="pres">
      <dgm:prSet presAssocID="{52FEBA81-A60C-4540-8BF2-D53E75650E59}" presName="Name0" presStyleCnt="0">
        <dgm:presLayoutVars>
          <dgm:dir/>
          <dgm:resizeHandles val="exact"/>
        </dgm:presLayoutVars>
      </dgm:prSet>
      <dgm:spPr/>
    </dgm:pt>
    <dgm:pt modelId="{1ED8335C-1C49-4BDE-A9E3-C6FD049BA7B8}" type="pres">
      <dgm:prSet presAssocID="{EBC7C8B6-2106-4EE3-A7C9-AA1D34C6615C}" presName="node" presStyleLbl="node1" presStyleIdx="0" presStyleCnt="3">
        <dgm:presLayoutVars>
          <dgm:bulletEnabled val="1"/>
        </dgm:presLayoutVars>
      </dgm:prSet>
      <dgm:spPr/>
      <dgm:t>
        <a:bodyPr/>
        <a:lstStyle/>
        <a:p>
          <a:endParaRPr lang="en-US"/>
        </a:p>
      </dgm:t>
    </dgm:pt>
    <dgm:pt modelId="{ABA99DFF-DD44-4D94-A1BD-F046548C2DF5}" type="pres">
      <dgm:prSet presAssocID="{2FE362E2-A5A1-4FCA-9317-3D89F09A8972}" presName="sibTrans" presStyleLbl="sibTrans2D1" presStyleIdx="0" presStyleCnt="2"/>
      <dgm:spPr/>
      <dgm:t>
        <a:bodyPr/>
        <a:lstStyle/>
        <a:p>
          <a:endParaRPr lang="en-US"/>
        </a:p>
      </dgm:t>
    </dgm:pt>
    <dgm:pt modelId="{69420619-9380-4671-977B-E7518F5BCEAB}" type="pres">
      <dgm:prSet presAssocID="{2FE362E2-A5A1-4FCA-9317-3D89F09A8972}" presName="connectorText" presStyleLbl="sibTrans2D1" presStyleIdx="0" presStyleCnt="2"/>
      <dgm:spPr/>
      <dgm:t>
        <a:bodyPr/>
        <a:lstStyle/>
        <a:p>
          <a:endParaRPr lang="en-US"/>
        </a:p>
      </dgm:t>
    </dgm:pt>
    <dgm:pt modelId="{202D7FF7-C8E3-483D-B397-56EF62608091}" type="pres">
      <dgm:prSet presAssocID="{CF89B935-12ED-4E7D-AB3A-0473DF8D49BA}" presName="node" presStyleLbl="node1" presStyleIdx="1" presStyleCnt="3">
        <dgm:presLayoutVars>
          <dgm:bulletEnabled val="1"/>
        </dgm:presLayoutVars>
      </dgm:prSet>
      <dgm:spPr/>
      <dgm:t>
        <a:bodyPr/>
        <a:lstStyle/>
        <a:p>
          <a:endParaRPr lang="en-US"/>
        </a:p>
      </dgm:t>
    </dgm:pt>
    <dgm:pt modelId="{7B38333A-260C-4232-B5F7-0A65B907E9AA}" type="pres">
      <dgm:prSet presAssocID="{EC41730E-FDC4-44AD-8A61-622171A7872A}" presName="sibTrans" presStyleLbl="sibTrans2D1" presStyleIdx="1" presStyleCnt="2"/>
      <dgm:spPr/>
      <dgm:t>
        <a:bodyPr/>
        <a:lstStyle/>
        <a:p>
          <a:endParaRPr lang="en-US"/>
        </a:p>
      </dgm:t>
    </dgm:pt>
    <dgm:pt modelId="{8A72F549-06DD-4217-960E-450FBFF0F9D7}" type="pres">
      <dgm:prSet presAssocID="{EC41730E-FDC4-44AD-8A61-622171A7872A}" presName="connectorText" presStyleLbl="sibTrans2D1" presStyleIdx="1" presStyleCnt="2"/>
      <dgm:spPr/>
      <dgm:t>
        <a:bodyPr/>
        <a:lstStyle/>
        <a:p>
          <a:endParaRPr lang="en-US"/>
        </a:p>
      </dgm:t>
    </dgm:pt>
    <dgm:pt modelId="{BABEFBD1-C04C-4A1C-A802-DB1D56E8C800}" type="pres">
      <dgm:prSet presAssocID="{95854777-30D4-4072-A363-9FD3C2E1D085}" presName="node" presStyleLbl="node1" presStyleIdx="2" presStyleCnt="3">
        <dgm:presLayoutVars>
          <dgm:bulletEnabled val="1"/>
        </dgm:presLayoutVars>
      </dgm:prSet>
      <dgm:spPr/>
      <dgm:t>
        <a:bodyPr/>
        <a:lstStyle/>
        <a:p>
          <a:endParaRPr lang="en-US"/>
        </a:p>
      </dgm:t>
    </dgm:pt>
  </dgm:ptLst>
  <dgm:cxnLst>
    <dgm:cxn modelId="{DADD0AEB-7CA2-4430-A037-582E8206805E}" type="presOf" srcId="{52FEBA81-A60C-4540-8BF2-D53E75650E59}" destId="{13EBF38A-189E-4059-AAE1-2FE37D23A0B3}" srcOrd="0" destOrd="0" presId="urn:microsoft.com/office/officeart/2005/8/layout/process1"/>
    <dgm:cxn modelId="{26A0CFD9-5CC9-42A0-BC76-E2D0C9262AA1}" type="presOf" srcId="{EC41730E-FDC4-44AD-8A61-622171A7872A}" destId="{8A72F549-06DD-4217-960E-450FBFF0F9D7}" srcOrd="1" destOrd="0" presId="urn:microsoft.com/office/officeart/2005/8/layout/process1"/>
    <dgm:cxn modelId="{3AD1A2B4-EFB7-4405-81B0-E2B836A9875E}" type="presOf" srcId="{EC41730E-FDC4-44AD-8A61-622171A7872A}" destId="{7B38333A-260C-4232-B5F7-0A65B907E9AA}" srcOrd="0" destOrd="0" presId="urn:microsoft.com/office/officeart/2005/8/layout/process1"/>
    <dgm:cxn modelId="{5334FAF1-54EF-4223-BFFA-6C691EDA7615}" type="presOf" srcId="{2FE362E2-A5A1-4FCA-9317-3D89F09A8972}" destId="{69420619-9380-4671-977B-E7518F5BCEAB}" srcOrd="1" destOrd="0" presId="urn:microsoft.com/office/officeart/2005/8/layout/process1"/>
    <dgm:cxn modelId="{D5CB8918-995D-410B-9EFC-0268A4463168}" srcId="{52FEBA81-A60C-4540-8BF2-D53E75650E59}" destId="{95854777-30D4-4072-A363-9FD3C2E1D085}" srcOrd="2" destOrd="0" parTransId="{AFB27A5B-D377-4575-B562-E917EC80CF9C}" sibTransId="{276494CC-14AC-48D7-A201-6BEA8AC3A28F}"/>
    <dgm:cxn modelId="{45CF4003-98BE-4F97-99C7-561938503068}" type="presOf" srcId="{EBC7C8B6-2106-4EE3-A7C9-AA1D34C6615C}" destId="{1ED8335C-1C49-4BDE-A9E3-C6FD049BA7B8}" srcOrd="0" destOrd="0" presId="urn:microsoft.com/office/officeart/2005/8/layout/process1"/>
    <dgm:cxn modelId="{017F12F7-0C93-49AD-8000-B4115DB6D3EB}" type="presOf" srcId="{CF89B935-12ED-4E7D-AB3A-0473DF8D49BA}" destId="{202D7FF7-C8E3-483D-B397-56EF62608091}" srcOrd="0" destOrd="0" presId="urn:microsoft.com/office/officeart/2005/8/layout/process1"/>
    <dgm:cxn modelId="{0BD88CAD-9C94-42BB-970B-9C1CD5179A42}" type="presOf" srcId="{2FE362E2-A5A1-4FCA-9317-3D89F09A8972}" destId="{ABA99DFF-DD44-4D94-A1BD-F046548C2DF5}" srcOrd="0" destOrd="0" presId="urn:microsoft.com/office/officeart/2005/8/layout/process1"/>
    <dgm:cxn modelId="{225FC433-459F-4751-AEC1-4926A4484F19}" type="presOf" srcId="{95854777-30D4-4072-A363-9FD3C2E1D085}" destId="{BABEFBD1-C04C-4A1C-A802-DB1D56E8C800}" srcOrd="0" destOrd="0" presId="urn:microsoft.com/office/officeart/2005/8/layout/process1"/>
    <dgm:cxn modelId="{0FC72EDB-B37D-42D7-9710-77F35AA20559}" srcId="{52FEBA81-A60C-4540-8BF2-D53E75650E59}" destId="{CF89B935-12ED-4E7D-AB3A-0473DF8D49BA}" srcOrd="1" destOrd="0" parTransId="{3188F2DD-6715-4D23-BF27-60CA1432B956}" sibTransId="{EC41730E-FDC4-44AD-8A61-622171A7872A}"/>
    <dgm:cxn modelId="{6DA710BB-763D-4D0E-8D17-15131893C6EE}" srcId="{52FEBA81-A60C-4540-8BF2-D53E75650E59}" destId="{EBC7C8B6-2106-4EE3-A7C9-AA1D34C6615C}" srcOrd="0" destOrd="0" parTransId="{0DF62DC2-4E8B-45A1-BEFC-F273473C1AFE}" sibTransId="{2FE362E2-A5A1-4FCA-9317-3D89F09A8972}"/>
    <dgm:cxn modelId="{BF48DF81-E494-4BA4-B722-545E7964CABD}" type="presParOf" srcId="{13EBF38A-189E-4059-AAE1-2FE37D23A0B3}" destId="{1ED8335C-1C49-4BDE-A9E3-C6FD049BA7B8}" srcOrd="0" destOrd="0" presId="urn:microsoft.com/office/officeart/2005/8/layout/process1"/>
    <dgm:cxn modelId="{1477E061-0868-4868-B571-584CD386E0D1}" type="presParOf" srcId="{13EBF38A-189E-4059-AAE1-2FE37D23A0B3}" destId="{ABA99DFF-DD44-4D94-A1BD-F046548C2DF5}" srcOrd="1" destOrd="0" presId="urn:microsoft.com/office/officeart/2005/8/layout/process1"/>
    <dgm:cxn modelId="{A693B2A3-645F-479B-AAD6-F7200F7ADF28}" type="presParOf" srcId="{ABA99DFF-DD44-4D94-A1BD-F046548C2DF5}" destId="{69420619-9380-4671-977B-E7518F5BCEAB}" srcOrd="0" destOrd="0" presId="urn:microsoft.com/office/officeart/2005/8/layout/process1"/>
    <dgm:cxn modelId="{1ACBD27A-5DA4-41F6-8911-A6F5B92CED00}" type="presParOf" srcId="{13EBF38A-189E-4059-AAE1-2FE37D23A0B3}" destId="{202D7FF7-C8E3-483D-B397-56EF62608091}" srcOrd="2" destOrd="0" presId="urn:microsoft.com/office/officeart/2005/8/layout/process1"/>
    <dgm:cxn modelId="{42D76943-9A4B-41D5-A468-0E7D6A6446D9}" type="presParOf" srcId="{13EBF38A-189E-4059-AAE1-2FE37D23A0B3}" destId="{7B38333A-260C-4232-B5F7-0A65B907E9AA}" srcOrd="3" destOrd="0" presId="urn:microsoft.com/office/officeart/2005/8/layout/process1"/>
    <dgm:cxn modelId="{48A36E1B-18D1-4942-9CDF-BD890A5B876C}" type="presParOf" srcId="{7B38333A-260C-4232-B5F7-0A65B907E9AA}" destId="{8A72F549-06DD-4217-960E-450FBFF0F9D7}" srcOrd="0" destOrd="0" presId="urn:microsoft.com/office/officeart/2005/8/layout/process1"/>
    <dgm:cxn modelId="{4E781DE5-850F-47DD-8C37-EE6B6F7A065A}" type="presParOf" srcId="{13EBF38A-189E-4059-AAE1-2FE37D23A0B3}" destId="{BABEFBD1-C04C-4A1C-A802-DB1D56E8C800}" srcOrd="4"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2FEBA81-A60C-4540-8BF2-D53E75650E59}" type="doc">
      <dgm:prSet loTypeId="urn:microsoft.com/office/officeart/2005/8/layout/process1" loCatId="process" qsTypeId="urn:microsoft.com/office/officeart/2005/8/quickstyle/simple1" qsCatId="simple" csTypeId="urn:microsoft.com/office/officeart/2005/8/colors/accent1_2" csCatId="accent1" phldr="1"/>
      <dgm:spPr/>
    </dgm:pt>
    <dgm:pt modelId="{EBC7C8B6-2106-4EE3-A7C9-AA1D34C6615C}">
      <dgm:prSet phldrT="[Text]"/>
      <dgm:spPr/>
      <dgm:t>
        <a:bodyPr/>
        <a:lstStyle/>
        <a:p>
          <a:r>
            <a:rPr lang="en-US" err="1" smtClean="0"/>
            <a:t>Chọn</a:t>
          </a:r>
          <a:r>
            <a:rPr lang="en-US" smtClean="0"/>
            <a:t> “</a:t>
          </a:r>
          <a:r>
            <a:rPr lang="en-US" err="1" smtClean="0"/>
            <a:t>đồng</a:t>
          </a:r>
          <a:r>
            <a:rPr lang="en-US" smtClean="0"/>
            <a:t> ý” </a:t>
          </a:r>
          <a:r>
            <a:rPr lang="en-US" err="1" smtClean="0"/>
            <a:t>từ</a:t>
          </a:r>
          <a:r>
            <a:rPr lang="en-US" smtClean="0"/>
            <a:t> </a:t>
          </a:r>
          <a:r>
            <a:rPr lang="en-US" err="1" smtClean="0"/>
            <a:t>nội</a:t>
          </a:r>
          <a:r>
            <a:rPr lang="en-US" smtClean="0"/>
            <a:t> dung tin </a:t>
          </a:r>
          <a:r>
            <a:rPr lang="en-US" err="1" smtClean="0"/>
            <a:t>nhắn</a:t>
          </a:r>
          <a:r>
            <a:rPr lang="en-US" smtClean="0"/>
            <a:t> </a:t>
          </a:r>
          <a:r>
            <a:rPr lang="en-US" err="1" smtClean="0"/>
            <a:t>hoặc</a:t>
          </a:r>
          <a:r>
            <a:rPr lang="en-US" smtClean="0"/>
            <a:t> email</a:t>
          </a:r>
          <a:endParaRPr lang="en-US"/>
        </a:p>
      </dgm:t>
    </dgm:pt>
    <dgm:pt modelId="{0DF62DC2-4E8B-45A1-BEFC-F273473C1AFE}" type="parTrans" cxnId="{6DA710BB-763D-4D0E-8D17-15131893C6EE}">
      <dgm:prSet/>
      <dgm:spPr/>
      <dgm:t>
        <a:bodyPr/>
        <a:lstStyle/>
        <a:p>
          <a:endParaRPr lang="en-US"/>
        </a:p>
      </dgm:t>
    </dgm:pt>
    <dgm:pt modelId="{2FE362E2-A5A1-4FCA-9317-3D89F09A8972}" type="sibTrans" cxnId="{6DA710BB-763D-4D0E-8D17-15131893C6EE}">
      <dgm:prSet/>
      <dgm:spPr/>
      <dgm:t>
        <a:bodyPr/>
        <a:lstStyle/>
        <a:p>
          <a:endParaRPr lang="en-US"/>
        </a:p>
      </dgm:t>
    </dgm:pt>
    <dgm:pt modelId="{CF89B935-12ED-4E7D-AB3A-0473DF8D49BA}">
      <dgm:prSet phldrT="[Text]"/>
      <dgm:spPr/>
      <dgm:t>
        <a:bodyPr/>
        <a:lstStyle/>
        <a:p>
          <a:r>
            <a:rPr lang="en-US" err="1" smtClean="0"/>
            <a:t>Trả</a:t>
          </a:r>
          <a:r>
            <a:rPr lang="en-US" smtClean="0"/>
            <a:t> </a:t>
          </a:r>
          <a:r>
            <a:rPr lang="en-US" err="1" smtClean="0"/>
            <a:t>lời</a:t>
          </a:r>
          <a:r>
            <a:rPr lang="en-US" smtClean="0"/>
            <a:t> </a:t>
          </a:r>
          <a:r>
            <a:rPr lang="en-US" err="1" smtClean="0"/>
            <a:t>các</a:t>
          </a:r>
          <a:r>
            <a:rPr lang="en-US" smtClean="0"/>
            <a:t> </a:t>
          </a:r>
          <a:r>
            <a:rPr lang="en-US" err="1" smtClean="0"/>
            <a:t>câu</a:t>
          </a:r>
          <a:r>
            <a:rPr lang="en-US" smtClean="0"/>
            <a:t> </a:t>
          </a:r>
          <a:r>
            <a:rPr lang="en-US" err="1" smtClean="0"/>
            <a:t>hỏi</a:t>
          </a:r>
          <a:r>
            <a:rPr lang="en-US" smtClean="0"/>
            <a:t> </a:t>
          </a:r>
          <a:endParaRPr lang="en-US"/>
        </a:p>
      </dgm:t>
    </dgm:pt>
    <dgm:pt modelId="{3188F2DD-6715-4D23-BF27-60CA1432B956}" type="parTrans" cxnId="{0FC72EDB-B37D-42D7-9710-77F35AA20559}">
      <dgm:prSet/>
      <dgm:spPr/>
      <dgm:t>
        <a:bodyPr/>
        <a:lstStyle/>
        <a:p>
          <a:endParaRPr lang="en-US"/>
        </a:p>
      </dgm:t>
    </dgm:pt>
    <dgm:pt modelId="{EC41730E-FDC4-44AD-8A61-622171A7872A}" type="sibTrans" cxnId="{0FC72EDB-B37D-42D7-9710-77F35AA20559}">
      <dgm:prSet/>
      <dgm:spPr/>
      <dgm:t>
        <a:bodyPr/>
        <a:lstStyle/>
        <a:p>
          <a:endParaRPr lang="en-US"/>
        </a:p>
      </dgm:t>
    </dgm:pt>
    <dgm:pt modelId="{95854777-30D4-4072-A363-9FD3C2E1D085}">
      <dgm:prSet phldrT="[Text]"/>
      <dgm:spPr/>
      <dgm:t>
        <a:bodyPr/>
        <a:lstStyle/>
        <a:p>
          <a:r>
            <a:rPr lang="en-US" err="1" smtClean="0"/>
            <a:t>Gửi</a:t>
          </a:r>
          <a:r>
            <a:rPr lang="en-US" smtClean="0"/>
            <a:t> </a:t>
          </a:r>
          <a:r>
            <a:rPr lang="en-US" err="1" smtClean="0"/>
            <a:t>kết</a:t>
          </a:r>
          <a:r>
            <a:rPr lang="en-US" smtClean="0"/>
            <a:t> </a:t>
          </a:r>
          <a:r>
            <a:rPr lang="en-US" err="1" smtClean="0"/>
            <a:t>quả</a:t>
          </a:r>
          <a:endParaRPr lang="en-US"/>
        </a:p>
      </dgm:t>
    </dgm:pt>
    <dgm:pt modelId="{AFB27A5B-D377-4575-B562-E917EC80CF9C}" type="parTrans" cxnId="{D5CB8918-995D-410B-9EFC-0268A4463168}">
      <dgm:prSet/>
      <dgm:spPr/>
      <dgm:t>
        <a:bodyPr/>
        <a:lstStyle/>
        <a:p>
          <a:endParaRPr lang="en-US"/>
        </a:p>
      </dgm:t>
    </dgm:pt>
    <dgm:pt modelId="{276494CC-14AC-48D7-A201-6BEA8AC3A28F}" type="sibTrans" cxnId="{D5CB8918-995D-410B-9EFC-0268A4463168}">
      <dgm:prSet/>
      <dgm:spPr/>
      <dgm:t>
        <a:bodyPr/>
        <a:lstStyle/>
        <a:p>
          <a:endParaRPr lang="en-US"/>
        </a:p>
      </dgm:t>
    </dgm:pt>
    <dgm:pt modelId="{13EBF38A-189E-4059-AAE1-2FE37D23A0B3}" type="pres">
      <dgm:prSet presAssocID="{52FEBA81-A60C-4540-8BF2-D53E75650E59}" presName="Name0" presStyleCnt="0">
        <dgm:presLayoutVars>
          <dgm:dir/>
          <dgm:resizeHandles val="exact"/>
        </dgm:presLayoutVars>
      </dgm:prSet>
      <dgm:spPr/>
    </dgm:pt>
    <dgm:pt modelId="{1ED8335C-1C49-4BDE-A9E3-C6FD049BA7B8}" type="pres">
      <dgm:prSet presAssocID="{EBC7C8B6-2106-4EE3-A7C9-AA1D34C6615C}" presName="node" presStyleLbl="node1" presStyleIdx="0" presStyleCnt="3">
        <dgm:presLayoutVars>
          <dgm:bulletEnabled val="1"/>
        </dgm:presLayoutVars>
      </dgm:prSet>
      <dgm:spPr/>
      <dgm:t>
        <a:bodyPr/>
        <a:lstStyle/>
        <a:p>
          <a:endParaRPr lang="en-US"/>
        </a:p>
      </dgm:t>
    </dgm:pt>
    <dgm:pt modelId="{ABA99DFF-DD44-4D94-A1BD-F046548C2DF5}" type="pres">
      <dgm:prSet presAssocID="{2FE362E2-A5A1-4FCA-9317-3D89F09A8972}" presName="sibTrans" presStyleLbl="sibTrans2D1" presStyleIdx="0" presStyleCnt="2"/>
      <dgm:spPr/>
      <dgm:t>
        <a:bodyPr/>
        <a:lstStyle/>
        <a:p>
          <a:endParaRPr lang="en-US"/>
        </a:p>
      </dgm:t>
    </dgm:pt>
    <dgm:pt modelId="{69420619-9380-4671-977B-E7518F5BCEAB}" type="pres">
      <dgm:prSet presAssocID="{2FE362E2-A5A1-4FCA-9317-3D89F09A8972}" presName="connectorText" presStyleLbl="sibTrans2D1" presStyleIdx="0" presStyleCnt="2"/>
      <dgm:spPr/>
      <dgm:t>
        <a:bodyPr/>
        <a:lstStyle/>
        <a:p>
          <a:endParaRPr lang="en-US"/>
        </a:p>
      </dgm:t>
    </dgm:pt>
    <dgm:pt modelId="{202D7FF7-C8E3-483D-B397-56EF62608091}" type="pres">
      <dgm:prSet presAssocID="{CF89B935-12ED-4E7D-AB3A-0473DF8D49BA}" presName="node" presStyleLbl="node1" presStyleIdx="1" presStyleCnt="3">
        <dgm:presLayoutVars>
          <dgm:bulletEnabled val="1"/>
        </dgm:presLayoutVars>
      </dgm:prSet>
      <dgm:spPr/>
      <dgm:t>
        <a:bodyPr/>
        <a:lstStyle/>
        <a:p>
          <a:endParaRPr lang="en-US"/>
        </a:p>
      </dgm:t>
    </dgm:pt>
    <dgm:pt modelId="{7B38333A-260C-4232-B5F7-0A65B907E9AA}" type="pres">
      <dgm:prSet presAssocID="{EC41730E-FDC4-44AD-8A61-622171A7872A}" presName="sibTrans" presStyleLbl="sibTrans2D1" presStyleIdx="1" presStyleCnt="2"/>
      <dgm:spPr/>
      <dgm:t>
        <a:bodyPr/>
        <a:lstStyle/>
        <a:p>
          <a:endParaRPr lang="en-US"/>
        </a:p>
      </dgm:t>
    </dgm:pt>
    <dgm:pt modelId="{8A72F549-06DD-4217-960E-450FBFF0F9D7}" type="pres">
      <dgm:prSet presAssocID="{EC41730E-FDC4-44AD-8A61-622171A7872A}" presName="connectorText" presStyleLbl="sibTrans2D1" presStyleIdx="1" presStyleCnt="2"/>
      <dgm:spPr/>
      <dgm:t>
        <a:bodyPr/>
        <a:lstStyle/>
        <a:p>
          <a:endParaRPr lang="en-US"/>
        </a:p>
      </dgm:t>
    </dgm:pt>
    <dgm:pt modelId="{BABEFBD1-C04C-4A1C-A802-DB1D56E8C800}" type="pres">
      <dgm:prSet presAssocID="{95854777-30D4-4072-A363-9FD3C2E1D085}" presName="node" presStyleLbl="node1" presStyleIdx="2" presStyleCnt="3">
        <dgm:presLayoutVars>
          <dgm:bulletEnabled val="1"/>
        </dgm:presLayoutVars>
      </dgm:prSet>
      <dgm:spPr/>
      <dgm:t>
        <a:bodyPr/>
        <a:lstStyle/>
        <a:p>
          <a:endParaRPr lang="en-US"/>
        </a:p>
      </dgm:t>
    </dgm:pt>
  </dgm:ptLst>
  <dgm:cxnLst>
    <dgm:cxn modelId="{D5CB8918-995D-410B-9EFC-0268A4463168}" srcId="{52FEBA81-A60C-4540-8BF2-D53E75650E59}" destId="{95854777-30D4-4072-A363-9FD3C2E1D085}" srcOrd="2" destOrd="0" parTransId="{AFB27A5B-D377-4575-B562-E917EC80CF9C}" sibTransId="{276494CC-14AC-48D7-A201-6BEA8AC3A28F}"/>
    <dgm:cxn modelId="{0FC72EDB-B37D-42D7-9710-77F35AA20559}" srcId="{52FEBA81-A60C-4540-8BF2-D53E75650E59}" destId="{CF89B935-12ED-4E7D-AB3A-0473DF8D49BA}" srcOrd="1" destOrd="0" parTransId="{3188F2DD-6715-4D23-BF27-60CA1432B956}" sibTransId="{EC41730E-FDC4-44AD-8A61-622171A7872A}"/>
    <dgm:cxn modelId="{BD1111D9-FCEC-4AA1-8086-7D63043DFE7B}" type="presOf" srcId="{52FEBA81-A60C-4540-8BF2-D53E75650E59}" destId="{13EBF38A-189E-4059-AAE1-2FE37D23A0B3}" srcOrd="0" destOrd="0" presId="urn:microsoft.com/office/officeart/2005/8/layout/process1"/>
    <dgm:cxn modelId="{64CE5A4B-D1FE-4FB6-8B63-3861A8A4BDB2}" type="presOf" srcId="{2FE362E2-A5A1-4FCA-9317-3D89F09A8972}" destId="{69420619-9380-4671-977B-E7518F5BCEAB}" srcOrd="1" destOrd="0" presId="urn:microsoft.com/office/officeart/2005/8/layout/process1"/>
    <dgm:cxn modelId="{085D10DF-918A-495A-B603-0AE0AFD7D40C}" type="presOf" srcId="{CF89B935-12ED-4E7D-AB3A-0473DF8D49BA}" destId="{202D7FF7-C8E3-483D-B397-56EF62608091}" srcOrd="0" destOrd="0" presId="urn:microsoft.com/office/officeart/2005/8/layout/process1"/>
    <dgm:cxn modelId="{664669CE-87CB-4C6A-9C2E-24959CAA84DB}" type="presOf" srcId="{EC41730E-FDC4-44AD-8A61-622171A7872A}" destId="{7B38333A-260C-4232-B5F7-0A65B907E9AA}" srcOrd="0" destOrd="0" presId="urn:microsoft.com/office/officeart/2005/8/layout/process1"/>
    <dgm:cxn modelId="{2E8B4B1F-AFE2-4A6C-9429-0F7D352DFB35}" type="presOf" srcId="{2FE362E2-A5A1-4FCA-9317-3D89F09A8972}" destId="{ABA99DFF-DD44-4D94-A1BD-F046548C2DF5}" srcOrd="0" destOrd="0" presId="urn:microsoft.com/office/officeart/2005/8/layout/process1"/>
    <dgm:cxn modelId="{28D237A1-F529-42FB-B0D5-2FBD02BF01BE}" type="presOf" srcId="{95854777-30D4-4072-A363-9FD3C2E1D085}" destId="{BABEFBD1-C04C-4A1C-A802-DB1D56E8C800}" srcOrd="0" destOrd="0" presId="urn:microsoft.com/office/officeart/2005/8/layout/process1"/>
    <dgm:cxn modelId="{9EB74AE1-8EC6-4897-A4EC-4222A37053F2}" type="presOf" srcId="{EBC7C8B6-2106-4EE3-A7C9-AA1D34C6615C}" destId="{1ED8335C-1C49-4BDE-A9E3-C6FD049BA7B8}" srcOrd="0" destOrd="0" presId="urn:microsoft.com/office/officeart/2005/8/layout/process1"/>
    <dgm:cxn modelId="{6DA710BB-763D-4D0E-8D17-15131893C6EE}" srcId="{52FEBA81-A60C-4540-8BF2-D53E75650E59}" destId="{EBC7C8B6-2106-4EE3-A7C9-AA1D34C6615C}" srcOrd="0" destOrd="0" parTransId="{0DF62DC2-4E8B-45A1-BEFC-F273473C1AFE}" sibTransId="{2FE362E2-A5A1-4FCA-9317-3D89F09A8972}"/>
    <dgm:cxn modelId="{3085D01C-7B1C-4792-9742-87F0988A8751}" type="presOf" srcId="{EC41730E-FDC4-44AD-8A61-622171A7872A}" destId="{8A72F549-06DD-4217-960E-450FBFF0F9D7}" srcOrd="1" destOrd="0" presId="urn:microsoft.com/office/officeart/2005/8/layout/process1"/>
    <dgm:cxn modelId="{F3ACE7BD-3416-4DFE-9FED-6DED295543D8}" type="presParOf" srcId="{13EBF38A-189E-4059-AAE1-2FE37D23A0B3}" destId="{1ED8335C-1C49-4BDE-A9E3-C6FD049BA7B8}" srcOrd="0" destOrd="0" presId="urn:microsoft.com/office/officeart/2005/8/layout/process1"/>
    <dgm:cxn modelId="{40FAFA87-9D04-4AB8-8349-F268726EE862}" type="presParOf" srcId="{13EBF38A-189E-4059-AAE1-2FE37D23A0B3}" destId="{ABA99DFF-DD44-4D94-A1BD-F046548C2DF5}" srcOrd="1" destOrd="0" presId="urn:microsoft.com/office/officeart/2005/8/layout/process1"/>
    <dgm:cxn modelId="{73EA764F-E826-475D-92FC-3826A54FA2A6}" type="presParOf" srcId="{ABA99DFF-DD44-4D94-A1BD-F046548C2DF5}" destId="{69420619-9380-4671-977B-E7518F5BCEAB}" srcOrd="0" destOrd="0" presId="urn:microsoft.com/office/officeart/2005/8/layout/process1"/>
    <dgm:cxn modelId="{E7DC6518-BCCC-47C4-A867-6D38BD6AB7D1}" type="presParOf" srcId="{13EBF38A-189E-4059-AAE1-2FE37D23A0B3}" destId="{202D7FF7-C8E3-483D-B397-56EF62608091}" srcOrd="2" destOrd="0" presId="urn:microsoft.com/office/officeart/2005/8/layout/process1"/>
    <dgm:cxn modelId="{220CA540-0F9A-4F70-911B-0770551991B4}" type="presParOf" srcId="{13EBF38A-189E-4059-AAE1-2FE37D23A0B3}" destId="{7B38333A-260C-4232-B5F7-0A65B907E9AA}" srcOrd="3" destOrd="0" presId="urn:microsoft.com/office/officeart/2005/8/layout/process1"/>
    <dgm:cxn modelId="{F3892B8B-D476-4959-9B56-3679955891F6}" type="presParOf" srcId="{7B38333A-260C-4232-B5F7-0A65B907E9AA}" destId="{8A72F549-06DD-4217-960E-450FBFF0F9D7}" srcOrd="0" destOrd="0" presId="urn:microsoft.com/office/officeart/2005/8/layout/process1"/>
    <dgm:cxn modelId="{DE8FB0E3-85A0-4861-81E4-76577A7F6320}" type="presParOf" srcId="{13EBF38A-189E-4059-AAE1-2FE37D23A0B3}" destId="{BABEFBD1-C04C-4A1C-A802-DB1D56E8C800}" srcOrd="4"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7C7BA64-8F88-43B5-8C3A-05AFAC730E33}" type="datetimeFigureOut">
              <a:rPr lang="en-US" smtClean="0"/>
              <a:t>7/20/2015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CEAB9E-66FA-48BB-9F37-86AAD4A3EB53}" type="slidenum">
              <a:rPr lang="en-US" smtClean="0"/>
              <a:t>‹#›</a:t>
            </a:fld>
            <a:endParaRPr lang="en-US"/>
          </a:p>
        </p:txBody>
      </p:sp>
    </p:spTree>
    <p:extLst>
      <p:ext uri="{BB962C8B-B14F-4D97-AF65-F5344CB8AC3E}">
        <p14:creationId xmlns:p14="http://schemas.microsoft.com/office/powerpoint/2010/main" val="40686166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6CEAB9E-66FA-48BB-9F37-86AAD4A3EB53}" type="slidenum">
              <a:rPr lang="en-US" smtClean="0"/>
              <a:t>20</a:t>
            </a:fld>
            <a:endParaRPr lang="en-US"/>
          </a:p>
        </p:txBody>
      </p:sp>
    </p:spTree>
    <p:extLst>
      <p:ext uri="{BB962C8B-B14F-4D97-AF65-F5344CB8AC3E}">
        <p14:creationId xmlns:p14="http://schemas.microsoft.com/office/powerpoint/2010/main" val="13844085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6CEAB9E-66FA-48BB-9F37-86AAD4A3EB53}" type="slidenum">
              <a:rPr lang="en-US" smtClean="0"/>
              <a:t>21</a:t>
            </a:fld>
            <a:endParaRPr lang="en-US"/>
          </a:p>
        </p:txBody>
      </p:sp>
    </p:spTree>
    <p:extLst>
      <p:ext uri="{BB962C8B-B14F-4D97-AF65-F5344CB8AC3E}">
        <p14:creationId xmlns:p14="http://schemas.microsoft.com/office/powerpoint/2010/main" val="29578090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6CEAB9E-66FA-48BB-9F37-86AAD4A3EB53}" type="slidenum">
              <a:rPr lang="en-US" smtClean="0"/>
              <a:t>22</a:t>
            </a:fld>
            <a:endParaRPr lang="en-US"/>
          </a:p>
        </p:txBody>
      </p:sp>
    </p:spTree>
    <p:extLst>
      <p:ext uri="{BB962C8B-B14F-4D97-AF65-F5344CB8AC3E}">
        <p14:creationId xmlns:p14="http://schemas.microsoft.com/office/powerpoint/2010/main" val="28254852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6CEAB9E-66FA-48BB-9F37-86AAD4A3EB53}" type="slidenum">
              <a:rPr lang="en-US" smtClean="0"/>
              <a:t>25</a:t>
            </a:fld>
            <a:endParaRPr lang="en-US"/>
          </a:p>
        </p:txBody>
      </p:sp>
    </p:spTree>
    <p:extLst>
      <p:ext uri="{BB962C8B-B14F-4D97-AF65-F5344CB8AC3E}">
        <p14:creationId xmlns:p14="http://schemas.microsoft.com/office/powerpoint/2010/main" val="5782159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6CEAB9E-66FA-48BB-9F37-86AAD4A3EB53}" type="slidenum">
              <a:rPr lang="en-US" smtClean="0"/>
              <a:t>26</a:t>
            </a:fld>
            <a:endParaRPr lang="en-US"/>
          </a:p>
        </p:txBody>
      </p:sp>
    </p:spTree>
    <p:extLst>
      <p:ext uri="{BB962C8B-B14F-4D97-AF65-F5344CB8AC3E}">
        <p14:creationId xmlns:p14="http://schemas.microsoft.com/office/powerpoint/2010/main" val="1462259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6CEAB9E-66FA-48BB-9F37-86AAD4A3EB53}" type="slidenum">
              <a:rPr lang="en-US" smtClean="0"/>
              <a:t>27</a:t>
            </a:fld>
            <a:endParaRPr lang="en-US"/>
          </a:p>
        </p:txBody>
      </p:sp>
    </p:spTree>
    <p:extLst>
      <p:ext uri="{BB962C8B-B14F-4D97-AF65-F5344CB8AC3E}">
        <p14:creationId xmlns:p14="http://schemas.microsoft.com/office/powerpoint/2010/main" val="30481754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DA352531-7F9B-4E39-8384-306E37FCCF92}" type="datetimeFigureOut">
              <a:rPr lang="vi-VN" smtClean="0"/>
              <a:t>20/07/2015</a:t>
            </a:fld>
            <a:endParaRPr lang="vi-VN"/>
          </a:p>
        </p:txBody>
      </p:sp>
      <p:sp>
        <p:nvSpPr>
          <p:cNvPr id="19" name="Footer Placeholder 18"/>
          <p:cNvSpPr>
            <a:spLocks noGrp="1"/>
          </p:cNvSpPr>
          <p:nvPr>
            <p:ph type="ftr" sz="quarter" idx="11"/>
          </p:nvPr>
        </p:nvSpPr>
        <p:spPr/>
        <p:txBody>
          <a:bodyPr/>
          <a:lstStyle/>
          <a:p>
            <a:endParaRPr lang="vi-VN"/>
          </a:p>
        </p:txBody>
      </p:sp>
      <p:sp>
        <p:nvSpPr>
          <p:cNvPr id="27" name="Slide Number Placeholder 26"/>
          <p:cNvSpPr>
            <a:spLocks noGrp="1"/>
          </p:cNvSpPr>
          <p:nvPr>
            <p:ph type="sldNum" sz="quarter" idx="12"/>
          </p:nvPr>
        </p:nvSpPr>
        <p:spPr/>
        <p:txBody>
          <a:bodyPr/>
          <a:lstStyle/>
          <a:p>
            <a:fld id="{4BFF6D0F-D96E-4F44-A69C-A74A479B50F0}" type="slidenum">
              <a:rPr lang="vi-VN" smtClean="0"/>
              <a:t>‹#›</a:t>
            </a:fld>
            <a:endParaRPr lang="vi-VN"/>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A352531-7F9B-4E39-8384-306E37FCCF92}" type="datetimeFigureOut">
              <a:rPr lang="vi-VN" smtClean="0"/>
              <a:t>20/07/2015</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4BFF6D0F-D96E-4F44-A69C-A74A479B50F0}" type="slidenum">
              <a:rPr lang="vi-VN" smtClean="0"/>
              <a:t>‹#›</a:t>
            </a:fld>
            <a:endParaRPr lang="vi-V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DA352531-7F9B-4E39-8384-306E37FCCF92}" type="datetimeFigureOut">
              <a:rPr lang="vi-VN" smtClean="0"/>
              <a:t>20/07/2015</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4BFF6D0F-D96E-4F44-A69C-A74A479B50F0}" type="slidenum">
              <a:rPr lang="vi-VN" smtClean="0"/>
              <a:t>‹#›</a:t>
            </a:fld>
            <a:endParaRPr lang="vi-VN"/>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DA352531-7F9B-4E39-8384-306E37FCCF92}" type="datetimeFigureOut">
              <a:rPr lang="vi-VN" smtClean="0"/>
              <a:t>20/07/2015</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4BFF6D0F-D96E-4F44-A69C-A74A479B50F0}" type="slidenum">
              <a:rPr lang="vi-VN" smtClean="0"/>
              <a:t>‹#›</a:t>
            </a:fld>
            <a:endParaRPr lang="vi-V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DA352531-7F9B-4E39-8384-306E37FCCF92}" type="datetimeFigureOut">
              <a:rPr lang="vi-VN" smtClean="0"/>
              <a:t>20/07/2015</a:t>
            </a:fld>
            <a:endParaRPr lang="vi-VN"/>
          </a:p>
        </p:txBody>
      </p:sp>
      <p:sp>
        <p:nvSpPr>
          <p:cNvPr id="8" name="Footer Placeholder 7"/>
          <p:cNvSpPr>
            <a:spLocks noGrp="1"/>
          </p:cNvSpPr>
          <p:nvPr>
            <p:ph type="ftr" sz="quarter" idx="11"/>
          </p:nvPr>
        </p:nvSpPr>
        <p:spPr/>
        <p:txBody>
          <a:bodyPr/>
          <a:lstStyle/>
          <a:p>
            <a:endParaRPr lang="vi-VN"/>
          </a:p>
        </p:txBody>
      </p:sp>
      <p:sp>
        <p:nvSpPr>
          <p:cNvPr id="9" name="Slide Number Placeholder 8"/>
          <p:cNvSpPr>
            <a:spLocks noGrp="1"/>
          </p:cNvSpPr>
          <p:nvPr>
            <p:ph type="sldNum" sz="quarter" idx="12"/>
          </p:nvPr>
        </p:nvSpPr>
        <p:spPr/>
        <p:txBody>
          <a:bodyPr/>
          <a:lstStyle/>
          <a:p>
            <a:fld id="{4BFF6D0F-D96E-4F44-A69C-A74A479B50F0}" type="slidenum">
              <a:rPr lang="vi-VN" smtClean="0"/>
              <a:t>‹#›</a:t>
            </a:fld>
            <a:endParaRPr lang="vi-V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DA352531-7F9B-4E39-8384-306E37FCCF92}" type="datetimeFigureOut">
              <a:rPr lang="vi-VN" smtClean="0"/>
              <a:t>20/07/2015</a:t>
            </a:fld>
            <a:endParaRPr lang="vi-VN"/>
          </a:p>
        </p:txBody>
      </p:sp>
      <p:sp>
        <p:nvSpPr>
          <p:cNvPr id="4" name="Footer Placeholder 3"/>
          <p:cNvSpPr>
            <a:spLocks noGrp="1"/>
          </p:cNvSpPr>
          <p:nvPr>
            <p:ph type="ftr" sz="quarter" idx="11"/>
          </p:nvPr>
        </p:nvSpPr>
        <p:spPr/>
        <p:txBody>
          <a:bodyPr/>
          <a:lstStyle/>
          <a:p>
            <a:endParaRPr lang="vi-VN"/>
          </a:p>
        </p:txBody>
      </p:sp>
      <p:sp>
        <p:nvSpPr>
          <p:cNvPr id="5" name="Slide Number Placeholder 4"/>
          <p:cNvSpPr>
            <a:spLocks noGrp="1"/>
          </p:cNvSpPr>
          <p:nvPr>
            <p:ph type="sldNum" sz="quarter" idx="12"/>
          </p:nvPr>
        </p:nvSpPr>
        <p:spPr/>
        <p:txBody>
          <a:bodyPr/>
          <a:lstStyle/>
          <a:p>
            <a:fld id="{4BFF6D0F-D96E-4F44-A69C-A74A479B50F0}" type="slidenum">
              <a:rPr lang="vi-VN" smtClean="0"/>
              <a:t>‹#›</a:t>
            </a:fld>
            <a:endParaRPr lang="vi-V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A352531-7F9B-4E39-8384-306E37FCCF92}" type="datetimeFigureOut">
              <a:rPr lang="vi-VN" smtClean="0"/>
              <a:t>20/07/2015</a:t>
            </a:fld>
            <a:endParaRPr lang="vi-VN"/>
          </a:p>
        </p:txBody>
      </p:sp>
      <p:sp>
        <p:nvSpPr>
          <p:cNvPr id="3" name="Footer Placeholder 2"/>
          <p:cNvSpPr>
            <a:spLocks noGrp="1"/>
          </p:cNvSpPr>
          <p:nvPr>
            <p:ph type="ftr" sz="quarter" idx="11"/>
          </p:nvPr>
        </p:nvSpPr>
        <p:spPr/>
        <p:txBody>
          <a:bodyPr/>
          <a:lstStyle/>
          <a:p>
            <a:endParaRPr lang="vi-VN"/>
          </a:p>
        </p:txBody>
      </p:sp>
      <p:sp>
        <p:nvSpPr>
          <p:cNvPr id="4" name="Slide Number Placeholder 3"/>
          <p:cNvSpPr>
            <a:spLocks noGrp="1"/>
          </p:cNvSpPr>
          <p:nvPr>
            <p:ph type="sldNum" sz="quarter" idx="12"/>
          </p:nvPr>
        </p:nvSpPr>
        <p:spPr/>
        <p:txBody>
          <a:bodyPr/>
          <a:lstStyle/>
          <a:p>
            <a:fld id="{4BFF6D0F-D96E-4F44-A69C-A74A479B50F0}" type="slidenum">
              <a:rPr lang="vi-VN" smtClean="0"/>
              <a:t>‹#›</a:t>
            </a:fld>
            <a:endParaRPr lang="vi-V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DA352531-7F9B-4E39-8384-306E37FCCF92}" type="datetimeFigureOut">
              <a:rPr lang="vi-VN" smtClean="0"/>
              <a:t>20/07/2015</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4BFF6D0F-D96E-4F44-A69C-A74A479B50F0}" type="slidenum">
              <a:rPr lang="vi-VN" smtClean="0"/>
              <a:t>‹#›</a:t>
            </a:fld>
            <a:endParaRPr lang="vi-V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DA352531-7F9B-4E39-8384-306E37FCCF92}" type="datetimeFigureOut">
              <a:rPr lang="vi-VN" smtClean="0"/>
              <a:t>20/07/2015</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a:xfrm>
            <a:off x="8077200" y="6356350"/>
            <a:ext cx="609600" cy="365125"/>
          </a:xfrm>
        </p:spPr>
        <p:txBody>
          <a:bodyPr/>
          <a:lstStyle/>
          <a:p>
            <a:fld id="{4BFF6D0F-D96E-4F44-A69C-A74A479B50F0}" type="slidenum">
              <a:rPr lang="vi-VN" smtClean="0"/>
              <a:t>‹#›</a:t>
            </a:fld>
            <a:endParaRPr lang="vi-VN"/>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A352531-7F9B-4E39-8384-306E37FCCF92}" type="datetimeFigureOut">
              <a:rPr lang="vi-VN" smtClean="0"/>
              <a:t>20/07/2015</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4BFF6D0F-D96E-4F44-A69C-A74A479B50F0}" type="slidenum">
              <a:rPr lang="vi-VN" smtClean="0"/>
              <a:t>‹#›</a:t>
            </a:fld>
            <a:endParaRPr lang="vi-V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A352531-7F9B-4E39-8384-306E37FCCF92}" type="datetimeFigureOut">
              <a:rPr lang="vi-VN" smtClean="0"/>
              <a:t>20/07/2015</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4BFF6D0F-D96E-4F44-A69C-A74A479B50F0}" type="slidenum">
              <a:rPr lang="vi-VN" smtClean="0"/>
              <a:t>‹#›</a:t>
            </a:fld>
            <a:endParaRPr lang="vi-V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DA352531-7F9B-4E39-8384-306E37FCCF92}" type="datetimeFigureOut">
              <a:rPr lang="vi-VN" smtClean="0"/>
              <a:t>20/07/2015</a:t>
            </a:fld>
            <a:endParaRPr lang="vi-VN"/>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vi-VN"/>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4BFF6D0F-D96E-4F44-A69C-A74A479B50F0}" type="slidenum">
              <a:rPr lang="vi-VN" smtClean="0"/>
              <a:t>‹#›</a:t>
            </a:fld>
            <a:endParaRPr lang="vi-VN"/>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diagramLayout" Target="../diagrams/layout1.xml"/><Relationship Id="rId7" Type="http://schemas.openxmlformats.org/officeDocument/2006/relationships/image" Target="../media/image2.png"/><Relationship Id="rId2" Type="http://schemas.openxmlformats.org/officeDocument/2006/relationships/diagramData" Target="../diagrams/data1.xml"/><Relationship Id="rId1" Type="http://schemas.openxmlformats.org/officeDocument/2006/relationships/slideLayout" Target="../slideLayouts/slideLayout1.xml"/><Relationship Id="rId6" Type="http://schemas.microsoft.com/office/2007/relationships/diagramDrawing" Target="../diagrams/drawing1.xml"/><Relationship Id="rId5" Type="http://schemas.openxmlformats.org/officeDocument/2006/relationships/diagramColors" Target="../diagrams/colors1.xml"/><Relationship Id="rId10" Type="http://schemas.openxmlformats.org/officeDocument/2006/relationships/image" Target="../media/image5.png"/><Relationship Id="rId4" Type="http://schemas.openxmlformats.org/officeDocument/2006/relationships/diagramQuickStyle" Target="../diagrams/quickStyle1.xml"/><Relationship Id="rId9"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2.xml"/><Relationship Id="rId7" Type="http://schemas.openxmlformats.org/officeDocument/2006/relationships/image" Target="../media/image3.png"/><Relationship Id="rId2" Type="http://schemas.openxmlformats.org/officeDocument/2006/relationships/diagramData" Target="../diagrams/data2.xml"/><Relationship Id="rId1" Type="http://schemas.openxmlformats.org/officeDocument/2006/relationships/slideLayout" Target="../slideLayouts/slideLayout1.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3.xml"/><Relationship Id="rId7" Type="http://schemas.openxmlformats.org/officeDocument/2006/relationships/image" Target="../media/image3.png"/><Relationship Id="rId2" Type="http://schemas.openxmlformats.org/officeDocument/2006/relationships/diagramData" Target="../diagrams/data3.xml"/><Relationship Id="rId1" Type="http://schemas.openxmlformats.org/officeDocument/2006/relationships/slideLayout" Target="../slideLayouts/slideLayout1.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_ftnref1"/><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_ftnref1"/><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_ftnref1"/><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1560" y="2564904"/>
            <a:ext cx="7851648" cy="1828800"/>
          </a:xfrm>
        </p:spPr>
        <p:txBody>
          <a:bodyPr>
            <a:normAutofit fontScale="90000"/>
          </a:bodyPr>
          <a:lstStyle/>
          <a:p>
            <a:pPr algn="ctr"/>
            <a:r>
              <a:rPr lang="en-US" u="sng" smtClean="0">
                <a:solidFill>
                  <a:srgbClr val="FF0000"/>
                </a:solidFill>
              </a:rPr>
              <a:t>GIẢI PHÁP </a:t>
            </a:r>
            <a:r>
              <a:rPr lang="en-US" smtClean="0">
                <a:solidFill>
                  <a:srgbClr val="FFFF00"/>
                </a:solidFill>
              </a:rPr>
              <a:t/>
            </a:r>
            <a:br>
              <a:rPr lang="en-US" smtClean="0">
                <a:solidFill>
                  <a:srgbClr val="FFFF00"/>
                </a:solidFill>
              </a:rPr>
            </a:br>
            <a:r>
              <a:rPr lang="en-US" smtClean="0">
                <a:solidFill>
                  <a:srgbClr val="FFFF00"/>
                </a:solidFill>
              </a:rPr>
              <a:t>TRIỂN KHAI HỆ THỐNG ĐÁNH GIÁ CÁN BỘ CÔNG CHỨC TOÀN THÀNH PHỐ</a:t>
            </a:r>
            <a:endParaRPr lang="vi-VN">
              <a:solidFill>
                <a:srgbClr val="FFFF00"/>
              </a:solidFill>
            </a:endParaRPr>
          </a:p>
        </p:txBody>
      </p:sp>
    </p:spTree>
    <p:extLst>
      <p:ext uri="{BB962C8B-B14F-4D97-AF65-F5344CB8AC3E}">
        <p14:creationId xmlns:p14="http://schemas.microsoft.com/office/powerpoint/2010/main" val="309375737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29017" y="1916832"/>
            <a:ext cx="8856984" cy="4820037"/>
          </a:xfrm>
          <a:prstGeom prst="rect">
            <a:avLst/>
          </a:prstGeom>
        </p:spPr>
        <p:txBody>
          <a:bodyPr wrap="square">
            <a:spAutoFit/>
          </a:bodyPr>
          <a:lstStyle/>
          <a:p>
            <a:pPr>
              <a:lnSpc>
                <a:spcPct val="120000"/>
              </a:lnSpc>
              <a:spcBef>
                <a:spcPts val="1200"/>
              </a:spcBef>
            </a:pPr>
            <a:r>
              <a:rPr lang="de-DE" smtClean="0">
                <a:latin typeface="Arial" panose="020B0604020202020204" pitchFamily="34" charset="0"/>
                <a:cs typeface="Arial" panose="020B0604020202020204" pitchFamily="34" charset="0"/>
              </a:rPr>
              <a:t>Triển khai Hệ thống đánh giá cán bộ công chức trong việc </a:t>
            </a:r>
            <a:r>
              <a:rPr lang="pt-BR" smtClean="0">
                <a:latin typeface="Arial" panose="020B0604020202020204" pitchFamily="34" charset="0"/>
                <a:cs typeface="Arial" panose="020B0604020202020204" pitchFamily="34" charset="0"/>
              </a:rPr>
              <a:t>giải </a:t>
            </a:r>
            <a:r>
              <a:rPr lang="pt-BR">
                <a:latin typeface="Arial" panose="020B0604020202020204" pitchFamily="34" charset="0"/>
                <a:cs typeface="Arial" panose="020B0604020202020204" pitchFamily="34" charset="0"/>
              </a:rPr>
              <a:t>quyết thủ tục hành chính của </a:t>
            </a:r>
            <a:r>
              <a:rPr lang="pt-BR" smtClean="0">
                <a:latin typeface="Arial" panose="020B0604020202020204" pitchFamily="34" charset="0"/>
                <a:cs typeface="Arial" panose="020B0604020202020204" pitchFamily="34" charset="0"/>
              </a:rPr>
              <a:t>toàn thành phố, cụ thể</a:t>
            </a:r>
            <a:r>
              <a:rPr lang="en-US" smtClean="0">
                <a:latin typeface="Arial" panose="020B0604020202020204" pitchFamily="34" charset="0"/>
                <a:cs typeface="Arial" panose="020B0604020202020204" pitchFamily="34" charset="0"/>
              </a:rPr>
              <a:t>:</a:t>
            </a:r>
            <a:endParaRPr lang="vi-VN">
              <a:latin typeface="Arial" panose="020B0604020202020204" pitchFamily="34" charset="0"/>
              <a:cs typeface="Arial" panose="020B0604020202020204" pitchFamily="34" charset="0"/>
            </a:endParaRPr>
          </a:p>
          <a:p>
            <a:pPr marL="342900" lvl="0" indent="-342900">
              <a:lnSpc>
                <a:spcPct val="120000"/>
              </a:lnSpc>
              <a:spcBef>
                <a:spcPts val="1200"/>
              </a:spcBef>
              <a:buFont typeface="+mj-lt"/>
              <a:buAutoNum type="arabicPeriod"/>
            </a:pPr>
            <a:r>
              <a:rPr lang="de-DE">
                <a:latin typeface="Arial" panose="020B0604020202020204" pitchFamily="34" charset="0"/>
                <a:cs typeface="Arial" panose="020B0604020202020204" pitchFamily="34" charset="0"/>
              </a:rPr>
              <a:t>Đánh </a:t>
            </a:r>
            <a:r>
              <a:rPr lang="de-DE" smtClean="0">
                <a:latin typeface="Arial" panose="020B0604020202020204" pitchFamily="34" charset="0"/>
                <a:cs typeface="Arial" panose="020B0604020202020204" pitchFamily="34" charset="0"/>
              </a:rPr>
              <a:t>giá</a:t>
            </a:r>
            <a:r>
              <a:rPr lang="pt-BR" smtClean="0">
                <a:latin typeface="Arial" panose="020B0604020202020204" pitchFamily="34" charset="0"/>
                <a:cs typeface="Arial" panose="020B0604020202020204" pitchFamily="34" charset="0"/>
              </a:rPr>
              <a:t> </a:t>
            </a:r>
            <a:r>
              <a:rPr lang="pt-BR">
                <a:latin typeface="Arial" panose="020B0604020202020204" pitchFamily="34" charset="0"/>
                <a:cs typeface="Arial" panose="020B0604020202020204" pitchFamily="34" charset="0"/>
              </a:rPr>
              <a:t>của người dân về thái độ, tinh thần phục vụ, tính đúng </a:t>
            </a:r>
            <a:r>
              <a:rPr lang="pt-BR" smtClean="0">
                <a:latin typeface="Arial" panose="020B0604020202020204" pitchFamily="34" charset="0"/>
                <a:cs typeface="Arial" panose="020B0604020202020204" pitchFamily="34" charset="0"/>
              </a:rPr>
              <a:t>hạn trong giải quyết hồ sơ của </a:t>
            </a:r>
            <a:r>
              <a:rPr lang="de-DE" smtClean="0">
                <a:latin typeface="Arial" panose="020B0604020202020204" pitchFamily="34" charset="0"/>
                <a:cs typeface="Arial" panose="020B0604020202020204" pitchFamily="34" charset="0"/>
              </a:rPr>
              <a:t>cán </a:t>
            </a:r>
            <a:r>
              <a:rPr lang="de-DE">
                <a:latin typeface="Arial" panose="020B0604020202020204" pitchFamily="34" charset="0"/>
                <a:cs typeface="Arial" panose="020B0604020202020204" pitchFamily="34" charset="0"/>
              </a:rPr>
              <a:t>bộ công </a:t>
            </a:r>
            <a:r>
              <a:rPr lang="de-DE" smtClean="0">
                <a:latin typeface="Arial" panose="020B0604020202020204" pitchFamily="34" charset="0"/>
                <a:cs typeface="Arial" panose="020B0604020202020204" pitchFamily="34" charset="0"/>
              </a:rPr>
              <a:t>chức toàn thàng phố;</a:t>
            </a:r>
            <a:endParaRPr lang="vi-VN">
              <a:latin typeface="Arial" panose="020B0604020202020204" pitchFamily="34" charset="0"/>
              <a:cs typeface="Arial" panose="020B0604020202020204" pitchFamily="34" charset="0"/>
            </a:endParaRPr>
          </a:p>
          <a:p>
            <a:pPr marL="342900" lvl="0" indent="-342900">
              <a:lnSpc>
                <a:spcPct val="120000"/>
              </a:lnSpc>
              <a:spcBef>
                <a:spcPts val="1200"/>
              </a:spcBef>
              <a:buFont typeface="+mj-lt"/>
              <a:buAutoNum type="arabicPeriod"/>
            </a:pPr>
            <a:r>
              <a:rPr lang="de-DE" smtClean="0">
                <a:latin typeface="Arial" panose="020B0604020202020204" pitchFamily="34" charset="0"/>
                <a:cs typeface="Arial" panose="020B0604020202020204" pitchFamily="34" charset="0"/>
              </a:rPr>
              <a:t>Thống kê, Báo </a:t>
            </a:r>
            <a:r>
              <a:rPr lang="de-DE">
                <a:latin typeface="Arial" panose="020B0604020202020204" pitchFamily="34" charset="0"/>
                <a:cs typeface="Arial" panose="020B0604020202020204" pitchFamily="34" charset="0"/>
              </a:rPr>
              <a:t>cáo, phân tích kết quả đánh giá của người dân đối với cán bộ, với cơ quan nhà nước cho từng cấp;</a:t>
            </a:r>
            <a:endParaRPr lang="vi-VN">
              <a:latin typeface="Arial" panose="020B0604020202020204" pitchFamily="34" charset="0"/>
              <a:cs typeface="Arial" panose="020B0604020202020204" pitchFamily="34" charset="0"/>
            </a:endParaRPr>
          </a:p>
          <a:p>
            <a:pPr marL="342900" lvl="0" indent="-342900">
              <a:lnSpc>
                <a:spcPct val="120000"/>
              </a:lnSpc>
              <a:spcBef>
                <a:spcPts val="1200"/>
              </a:spcBef>
              <a:buFont typeface="+mj-lt"/>
              <a:buAutoNum type="arabicPeriod"/>
            </a:pPr>
            <a:r>
              <a:rPr lang="de-DE">
                <a:latin typeface="Arial" panose="020B0604020202020204" pitchFamily="34" charset="0"/>
                <a:cs typeface="Arial" panose="020B0604020202020204" pitchFamily="34" charset="0"/>
              </a:rPr>
              <a:t>Công khai số liệu ý kiến đánh giá người dân trên Một cửa điện tử của thành phố;</a:t>
            </a:r>
            <a:endParaRPr lang="vi-VN">
              <a:latin typeface="Arial" panose="020B0604020202020204" pitchFamily="34" charset="0"/>
              <a:cs typeface="Arial" panose="020B0604020202020204" pitchFamily="34" charset="0"/>
            </a:endParaRPr>
          </a:p>
          <a:p>
            <a:pPr marL="342900" lvl="0" indent="-342900">
              <a:lnSpc>
                <a:spcPct val="120000"/>
              </a:lnSpc>
              <a:spcBef>
                <a:spcPts val="1200"/>
              </a:spcBef>
              <a:buFont typeface="+mj-lt"/>
              <a:buAutoNum type="arabicPeriod"/>
            </a:pPr>
            <a:r>
              <a:rPr lang="de-DE">
                <a:latin typeface="Arial" panose="020B0604020202020204" pitchFamily="34" charset="0"/>
                <a:cs typeface="Arial" panose="020B0604020202020204" pitchFamily="34" charset="0"/>
              </a:rPr>
              <a:t>Triển khai hệ thống theo mô hình tập trung, dữ liệu được kết nối, chia sẻ qua đường truyền mạng Metronet và được cài đặt tại trung tâm tích hợp dữ liệu thành phố;</a:t>
            </a:r>
            <a:endParaRPr lang="vi-VN">
              <a:latin typeface="Arial" panose="020B0604020202020204" pitchFamily="34" charset="0"/>
              <a:cs typeface="Arial" panose="020B0604020202020204" pitchFamily="34" charset="0"/>
            </a:endParaRPr>
          </a:p>
          <a:p>
            <a:pPr marL="342900" lvl="0" indent="-342900">
              <a:lnSpc>
                <a:spcPct val="120000"/>
              </a:lnSpc>
              <a:spcBef>
                <a:spcPts val="1200"/>
              </a:spcBef>
              <a:buFont typeface="+mj-lt"/>
              <a:buAutoNum type="arabicPeriod"/>
            </a:pPr>
            <a:r>
              <a:rPr lang="de-DE">
                <a:latin typeface="Arial" panose="020B0604020202020204" pitchFamily="34" charset="0"/>
                <a:cs typeface="Arial" panose="020B0604020202020204" pitchFamily="34" charset="0"/>
              </a:rPr>
              <a:t>Đảm bảo an toàn thông </a:t>
            </a:r>
            <a:r>
              <a:rPr lang="de-DE" smtClean="0">
                <a:latin typeface="Arial" panose="020B0604020202020204" pitchFamily="34" charset="0"/>
                <a:cs typeface="Arial" panose="020B0604020202020204" pitchFamily="34" charset="0"/>
              </a:rPr>
              <a:t>tin: </a:t>
            </a:r>
            <a:r>
              <a:rPr lang="en-US" err="1" smtClean="0">
                <a:latin typeface="Arial" panose="020B0604020202020204" pitchFamily="34" charset="0"/>
                <a:cs typeface="Arial" panose="020B0604020202020204" pitchFamily="34" charset="0"/>
              </a:rPr>
              <a:t>phân</a:t>
            </a:r>
            <a:r>
              <a:rPr lang="en-US" smtClean="0">
                <a:latin typeface="Arial" panose="020B0604020202020204" pitchFamily="34" charset="0"/>
                <a:cs typeface="Arial" panose="020B0604020202020204" pitchFamily="34" charset="0"/>
              </a:rPr>
              <a:t> </a:t>
            </a:r>
            <a:r>
              <a:rPr lang="en-US" err="1" smtClean="0">
                <a:latin typeface="Arial" panose="020B0604020202020204" pitchFamily="34" charset="0"/>
                <a:cs typeface="Arial" panose="020B0604020202020204" pitchFamily="34" charset="0"/>
              </a:rPr>
              <a:t>quyền</a:t>
            </a:r>
            <a:r>
              <a:rPr lang="en-US" smtClean="0">
                <a:latin typeface="Arial" panose="020B0604020202020204" pitchFamily="34" charset="0"/>
                <a:cs typeface="Arial" panose="020B0604020202020204" pitchFamily="34" charset="0"/>
              </a:rPr>
              <a:t> </a:t>
            </a:r>
            <a:r>
              <a:rPr lang="en-US" err="1" smtClean="0">
                <a:latin typeface="Arial" panose="020B0604020202020204" pitchFamily="34" charset="0"/>
                <a:cs typeface="Arial" panose="020B0604020202020204" pitchFamily="34" charset="0"/>
              </a:rPr>
              <a:t>theo</a:t>
            </a:r>
            <a:r>
              <a:rPr lang="en-US" smtClean="0">
                <a:latin typeface="Arial" panose="020B0604020202020204" pitchFamily="34" charset="0"/>
                <a:cs typeface="Arial" panose="020B0604020202020204" pitchFamily="34" charset="0"/>
              </a:rPr>
              <a:t> </a:t>
            </a:r>
            <a:r>
              <a:rPr lang="en-US" err="1" smtClean="0">
                <a:latin typeface="Arial" panose="020B0604020202020204" pitchFamily="34" charset="0"/>
                <a:cs typeface="Arial" panose="020B0604020202020204" pitchFamily="34" charset="0"/>
              </a:rPr>
              <a:t>từng</a:t>
            </a:r>
            <a:r>
              <a:rPr lang="en-US" smtClean="0">
                <a:latin typeface="Arial" panose="020B0604020202020204" pitchFamily="34" charset="0"/>
                <a:cs typeface="Arial" panose="020B0604020202020204" pitchFamily="34" charset="0"/>
              </a:rPr>
              <a:t> </a:t>
            </a:r>
            <a:r>
              <a:rPr lang="en-US" err="1" smtClean="0">
                <a:latin typeface="Arial" panose="020B0604020202020204" pitchFamily="34" charset="0"/>
                <a:cs typeface="Arial" panose="020B0604020202020204" pitchFamily="34" charset="0"/>
              </a:rPr>
              <a:t>đơn</a:t>
            </a:r>
            <a:r>
              <a:rPr lang="en-US" smtClean="0">
                <a:latin typeface="Arial" panose="020B0604020202020204" pitchFamily="34" charset="0"/>
                <a:cs typeface="Arial" panose="020B0604020202020204" pitchFamily="34" charset="0"/>
              </a:rPr>
              <a:t> vị </a:t>
            </a:r>
            <a:r>
              <a:rPr lang="en-US" err="1" smtClean="0">
                <a:latin typeface="Arial" panose="020B0604020202020204" pitchFamily="34" charset="0"/>
                <a:cs typeface="Arial" panose="020B0604020202020204" pitchFamily="34" charset="0"/>
              </a:rPr>
              <a:t>va</a:t>
            </a:r>
            <a:r>
              <a:rPr lang="en-US" smtClean="0">
                <a:latin typeface="Arial" panose="020B0604020202020204" pitchFamily="34" charset="0"/>
                <a:cs typeface="Arial" panose="020B0604020202020204" pitchFamily="34" charset="0"/>
              </a:rPr>
              <a:t>̀ </a:t>
            </a:r>
            <a:r>
              <a:rPr lang="en-US" err="1" smtClean="0">
                <a:latin typeface="Arial" panose="020B0604020202020204" pitchFamily="34" charset="0"/>
                <a:cs typeface="Arial" panose="020B0604020202020204" pitchFamily="34" charset="0"/>
              </a:rPr>
              <a:t>sô</a:t>
            </a:r>
            <a:r>
              <a:rPr lang="en-US" smtClean="0">
                <a:latin typeface="Arial" panose="020B0604020202020204" pitchFamily="34" charset="0"/>
                <a:cs typeface="Arial" panose="020B0604020202020204" pitchFamily="34" charset="0"/>
              </a:rPr>
              <a:t>́ </a:t>
            </a:r>
            <a:r>
              <a:rPr lang="en-US" err="1" smtClean="0">
                <a:latin typeface="Arial" panose="020B0604020202020204" pitchFamily="34" charset="0"/>
                <a:cs typeface="Arial" panose="020B0604020202020204" pitchFamily="34" charset="0"/>
              </a:rPr>
              <a:t>liệu</a:t>
            </a:r>
            <a:r>
              <a:rPr lang="en-US" smtClean="0">
                <a:latin typeface="Arial" panose="020B0604020202020204" pitchFamily="34" charset="0"/>
                <a:cs typeface="Arial" panose="020B0604020202020204" pitchFamily="34" charset="0"/>
              </a:rPr>
              <a:t> </a:t>
            </a:r>
            <a:r>
              <a:rPr lang="de-DE" smtClean="0">
                <a:latin typeface="Arial" panose="020B0604020202020204" pitchFamily="34" charset="0"/>
                <a:cs typeface="Arial" panose="020B0604020202020204" pitchFamily="34" charset="0"/>
              </a:rPr>
              <a:t>kết quả đánh giá được phân</a:t>
            </a:r>
            <a:r>
              <a:rPr lang="en-US" smtClean="0">
                <a:latin typeface="Arial" panose="020B0604020202020204" pitchFamily="34" charset="0"/>
                <a:cs typeface="Arial" panose="020B0604020202020204" pitchFamily="34" charset="0"/>
              </a:rPr>
              <a:t> </a:t>
            </a:r>
            <a:r>
              <a:rPr lang="en-US" err="1" smtClean="0">
                <a:latin typeface="Arial" panose="020B0604020202020204" pitchFamily="34" charset="0"/>
                <a:cs typeface="Arial" panose="020B0604020202020204" pitchFamily="34" charset="0"/>
              </a:rPr>
              <a:t>theo</a:t>
            </a:r>
            <a:r>
              <a:rPr lang="en-US" smtClean="0">
                <a:latin typeface="Arial" panose="020B0604020202020204" pitchFamily="34" charset="0"/>
                <a:cs typeface="Arial" panose="020B0604020202020204" pitchFamily="34" charset="0"/>
              </a:rPr>
              <a:t> </a:t>
            </a:r>
            <a:r>
              <a:rPr lang="en-US" err="1" smtClean="0">
                <a:latin typeface="Arial" panose="020B0604020202020204" pitchFamily="34" charset="0"/>
                <a:cs typeface="Arial" panose="020B0604020202020204" pitchFamily="34" charset="0"/>
              </a:rPr>
              <a:t>từng</a:t>
            </a:r>
            <a:r>
              <a:rPr lang="en-US" smtClean="0">
                <a:latin typeface="Arial" panose="020B0604020202020204" pitchFamily="34" charset="0"/>
                <a:cs typeface="Arial" panose="020B0604020202020204" pitchFamily="34" charset="0"/>
              </a:rPr>
              <a:t> </a:t>
            </a:r>
            <a:r>
              <a:rPr lang="en-US" err="1" smtClean="0">
                <a:latin typeface="Arial" panose="020B0604020202020204" pitchFamily="34" charset="0"/>
                <a:cs typeface="Arial" panose="020B0604020202020204" pitchFamily="34" charset="0"/>
              </a:rPr>
              <a:t>đơn</a:t>
            </a:r>
            <a:r>
              <a:rPr lang="en-US" smtClean="0">
                <a:latin typeface="Arial" panose="020B0604020202020204" pitchFamily="34" charset="0"/>
                <a:cs typeface="Arial" panose="020B0604020202020204" pitchFamily="34" charset="0"/>
              </a:rPr>
              <a:t> vị </a:t>
            </a:r>
            <a:r>
              <a:rPr lang="en-US" err="1" smtClean="0">
                <a:latin typeface="Arial" panose="020B0604020202020204" pitchFamily="34" charset="0"/>
                <a:cs typeface="Arial" panose="020B0604020202020204" pitchFamily="34" charset="0"/>
              </a:rPr>
              <a:t>va</a:t>
            </a:r>
            <a:r>
              <a:rPr lang="en-US" smtClean="0">
                <a:latin typeface="Arial" panose="020B0604020202020204" pitchFamily="34" charset="0"/>
                <a:cs typeface="Arial" panose="020B0604020202020204" pitchFamily="34" charset="0"/>
              </a:rPr>
              <a:t>̀ </a:t>
            </a:r>
            <a:r>
              <a:rPr lang="en-US" err="1" smtClean="0">
                <a:latin typeface="Arial" panose="020B0604020202020204" pitchFamily="34" charset="0"/>
                <a:cs typeface="Arial" panose="020B0604020202020204" pitchFamily="34" charset="0"/>
              </a:rPr>
              <a:t>toàn</a:t>
            </a:r>
            <a:r>
              <a:rPr lang="en-US" smtClean="0">
                <a:latin typeface="Arial" panose="020B0604020202020204" pitchFamily="34" charset="0"/>
                <a:cs typeface="Arial" panose="020B0604020202020204" pitchFamily="34" charset="0"/>
              </a:rPr>
              <a:t> </a:t>
            </a:r>
            <a:r>
              <a:rPr lang="en-US" err="1" smtClean="0">
                <a:latin typeface="Arial" panose="020B0604020202020204" pitchFamily="34" charset="0"/>
                <a:cs typeface="Arial" panose="020B0604020202020204" pitchFamily="34" charset="0"/>
              </a:rPr>
              <a:t>thành</a:t>
            </a:r>
            <a:r>
              <a:rPr lang="en-US" smtClean="0">
                <a:latin typeface="Arial" panose="020B0604020202020204" pitchFamily="34" charset="0"/>
                <a:cs typeface="Arial" panose="020B0604020202020204" pitchFamily="34" charset="0"/>
              </a:rPr>
              <a:t> </a:t>
            </a:r>
            <a:r>
              <a:rPr lang="en-US" err="1" smtClean="0">
                <a:latin typeface="Arial" panose="020B0604020202020204" pitchFamily="34" charset="0"/>
                <a:cs typeface="Arial" panose="020B0604020202020204" pitchFamily="34" charset="0"/>
              </a:rPr>
              <a:t>phô</a:t>
            </a:r>
            <a:r>
              <a:rPr lang="en-US" smtClean="0">
                <a:latin typeface="Arial" panose="020B0604020202020204" pitchFamily="34" charset="0"/>
                <a:cs typeface="Arial" panose="020B0604020202020204" pitchFamily="34" charset="0"/>
              </a:rPr>
              <a:t>́</a:t>
            </a:r>
            <a:r>
              <a:rPr lang="de-DE" smtClean="0">
                <a:latin typeface="Arial" panose="020B0604020202020204" pitchFamily="34" charset="0"/>
                <a:cs typeface="Arial" panose="020B0604020202020204" pitchFamily="34" charset="0"/>
              </a:rPr>
              <a:t>.</a:t>
            </a:r>
            <a:endParaRPr lang="vi-VN">
              <a:latin typeface="Arial" panose="020B0604020202020204" pitchFamily="34" charset="0"/>
              <a:cs typeface="Arial" panose="020B0604020202020204" pitchFamily="34" charset="0"/>
            </a:endParaRPr>
          </a:p>
        </p:txBody>
      </p:sp>
      <p:sp>
        <p:nvSpPr>
          <p:cNvPr id="8" name="Title 3"/>
          <p:cNvSpPr>
            <a:spLocks noGrp="1"/>
          </p:cNvSpPr>
          <p:nvPr>
            <p:ph type="ctrTitle"/>
          </p:nvPr>
        </p:nvSpPr>
        <p:spPr>
          <a:xfrm>
            <a:off x="29017" y="345232"/>
            <a:ext cx="7851648" cy="1283568"/>
          </a:xfrm>
        </p:spPr>
        <p:txBody>
          <a:bodyPr/>
          <a:lstStyle/>
          <a:p>
            <a:pPr algn="l"/>
            <a:r>
              <a:rPr lang="en-US" err="1" smtClean="0"/>
              <a:t>Mục</a:t>
            </a:r>
            <a:r>
              <a:rPr lang="en-US" smtClean="0"/>
              <a:t> </a:t>
            </a:r>
            <a:r>
              <a:rPr lang="en-US" err="1" smtClean="0"/>
              <a:t>tiêu</a:t>
            </a:r>
            <a:r>
              <a:rPr lang="en-US" smtClean="0"/>
              <a:t>, </a:t>
            </a:r>
            <a:r>
              <a:rPr lang="en-US" err="1" smtClean="0"/>
              <a:t>yêu</a:t>
            </a:r>
            <a:r>
              <a:rPr lang="en-US" smtClean="0"/>
              <a:t> </a:t>
            </a:r>
            <a:r>
              <a:rPr lang="en-US" err="1" smtClean="0"/>
              <a:t>cầu</a:t>
            </a:r>
            <a:endParaRPr lang="vi-VN"/>
          </a:p>
        </p:txBody>
      </p:sp>
    </p:spTree>
    <p:extLst>
      <p:ext uri="{BB962C8B-B14F-4D97-AF65-F5344CB8AC3E}">
        <p14:creationId xmlns:p14="http://schemas.microsoft.com/office/powerpoint/2010/main" val="207857200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51692" y="2708920"/>
            <a:ext cx="8215064" cy="3312368"/>
          </a:xfrm>
        </p:spPr>
        <p:txBody>
          <a:bodyPr>
            <a:noAutofit/>
          </a:bodyPr>
          <a:lstStyle/>
          <a:p>
            <a:pPr marL="457200" indent="-457200" algn="l">
              <a:lnSpc>
                <a:spcPct val="130000"/>
              </a:lnSpc>
              <a:spcBef>
                <a:spcPts val="1200"/>
              </a:spcBef>
              <a:buClr>
                <a:schemeClr val="tx1"/>
              </a:buClr>
              <a:buSzPct val="100000"/>
              <a:buAutoNum type="arabicPeriod"/>
            </a:pPr>
            <a:r>
              <a:rPr lang="en-US" sz="2000" err="1">
                <a:latin typeface="Arial" panose="020B0604020202020204" pitchFamily="34" charset="0"/>
                <a:cs typeface="Arial" panose="020B0604020202020204" pitchFamily="34" charset="0"/>
              </a:rPr>
              <a:t>Đ</a:t>
            </a:r>
            <a:r>
              <a:rPr lang="en-US" sz="2000" err="1" smtClean="0">
                <a:latin typeface="Arial" panose="020B0604020202020204" pitchFamily="34" charset="0"/>
                <a:cs typeface="Arial" panose="020B0604020202020204" pitchFamily="34" charset="0"/>
              </a:rPr>
              <a:t>ảm</a:t>
            </a:r>
            <a:r>
              <a:rPr lang="en-US" sz="2000" smtClean="0">
                <a:latin typeface="Arial" panose="020B0604020202020204" pitchFamily="34" charset="0"/>
                <a:cs typeface="Arial" panose="020B0604020202020204" pitchFamily="34" charset="0"/>
              </a:rPr>
              <a:t> </a:t>
            </a:r>
            <a:r>
              <a:rPr lang="en-US" sz="2000" err="1">
                <a:latin typeface="Arial" panose="020B0604020202020204" pitchFamily="34" charset="0"/>
                <a:cs typeface="Arial" panose="020B0604020202020204" pitchFamily="34" charset="0"/>
              </a:rPr>
              <a:t>bảo</a:t>
            </a:r>
            <a:r>
              <a:rPr lang="en-US" sz="2000">
                <a:latin typeface="Arial" panose="020B0604020202020204" pitchFamily="34" charset="0"/>
                <a:cs typeface="Arial" panose="020B0604020202020204" pitchFamily="34" charset="0"/>
              </a:rPr>
              <a:t> </a:t>
            </a:r>
            <a:r>
              <a:rPr lang="en-US" sz="2000" err="1">
                <a:latin typeface="Arial" panose="020B0604020202020204" pitchFamily="34" charset="0"/>
                <a:cs typeface="Arial" panose="020B0604020202020204" pitchFamily="34" charset="0"/>
              </a:rPr>
              <a:t>đúng</a:t>
            </a:r>
            <a:r>
              <a:rPr lang="en-US" sz="2000">
                <a:latin typeface="Arial" panose="020B0604020202020204" pitchFamily="34" charset="0"/>
                <a:cs typeface="Arial" panose="020B0604020202020204" pitchFamily="34" charset="0"/>
              </a:rPr>
              <a:t> </a:t>
            </a:r>
            <a:r>
              <a:rPr lang="en-US" sz="2000" err="1">
                <a:latin typeface="Arial" panose="020B0604020202020204" pitchFamily="34" charset="0"/>
                <a:cs typeface="Arial" panose="020B0604020202020204" pitchFamily="34" charset="0"/>
              </a:rPr>
              <a:t>người</a:t>
            </a:r>
            <a:r>
              <a:rPr lang="en-US" sz="2000">
                <a:latin typeface="Arial" panose="020B0604020202020204" pitchFamily="34" charset="0"/>
                <a:cs typeface="Arial" panose="020B0604020202020204" pitchFamily="34" charset="0"/>
              </a:rPr>
              <a:t> </a:t>
            </a:r>
            <a:r>
              <a:rPr lang="en-US" sz="2000" err="1">
                <a:latin typeface="Arial" panose="020B0604020202020204" pitchFamily="34" charset="0"/>
                <a:cs typeface="Arial" panose="020B0604020202020204" pitchFamily="34" charset="0"/>
              </a:rPr>
              <a:t>đánh</a:t>
            </a:r>
            <a:r>
              <a:rPr lang="en-US" sz="2000">
                <a:latin typeface="Arial" panose="020B0604020202020204" pitchFamily="34" charset="0"/>
                <a:cs typeface="Arial" panose="020B0604020202020204" pitchFamily="34" charset="0"/>
              </a:rPr>
              <a:t> </a:t>
            </a:r>
            <a:r>
              <a:rPr lang="en-US" sz="2000" err="1">
                <a:latin typeface="Arial" panose="020B0604020202020204" pitchFamily="34" charset="0"/>
                <a:cs typeface="Arial" panose="020B0604020202020204" pitchFamily="34" charset="0"/>
              </a:rPr>
              <a:t>giá</a:t>
            </a:r>
            <a:r>
              <a:rPr lang="en-US" sz="2000">
                <a:latin typeface="Arial" panose="020B0604020202020204" pitchFamily="34" charset="0"/>
                <a:cs typeface="Arial" panose="020B0604020202020204" pitchFamily="34" charset="0"/>
              </a:rPr>
              <a:t>, </a:t>
            </a:r>
            <a:r>
              <a:rPr lang="en-US" sz="2000" err="1" smtClean="0">
                <a:latin typeface="Arial" panose="020B0604020202020204" pitchFamily="34" charset="0"/>
                <a:cs typeface="Arial" panose="020B0604020202020204" pitchFamily="34" charset="0"/>
              </a:rPr>
              <a:t>hạn</a:t>
            </a:r>
            <a:r>
              <a:rPr lang="en-US" sz="2000" smtClean="0">
                <a:latin typeface="Arial" panose="020B0604020202020204" pitchFamily="34" charset="0"/>
                <a:cs typeface="Arial" panose="020B0604020202020204" pitchFamily="34" charset="0"/>
              </a:rPr>
              <a:t> </a:t>
            </a:r>
            <a:r>
              <a:rPr lang="en-US" sz="2000" err="1" smtClean="0">
                <a:latin typeface="Arial" panose="020B0604020202020204" pitchFamily="34" charset="0"/>
                <a:cs typeface="Arial" panose="020B0604020202020204" pitchFamily="34" charset="0"/>
              </a:rPr>
              <a:t>chê</a:t>
            </a:r>
            <a:r>
              <a:rPr lang="en-US" sz="2000" smtClean="0">
                <a:latin typeface="Arial" panose="020B0604020202020204" pitchFamily="34" charset="0"/>
                <a:cs typeface="Arial" panose="020B0604020202020204" pitchFamily="34" charset="0"/>
              </a:rPr>
              <a:t>́ </a:t>
            </a:r>
            <a:r>
              <a:rPr lang="en-US" sz="2000" err="1">
                <a:latin typeface="Arial" panose="020B0604020202020204" pitchFamily="34" charset="0"/>
                <a:cs typeface="Arial" panose="020B0604020202020204" pitchFamily="34" charset="0"/>
              </a:rPr>
              <a:t>đánh</a:t>
            </a:r>
            <a:r>
              <a:rPr lang="en-US" sz="2000">
                <a:latin typeface="Arial" panose="020B0604020202020204" pitchFamily="34" charset="0"/>
                <a:cs typeface="Arial" panose="020B0604020202020204" pitchFamily="34" charset="0"/>
              </a:rPr>
              <a:t> </a:t>
            </a:r>
            <a:r>
              <a:rPr lang="en-US" sz="2000" err="1">
                <a:latin typeface="Arial" panose="020B0604020202020204" pitchFamily="34" charset="0"/>
                <a:cs typeface="Arial" panose="020B0604020202020204" pitchFamily="34" charset="0"/>
              </a:rPr>
              <a:t>giá</a:t>
            </a:r>
            <a:r>
              <a:rPr lang="en-US" sz="2000">
                <a:latin typeface="Arial" panose="020B0604020202020204" pitchFamily="34" charset="0"/>
                <a:cs typeface="Arial" panose="020B0604020202020204" pitchFamily="34" charset="0"/>
              </a:rPr>
              <a:t> </a:t>
            </a:r>
            <a:r>
              <a:rPr lang="en-US" sz="2000" err="1" smtClean="0">
                <a:latin typeface="Arial" panose="020B0604020202020204" pitchFamily="34" charset="0"/>
                <a:cs typeface="Arial" panose="020B0604020202020204" pitchFamily="34" charset="0"/>
              </a:rPr>
              <a:t>ảo</a:t>
            </a:r>
            <a:r>
              <a:rPr lang="en-US" sz="2000" smtClean="0">
                <a:latin typeface="Arial" panose="020B0604020202020204" pitchFamily="34" charset="0"/>
                <a:cs typeface="Arial" panose="020B0604020202020204" pitchFamily="34" charset="0"/>
              </a:rPr>
              <a:t>: </a:t>
            </a:r>
            <a:r>
              <a:rPr lang="en-US" sz="2000" err="1" smtClean="0">
                <a:latin typeface="Arial" panose="020B0604020202020204" pitchFamily="34" charset="0"/>
                <a:cs typeface="Arial" panose="020B0604020202020204" pitchFamily="34" charset="0"/>
              </a:rPr>
              <a:t>Căn</a:t>
            </a:r>
            <a:r>
              <a:rPr lang="en-US" sz="2000" smtClean="0">
                <a:latin typeface="Arial" panose="020B0604020202020204" pitchFamily="34" charset="0"/>
                <a:cs typeface="Arial" panose="020B0604020202020204" pitchFamily="34" charset="0"/>
              </a:rPr>
              <a:t> </a:t>
            </a:r>
            <a:r>
              <a:rPr lang="en-US" sz="2000" err="1">
                <a:latin typeface="Arial" panose="020B0604020202020204" pitchFamily="34" charset="0"/>
                <a:cs typeface="Arial" panose="020B0604020202020204" pitchFamily="34" charset="0"/>
              </a:rPr>
              <a:t>cư</a:t>
            </a:r>
            <a:r>
              <a:rPr lang="en-US" sz="2000">
                <a:latin typeface="Arial" panose="020B0604020202020204" pitchFamily="34" charset="0"/>
                <a:cs typeface="Arial" panose="020B0604020202020204" pitchFamily="34" charset="0"/>
              </a:rPr>
              <a:t>́ </a:t>
            </a:r>
            <a:r>
              <a:rPr lang="en-US" sz="2000" err="1">
                <a:latin typeface="Arial" panose="020B0604020202020204" pitchFamily="34" charset="0"/>
                <a:cs typeface="Arial" panose="020B0604020202020204" pitchFamily="34" charset="0"/>
              </a:rPr>
              <a:t>theo</a:t>
            </a:r>
            <a:r>
              <a:rPr lang="en-US" sz="2000">
                <a:latin typeface="Arial" panose="020B0604020202020204" pitchFamily="34" charset="0"/>
                <a:cs typeface="Arial" panose="020B0604020202020204" pitchFamily="34" charset="0"/>
              </a:rPr>
              <a:t> </a:t>
            </a:r>
            <a:r>
              <a:rPr lang="en-US" sz="2000" err="1">
                <a:latin typeface="Arial" panose="020B0604020202020204" pitchFamily="34" charset="0"/>
                <a:cs typeface="Arial" panose="020B0604020202020204" pitchFamily="34" charset="0"/>
              </a:rPr>
              <a:t>sô</a:t>
            </a:r>
            <a:r>
              <a:rPr lang="en-US" sz="2000">
                <a:latin typeface="Arial" panose="020B0604020202020204" pitchFamily="34" charset="0"/>
                <a:cs typeface="Arial" panose="020B0604020202020204" pitchFamily="34" charset="0"/>
              </a:rPr>
              <a:t>́ </a:t>
            </a:r>
            <a:r>
              <a:rPr lang="en-US" sz="2000" err="1">
                <a:latin typeface="Arial" panose="020B0604020202020204" pitchFamily="34" charset="0"/>
                <a:cs typeface="Arial" panose="020B0604020202020204" pitchFamily="34" charset="0"/>
              </a:rPr>
              <a:t>biên</a:t>
            </a:r>
            <a:r>
              <a:rPr lang="en-US" sz="2000">
                <a:latin typeface="Arial" panose="020B0604020202020204" pitchFamily="34" charset="0"/>
                <a:cs typeface="Arial" panose="020B0604020202020204" pitchFamily="34" charset="0"/>
              </a:rPr>
              <a:t> </a:t>
            </a:r>
            <a:r>
              <a:rPr lang="en-US" sz="2000" err="1">
                <a:latin typeface="Arial" panose="020B0604020202020204" pitchFamily="34" charset="0"/>
                <a:cs typeface="Arial" panose="020B0604020202020204" pitchFamily="34" charset="0"/>
              </a:rPr>
              <a:t>nhận</a:t>
            </a:r>
            <a:r>
              <a:rPr lang="en-US" sz="2000">
                <a:latin typeface="Arial" panose="020B0604020202020204" pitchFamily="34" charset="0"/>
                <a:cs typeface="Arial" panose="020B0604020202020204" pitchFamily="34" charset="0"/>
              </a:rPr>
              <a:t> </a:t>
            </a:r>
            <a:r>
              <a:rPr lang="en-US" sz="2000" err="1">
                <a:latin typeface="Arial" panose="020B0604020202020204" pitchFamily="34" charset="0"/>
                <a:cs typeface="Arial" panose="020B0604020202020204" pitchFamily="34" charset="0"/>
              </a:rPr>
              <a:t>hô</a:t>
            </a:r>
            <a:r>
              <a:rPr lang="en-US" sz="2000">
                <a:latin typeface="Arial" panose="020B0604020202020204" pitchFamily="34" charset="0"/>
                <a:cs typeface="Arial" panose="020B0604020202020204" pitchFamily="34" charset="0"/>
              </a:rPr>
              <a:t>̀ </a:t>
            </a:r>
            <a:r>
              <a:rPr lang="en-US" sz="2000" err="1">
                <a:latin typeface="Arial" panose="020B0604020202020204" pitchFamily="34" charset="0"/>
                <a:cs typeface="Arial" panose="020B0604020202020204" pitchFamily="34" charset="0"/>
              </a:rPr>
              <a:t>sơ</a:t>
            </a:r>
            <a:r>
              <a:rPr lang="en-US" sz="2000">
                <a:latin typeface="Arial" panose="020B0604020202020204" pitchFamily="34" charset="0"/>
                <a:cs typeface="Arial" panose="020B0604020202020204" pitchFamily="34" charset="0"/>
              </a:rPr>
              <a:t> </a:t>
            </a:r>
            <a:r>
              <a:rPr lang="en-US" sz="2000" err="1">
                <a:latin typeface="Arial" panose="020B0604020202020204" pitchFamily="34" charset="0"/>
                <a:cs typeface="Arial" panose="020B0604020202020204" pitchFamily="34" charset="0"/>
              </a:rPr>
              <a:t>hoặc</a:t>
            </a:r>
            <a:r>
              <a:rPr lang="en-US" sz="2000">
                <a:latin typeface="Arial" panose="020B0604020202020204" pitchFamily="34" charset="0"/>
                <a:cs typeface="Arial" panose="020B0604020202020204" pitchFamily="34" charset="0"/>
              </a:rPr>
              <a:t> </a:t>
            </a:r>
            <a:r>
              <a:rPr lang="en-US" sz="2000" err="1">
                <a:latin typeface="Arial" panose="020B0604020202020204" pitchFamily="34" charset="0"/>
                <a:cs typeface="Arial" panose="020B0604020202020204" pitchFamily="34" charset="0"/>
              </a:rPr>
              <a:t>sô</a:t>
            </a:r>
            <a:r>
              <a:rPr lang="en-US" sz="2000">
                <a:latin typeface="Arial" panose="020B0604020202020204" pitchFamily="34" charset="0"/>
                <a:cs typeface="Arial" panose="020B0604020202020204" pitchFamily="34" charset="0"/>
              </a:rPr>
              <a:t>́ </a:t>
            </a:r>
            <a:r>
              <a:rPr lang="en-US" sz="2000" err="1">
                <a:latin typeface="Arial" panose="020B0604020202020204" pitchFamily="34" charset="0"/>
                <a:cs typeface="Arial" panose="020B0604020202020204" pitchFamily="34" charset="0"/>
              </a:rPr>
              <a:t>điện</a:t>
            </a:r>
            <a:r>
              <a:rPr lang="en-US" sz="2000">
                <a:latin typeface="Arial" panose="020B0604020202020204" pitchFamily="34" charset="0"/>
                <a:cs typeface="Arial" panose="020B0604020202020204" pitchFamily="34" charset="0"/>
              </a:rPr>
              <a:t> </a:t>
            </a:r>
            <a:r>
              <a:rPr lang="en-US" sz="2000" err="1">
                <a:latin typeface="Arial" panose="020B0604020202020204" pitchFamily="34" charset="0"/>
                <a:cs typeface="Arial" panose="020B0604020202020204" pitchFamily="34" charset="0"/>
              </a:rPr>
              <a:t>thoại</a:t>
            </a:r>
            <a:r>
              <a:rPr lang="en-US" sz="2000">
                <a:latin typeface="Arial" panose="020B0604020202020204" pitchFamily="34" charset="0"/>
                <a:cs typeface="Arial" panose="020B0604020202020204" pitchFamily="34" charset="0"/>
              </a:rPr>
              <a:t> </a:t>
            </a:r>
            <a:r>
              <a:rPr lang="en-US" sz="2000" err="1" smtClean="0">
                <a:latin typeface="Arial" panose="020B0604020202020204" pitchFamily="34" charset="0"/>
                <a:cs typeface="Arial" panose="020B0604020202020204" pitchFamily="34" charset="0"/>
              </a:rPr>
              <a:t>công</a:t>
            </a:r>
            <a:r>
              <a:rPr lang="en-US" sz="2000" smtClean="0">
                <a:latin typeface="Arial" panose="020B0604020202020204" pitchFamily="34" charset="0"/>
                <a:cs typeface="Arial" panose="020B0604020202020204" pitchFamily="34" charset="0"/>
              </a:rPr>
              <a:t> </a:t>
            </a:r>
            <a:r>
              <a:rPr lang="en-US" sz="2000" err="1" smtClean="0">
                <a:latin typeface="Arial" panose="020B0604020202020204" pitchFamily="34" charset="0"/>
                <a:cs typeface="Arial" panose="020B0604020202020204" pitchFamily="34" charset="0"/>
              </a:rPr>
              <a:t>dân</a:t>
            </a:r>
            <a:r>
              <a:rPr lang="en-US" sz="2000" smtClean="0">
                <a:latin typeface="Arial" panose="020B0604020202020204" pitchFamily="34" charset="0"/>
                <a:cs typeface="Arial" panose="020B0604020202020204" pitchFamily="34" charset="0"/>
              </a:rPr>
              <a:t> </a:t>
            </a:r>
            <a:r>
              <a:rPr lang="en-US" sz="2000" err="1" smtClean="0">
                <a:latin typeface="Arial" panose="020B0604020202020204" pitchFamily="34" charset="0"/>
                <a:cs typeface="Arial" panose="020B0604020202020204" pitchFamily="34" charset="0"/>
              </a:rPr>
              <a:t>cung</a:t>
            </a:r>
            <a:r>
              <a:rPr lang="en-US" sz="2000" smtClean="0">
                <a:latin typeface="Arial" panose="020B0604020202020204" pitchFamily="34" charset="0"/>
                <a:cs typeface="Arial" panose="020B0604020202020204" pitchFamily="34" charset="0"/>
              </a:rPr>
              <a:t> </a:t>
            </a:r>
            <a:r>
              <a:rPr lang="en-US" sz="2000" err="1" smtClean="0">
                <a:latin typeface="Arial" panose="020B0604020202020204" pitchFamily="34" charset="0"/>
                <a:cs typeface="Arial" panose="020B0604020202020204" pitchFamily="34" charset="0"/>
              </a:rPr>
              <a:t>cấp</a:t>
            </a:r>
            <a:r>
              <a:rPr lang="en-US" sz="2000" smtClean="0">
                <a:latin typeface="Arial" panose="020B0604020202020204" pitchFamily="34" charset="0"/>
                <a:cs typeface="Arial" panose="020B0604020202020204" pitchFamily="34" charset="0"/>
              </a:rPr>
              <a:t> </a:t>
            </a:r>
            <a:r>
              <a:rPr lang="en-US" sz="2000" err="1" smtClean="0">
                <a:latin typeface="Arial" panose="020B0604020202020204" pitchFamily="34" charset="0"/>
                <a:cs typeface="Arial" panose="020B0604020202020204" pitchFamily="34" charset="0"/>
              </a:rPr>
              <a:t>khi</a:t>
            </a:r>
            <a:r>
              <a:rPr lang="en-US" sz="2000" smtClean="0">
                <a:latin typeface="Arial" panose="020B0604020202020204" pitchFamily="34" charset="0"/>
                <a:cs typeface="Arial" panose="020B0604020202020204" pitchFamily="34" charset="0"/>
              </a:rPr>
              <a:t> </a:t>
            </a:r>
            <a:r>
              <a:rPr lang="en-US" sz="2000" err="1" smtClean="0">
                <a:latin typeface="Arial" panose="020B0604020202020204" pitchFamily="34" charset="0"/>
                <a:cs typeface="Arial" panose="020B0604020202020204" pitchFamily="34" charset="0"/>
              </a:rPr>
              <a:t>nộp</a:t>
            </a:r>
            <a:r>
              <a:rPr lang="en-US" sz="2000" smtClean="0">
                <a:latin typeface="Arial" panose="020B0604020202020204" pitchFamily="34" charset="0"/>
                <a:cs typeface="Arial" panose="020B0604020202020204" pitchFamily="34" charset="0"/>
              </a:rPr>
              <a:t> </a:t>
            </a:r>
            <a:r>
              <a:rPr lang="en-US" sz="2000" err="1" smtClean="0">
                <a:latin typeface="Arial" panose="020B0604020202020204" pitchFamily="34" charset="0"/>
                <a:cs typeface="Arial" panose="020B0604020202020204" pitchFamily="34" charset="0"/>
              </a:rPr>
              <a:t>hô</a:t>
            </a:r>
            <a:r>
              <a:rPr lang="en-US" sz="2000" smtClean="0">
                <a:latin typeface="Arial" panose="020B0604020202020204" pitchFamily="34" charset="0"/>
                <a:cs typeface="Arial" panose="020B0604020202020204" pitchFamily="34" charset="0"/>
              </a:rPr>
              <a:t>̀ </a:t>
            </a:r>
            <a:r>
              <a:rPr lang="en-US" sz="2000" err="1" smtClean="0">
                <a:latin typeface="Arial" panose="020B0604020202020204" pitchFamily="34" charset="0"/>
                <a:cs typeface="Arial" panose="020B0604020202020204" pitchFamily="34" charset="0"/>
              </a:rPr>
              <a:t>sơ</a:t>
            </a:r>
            <a:r>
              <a:rPr lang="en-US" sz="2000" smtClean="0">
                <a:latin typeface="Arial" panose="020B0604020202020204" pitchFamily="34" charset="0"/>
                <a:cs typeface="Arial" panose="020B0604020202020204" pitchFamily="34" charset="0"/>
              </a:rPr>
              <a:t>. </a:t>
            </a:r>
          </a:p>
          <a:p>
            <a:pPr marL="457200" indent="-457200" algn="l">
              <a:lnSpc>
                <a:spcPct val="130000"/>
              </a:lnSpc>
              <a:spcBef>
                <a:spcPts val="1200"/>
              </a:spcBef>
              <a:buClr>
                <a:schemeClr val="tx1"/>
              </a:buClr>
              <a:buSzPct val="100000"/>
              <a:buAutoNum type="arabicPeriod"/>
            </a:pPr>
            <a:r>
              <a:rPr lang="en-US" sz="2000" err="1" smtClean="0">
                <a:latin typeface="Arial" panose="020B0604020202020204" pitchFamily="34" charset="0"/>
                <a:cs typeface="Arial" panose="020B0604020202020204" pitchFamily="34" charset="0"/>
              </a:rPr>
              <a:t>Một</a:t>
            </a:r>
            <a:r>
              <a:rPr lang="en-US" sz="2000" smtClean="0">
                <a:latin typeface="Arial" panose="020B0604020202020204" pitchFamily="34" charset="0"/>
                <a:cs typeface="Arial" panose="020B0604020202020204" pitchFamily="34" charset="0"/>
              </a:rPr>
              <a:t> </a:t>
            </a:r>
            <a:r>
              <a:rPr lang="en-US" sz="2000" err="1">
                <a:latin typeface="Arial" panose="020B0604020202020204" pitchFamily="34" charset="0"/>
                <a:cs typeface="Arial" panose="020B0604020202020204" pitchFamily="34" charset="0"/>
              </a:rPr>
              <a:t>hồ</a:t>
            </a:r>
            <a:r>
              <a:rPr lang="en-US" sz="2000">
                <a:latin typeface="Arial" panose="020B0604020202020204" pitchFamily="34" charset="0"/>
                <a:cs typeface="Arial" panose="020B0604020202020204" pitchFamily="34" charset="0"/>
              </a:rPr>
              <a:t> </a:t>
            </a:r>
            <a:r>
              <a:rPr lang="en-US" sz="2000" err="1">
                <a:latin typeface="Arial" panose="020B0604020202020204" pitchFamily="34" charset="0"/>
                <a:cs typeface="Arial" panose="020B0604020202020204" pitchFamily="34" charset="0"/>
              </a:rPr>
              <a:t>sơ</a:t>
            </a:r>
            <a:r>
              <a:rPr lang="en-US" sz="2000">
                <a:latin typeface="Arial" panose="020B0604020202020204" pitchFamily="34" charset="0"/>
                <a:cs typeface="Arial" panose="020B0604020202020204" pitchFamily="34" charset="0"/>
              </a:rPr>
              <a:t> </a:t>
            </a:r>
            <a:r>
              <a:rPr lang="en-US" sz="2000" err="1" smtClean="0">
                <a:latin typeface="Arial" panose="020B0604020202020204" pitchFamily="34" charset="0"/>
                <a:cs typeface="Arial" panose="020B0604020202020204" pitchFamily="34" charset="0"/>
              </a:rPr>
              <a:t>được</a:t>
            </a:r>
            <a:r>
              <a:rPr lang="en-US" sz="2000" smtClean="0">
                <a:latin typeface="Arial" panose="020B0604020202020204" pitchFamily="34" charset="0"/>
                <a:cs typeface="Arial" panose="020B0604020202020204" pitchFamily="34" charset="0"/>
              </a:rPr>
              <a:t> </a:t>
            </a:r>
            <a:r>
              <a:rPr lang="en-US" sz="2000" err="1">
                <a:latin typeface="Arial" panose="020B0604020202020204" pitchFamily="34" charset="0"/>
                <a:cs typeface="Arial" panose="020B0604020202020204" pitchFamily="34" charset="0"/>
              </a:rPr>
              <a:t>đánh</a:t>
            </a:r>
            <a:r>
              <a:rPr lang="en-US" sz="2000">
                <a:latin typeface="Arial" panose="020B0604020202020204" pitchFamily="34" charset="0"/>
                <a:cs typeface="Arial" panose="020B0604020202020204" pitchFamily="34" charset="0"/>
              </a:rPr>
              <a:t> </a:t>
            </a:r>
            <a:r>
              <a:rPr lang="en-US" sz="2000" err="1">
                <a:latin typeface="Arial" panose="020B0604020202020204" pitchFamily="34" charset="0"/>
                <a:cs typeface="Arial" panose="020B0604020202020204" pitchFamily="34" charset="0"/>
              </a:rPr>
              <a:t>giá</a:t>
            </a:r>
            <a:r>
              <a:rPr lang="en-US" sz="2000">
                <a:latin typeface="Arial" panose="020B0604020202020204" pitchFamily="34" charset="0"/>
                <a:cs typeface="Arial" panose="020B0604020202020204" pitchFamily="34" charset="0"/>
              </a:rPr>
              <a:t> 1 </a:t>
            </a:r>
            <a:r>
              <a:rPr lang="en-US" sz="2000" err="1">
                <a:latin typeface="Arial" panose="020B0604020202020204" pitchFamily="34" charset="0"/>
                <a:cs typeface="Arial" panose="020B0604020202020204" pitchFamily="34" charset="0"/>
              </a:rPr>
              <a:t>lần</a:t>
            </a:r>
            <a:r>
              <a:rPr lang="en-US" sz="2000">
                <a:latin typeface="Arial" panose="020B0604020202020204" pitchFamily="34" charset="0"/>
                <a:cs typeface="Arial" panose="020B0604020202020204" pitchFamily="34" charset="0"/>
              </a:rPr>
              <a:t> </a:t>
            </a:r>
            <a:endParaRPr lang="en-US" sz="2000" smtClean="0">
              <a:latin typeface="Arial" panose="020B0604020202020204" pitchFamily="34" charset="0"/>
              <a:cs typeface="Arial" panose="020B0604020202020204" pitchFamily="34" charset="0"/>
            </a:endParaRPr>
          </a:p>
          <a:p>
            <a:pPr marL="457200" indent="-457200" algn="l">
              <a:lnSpc>
                <a:spcPct val="130000"/>
              </a:lnSpc>
              <a:spcBef>
                <a:spcPts val="1200"/>
              </a:spcBef>
              <a:buClr>
                <a:schemeClr val="tx1"/>
              </a:buClr>
              <a:buSzPct val="100000"/>
              <a:buAutoNum type="arabicPeriod"/>
            </a:pPr>
            <a:r>
              <a:rPr lang="en-US" sz="2000" err="1">
                <a:latin typeface="Arial" panose="020B0604020202020204" pitchFamily="34" charset="0"/>
                <a:cs typeface="Arial" panose="020B0604020202020204" pitchFamily="34" charset="0"/>
              </a:rPr>
              <a:t>Tất</a:t>
            </a:r>
            <a:r>
              <a:rPr lang="en-US" sz="2000">
                <a:latin typeface="Arial" panose="020B0604020202020204" pitchFamily="34" charset="0"/>
                <a:cs typeface="Arial" panose="020B0604020202020204" pitchFamily="34" charset="0"/>
              </a:rPr>
              <a:t> cả </a:t>
            </a:r>
            <a:r>
              <a:rPr lang="en-US" sz="2000" err="1">
                <a:latin typeface="Arial" panose="020B0604020202020204" pitchFamily="34" charset="0"/>
                <a:cs typeface="Arial" panose="020B0604020202020204" pitchFamily="34" charset="0"/>
              </a:rPr>
              <a:t>đơn</a:t>
            </a:r>
            <a:r>
              <a:rPr lang="en-US" sz="2000">
                <a:latin typeface="Arial" panose="020B0604020202020204" pitchFamily="34" charset="0"/>
                <a:cs typeface="Arial" panose="020B0604020202020204" pitchFamily="34" charset="0"/>
              </a:rPr>
              <a:t> vị </a:t>
            </a:r>
            <a:r>
              <a:rPr lang="en-US" sz="2000" err="1">
                <a:latin typeface="Arial" panose="020B0604020202020204" pitchFamily="34" charset="0"/>
                <a:cs typeface="Arial" panose="020B0604020202020204" pitchFamily="34" charset="0"/>
              </a:rPr>
              <a:t>sư</a:t>
            </a:r>
            <a:r>
              <a:rPr lang="en-US" sz="2000">
                <a:latin typeface="Arial" panose="020B0604020202020204" pitchFamily="34" charset="0"/>
                <a:cs typeface="Arial" panose="020B0604020202020204" pitchFamily="34" charset="0"/>
              </a:rPr>
              <a:t>̉ </a:t>
            </a:r>
            <a:r>
              <a:rPr lang="en-US" sz="2000" err="1">
                <a:latin typeface="Arial" panose="020B0604020202020204" pitchFamily="34" charset="0"/>
                <a:cs typeface="Arial" panose="020B0604020202020204" pitchFamily="34" charset="0"/>
              </a:rPr>
              <a:t>dụng</a:t>
            </a:r>
            <a:r>
              <a:rPr lang="en-US" sz="2000">
                <a:latin typeface="Arial" panose="020B0604020202020204" pitchFamily="34" charset="0"/>
                <a:cs typeface="Arial" panose="020B0604020202020204" pitchFamily="34" charset="0"/>
              </a:rPr>
              <a:t> chung </a:t>
            </a:r>
            <a:r>
              <a:rPr lang="en-US" sz="2000" err="1">
                <a:latin typeface="Arial" panose="020B0604020202020204" pitchFamily="34" charset="0"/>
                <a:cs typeface="Arial" panose="020B0604020202020204" pitchFamily="34" charset="0"/>
              </a:rPr>
              <a:t>một</a:t>
            </a:r>
            <a:r>
              <a:rPr lang="en-US" sz="2000">
                <a:latin typeface="Arial" panose="020B0604020202020204" pitchFamily="34" charset="0"/>
                <a:cs typeface="Arial" panose="020B0604020202020204" pitchFamily="34" charset="0"/>
              </a:rPr>
              <a:t> </a:t>
            </a:r>
            <a:r>
              <a:rPr lang="en-US" sz="2000" err="1">
                <a:latin typeface="Arial" panose="020B0604020202020204" pitchFamily="34" charset="0"/>
                <a:cs typeface="Arial" panose="020B0604020202020204" pitchFamily="34" charset="0"/>
              </a:rPr>
              <a:t>hê</a:t>
            </a:r>
            <a:r>
              <a:rPr lang="en-US" sz="2000">
                <a:latin typeface="Arial" panose="020B0604020202020204" pitchFamily="34" charset="0"/>
                <a:cs typeface="Arial" panose="020B0604020202020204" pitchFamily="34" charset="0"/>
              </a:rPr>
              <a:t>̣ </a:t>
            </a:r>
            <a:r>
              <a:rPr lang="en-US" sz="2000" err="1">
                <a:latin typeface="Arial" panose="020B0604020202020204" pitchFamily="34" charset="0"/>
                <a:cs typeface="Arial" panose="020B0604020202020204" pitchFamily="34" charset="0"/>
              </a:rPr>
              <a:t>thống</a:t>
            </a:r>
            <a:endParaRPr lang="en-US" sz="2000">
              <a:latin typeface="Arial" panose="020B0604020202020204" pitchFamily="34" charset="0"/>
              <a:cs typeface="Arial" panose="020B0604020202020204" pitchFamily="34" charset="0"/>
            </a:endParaRPr>
          </a:p>
          <a:p>
            <a:pPr marL="457200" indent="-457200" algn="l">
              <a:lnSpc>
                <a:spcPct val="130000"/>
              </a:lnSpc>
              <a:spcBef>
                <a:spcPts val="1200"/>
              </a:spcBef>
              <a:buClr>
                <a:schemeClr val="tx1"/>
              </a:buClr>
              <a:buSzPct val="100000"/>
              <a:buAutoNum type="arabicPeriod"/>
            </a:pPr>
            <a:r>
              <a:rPr lang="en-US" sz="2000" err="1">
                <a:latin typeface="Arial" panose="020B0604020202020204" pitchFamily="34" charset="0"/>
                <a:cs typeface="Arial" panose="020B0604020202020204" pitchFamily="34" charset="0"/>
              </a:rPr>
              <a:t>Tất</a:t>
            </a:r>
            <a:r>
              <a:rPr lang="en-US" sz="2000">
                <a:latin typeface="Arial" panose="020B0604020202020204" pitchFamily="34" charset="0"/>
                <a:cs typeface="Arial" panose="020B0604020202020204" pitchFamily="34" charset="0"/>
              </a:rPr>
              <a:t> cả </a:t>
            </a:r>
            <a:r>
              <a:rPr lang="en-US" sz="2000" err="1">
                <a:latin typeface="Arial" panose="020B0604020202020204" pitchFamily="34" charset="0"/>
                <a:cs typeface="Arial" panose="020B0604020202020204" pitchFamily="34" charset="0"/>
              </a:rPr>
              <a:t>đơn</a:t>
            </a:r>
            <a:r>
              <a:rPr lang="en-US" sz="2000">
                <a:latin typeface="Arial" panose="020B0604020202020204" pitchFamily="34" charset="0"/>
                <a:cs typeface="Arial" panose="020B0604020202020204" pitchFamily="34" charset="0"/>
              </a:rPr>
              <a:t> vị </a:t>
            </a:r>
            <a:r>
              <a:rPr lang="en-US" sz="2000" err="1">
                <a:latin typeface="Arial" panose="020B0604020202020204" pitchFamily="34" charset="0"/>
                <a:cs typeface="Arial" panose="020B0604020202020204" pitchFamily="34" charset="0"/>
              </a:rPr>
              <a:t>thống</a:t>
            </a:r>
            <a:r>
              <a:rPr lang="en-US" sz="2000">
                <a:latin typeface="Arial" panose="020B0604020202020204" pitchFamily="34" charset="0"/>
                <a:cs typeface="Arial" panose="020B0604020202020204" pitchFamily="34" charset="0"/>
              </a:rPr>
              <a:t> </a:t>
            </a:r>
            <a:r>
              <a:rPr lang="en-US" sz="2000" err="1">
                <a:latin typeface="Arial" panose="020B0604020202020204" pitchFamily="34" charset="0"/>
                <a:cs typeface="Arial" panose="020B0604020202020204" pitchFamily="34" charset="0"/>
              </a:rPr>
              <a:t>nhất</a:t>
            </a:r>
            <a:r>
              <a:rPr lang="en-US" sz="2000">
                <a:latin typeface="Arial" panose="020B0604020202020204" pitchFamily="34" charset="0"/>
                <a:cs typeface="Arial" panose="020B0604020202020204" pitchFamily="34" charset="0"/>
              </a:rPr>
              <a:t> </a:t>
            </a:r>
            <a:r>
              <a:rPr lang="en-US" sz="2000" err="1">
                <a:latin typeface="Arial" panose="020B0604020202020204" pitchFamily="34" charset="0"/>
                <a:cs typeface="Arial" panose="020B0604020202020204" pitchFamily="34" charset="0"/>
              </a:rPr>
              <a:t>cùng</a:t>
            </a:r>
            <a:r>
              <a:rPr lang="en-US" sz="2000">
                <a:latin typeface="Arial" panose="020B0604020202020204" pitchFamily="34" charset="0"/>
                <a:cs typeface="Arial" panose="020B0604020202020204" pitchFamily="34" charset="0"/>
              </a:rPr>
              <a:t> chung </a:t>
            </a:r>
            <a:r>
              <a:rPr lang="en-US" sz="2000" err="1">
                <a:latin typeface="Arial" panose="020B0604020202020204" pitchFamily="34" charset="0"/>
                <a:cs typeface="Arial" panose="020B0604020202020204" pitchFamily="34" charset="0"/>
              </a:rPr>
              <a:t>các</a:t>
            </a:r>
            <a:r>
              <a:rPr lang="en-US" sz="2000">
                <a:latin typeface="Arial" panose="020B0604020202020204" pitchFamily="34" charset="0"/>
                <a:cs typeface="Arial" panose="020B0604020202020204" pitchFamily="34" charset="0"/>
              </a:rPr>
              <a:t> </a:t>
            </a:r>
            <a:r>
              <a:rPr lang="en-US" sz="2000" err="1">
                <a:latin typeface="Arial" panose="020B0604020202020204" pitchFamily="34" charset="0"/>
                <a:cs typeface="Arial" panose="020B0604020202020204" pitchFamily="34" charset="0"/>
              </a:rPr>
              <a:t>tiêu</a:t>
            </a:r>
            <a:r>
              <a:rPr lang="en-US" sz="2000">
                <a:latin typeface="Arial" panose="020B0604020202020204" pitchFamily="34" charset="0"/>
                <a:cs typeface="Arial" panose="020B0604020202020204" pitchFamily="34" charset="0"/>
              </a:rPr>
              <a:t> chí </a:t>
            </a:r>
            <a:r>
              <a:rPr lang="en-US" sz="2000" err="1">
                <a:latin typeface="Arial" panose="020B0604020202020204" pitchFamily="34" charset="0"/>
                <a:cs typeface="Arial" panose="020B0604020202020204" pitchFamily="34" charset="0"/>
              </a:rPr>
              <a:t>đánh</a:t>
            </a:r>
            <a:r>
              <a:rPr lang="en-US" sz="2000">
                <a:latin typeface="Arial" panose="020B0604020202020204" pitchFamily="34" charset="0"/>
                <a:cs typeface="Arial" panose="020B0604020202020204" pitchFamily="34" charset="0"/>
              </a:rPr>
              <a:t> </a:t>
            </a:r>
            <a:r>
              <a:rPr lang="en-US" sz="2000" err="1" smtClean="0">
                <a:latin typeface="Arial" panose="020B0604020202020204" pitchFamily="34" charset="0"/>
                <a:cs typeface="Arial" panose="020B0604020202020204" pitchFamily="34" charset="0"/>
              </a:rPr>
              <a:t>gia</a:t>
            </a:r>
            <a:r>
              <a:rPr lang="en-US" sz="2000" smtClean="0">
                <a:latin typeface="Arial" panose="020B0604020202020204" pitchFamily="34" charset="0"/>
                <a:cs typeface="Arial" panose="020B0604020202020204" pitchFamily="34" charset="0"/>
              </a:rPr>
              <a:t>́</a:t>
            </a:r>
          </a:p>
          <a:p>
            <a:pPr marL="457200" indent="-457200" algn="l">
              <a:lnSpc>
                <a:spcPct val="130000"/>
              </a:lnSpc>
              <a:spcBef>
                <a:spcPts val="1200"/>
              </a:spcBef>
              <a:buClr>
                <a:schemeClr val="tx1"/>
              </a:buClr>
              <a:buSzPct val="100000"/>
              <a:buAutoNum type="arabicPeriod"/>
            </a:pPr>
            <a:endParaRPr lang="en-US" sz="2000" smtClean="0">
              <a:latin typeface="Arial" panose="020B0604020202020204" pitchFamily="34" charset="0"/>
              <a:cs typeface="Arial" panose="020B0604020202020204" pitchFamily="34" charset="0"/>
            </a:endParaRPr>
          </a:p>
          <a:p>
            <a:pPr marL="457200" indent="-457200" algn="l">
              <a:lnSpc>
                <a:spcPct val="130000"/>
              </a:lnSpc>
              <a:spcBef>
                <a:spcPts val="1200"/>
              </a:spcBef>
              <a:buClr>
                <a:schemeClr val="tx1"/>
              </a:buClr>
              <a:buSzPct val="100000"/>
              <a:buAutoNum type="arabicPeriod"/>
            </a:pPr>
            <a:endParaRPr lang="vi-VN" sz="2000">
              <a:latin typeface="Arial" panose="020B0604020202020204" pitchFamily="34" charset="0"/>
              <a:cs typeface="Arial" panose="020B0604020202020204" pitchFamily="34" charset="0"/>
            </a:endParaRPr>
          </a:p>
        </p:txBody>
      </p:sp>
      <p:sp>
        <p:nvSpPr>
          <p:cNvPr id="4" name="Title 3"/>
          <p:cNvSpPr>
            <a:spLocks noGrp="1"/>
          </p:cNvSpPr>
          <p:nvPr>
            <p:ph type="ctrTitle"/>
          </p:nvPr>
        </p:nvSpPr>
        <p:spPr>
          <a:xfrm>
            <a:off x="533400" y="1371600"/>
            <a:ext cx="7851648" cy="1049288"/>
          </a:xfrm>
        </p:spPr>
        <p:txBody>
          <a:bodyPr/>
          <a:lstStyle/>
          <a:p>
            <a:pPr algn="l"/>
            <a:r>
              <a:rPr lang="en-US" err="1" smtClean="0"/>
              <a:t>Các</a:t>
            </a:r>
            <a:r>
              <a:rPr lang="en-US" smtClean="0"/>
              <a:t> </a:t>
            </a:r>
            <a:r>
              <a:rPr lang="en-US" err="1" smtClean="0"/>
              <a:t>điều</a:t>
            </a:r>
            <a:r>
              <a:rPr lang="en-US" smtClean="0"/>
              <a:t> </a:t>
            </a:r>
            <a:r>
              <a:rPr lang="en-US" err="1" smtClean="0"/>
              <a:t>kiện</a:t>
            </a:r>
            <a:endParaRPr lang="vi-VN"/>
          </a:p>
        </p:txBody>
      </p:sp>
    </p:spTree>
    <p:extLst>
      <p:ext uri="{BB962C8B-B14F-4D97-AF65-F5344CB8AC3E}">
        <p14:creationId xmlns:p14="http://schemas.microsoft.com/office/powerpoint/2010/main" val="86089871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467544" y="2420888"/>
            <a:ext cx="7854696" cy="648072"/>
          </a:xfrm>
        </p:spPr>
        <p:txBody>
          <a:bodyPr>
            <a:normAutofit/>
          </a:bodyPr>
          <a:lstStyle/>
          <a:p>
            <a:pPr algn="l"/>
            <a:r>
              <a:rPr lang="en-US" sz="2000" err="1" smtClean="0">
                <a:latin typeface="Arial" panose="020B0604020202020204" pitchFamily="34" charset="0"/>
                <a:cs typeface="Arial" panose="020B0604020202020204" pitchFamily="34" charset="0"/>
              </a:rPr>
              <a:t>Tất</a:t>
            </a:r>
            <a:r>
              <a:rPr lang="en-US" sz="2000" smtClean="0">
                <a:latin typeface="Arial" panose="020B0604020202020204" pitchFamily="34" charset="0"/>
                <a:cs typeface="Arial" panose="020B0604020202020204" pitchFamily="34" charset="0"/>
              </a:rPr>
              <a:t> cả </a:t>
            </a:r>
            <a:r>
              <a:rPr lang="en-US" sz="2000" err="1" smtClean="0">
                <a:latin typeface="Arial" panose="020B0604020202020204" pitchFamily="34" charset="0"/>
                <a:cs typeface="Arial" panose="020B0604020202020204" pitchFamily="34" charset="0"/>
              </a:rPr>
              <a:t>các</a:t>
            </a:r>
            <a:r>
              <a:rPr lang="en-US" sz="2000" smtClean="0">
                <a:latin typeface="Arial" panose="020B0604020202020204" pitchFamily="34" charset="0"/>
                <a:cs typeface="Arial" panose="020B0604020202020204" pitchFamily="34" charset="0"/>
              </a:rPr>
              <a:t> </a:t>
            </a:r>
            <a:r>
              <a:rPr lang="en-US" sz="2000" err="1" smtClean="0">
                <a:latin typeface="Arial" panose="020B0604020202020204" pitchFamily="34" charset="0"/>
                <a:cs typeface="Arial" panose="020B0604020202020204" pitchFamily="34" charset="0"/>
              </a:rPr>
              <a:t>đơn</a:t>
            </a:r>
            <a:r>
              <a:rPr lang="en-US" sz="2000" smtClean="0">
                <a:latin typeface="Arial" panose="020B0604020202020204" pitchFamily="34" charset="0"/>
                <a:cs typeface="Arial" panose="020B0604020202020204" pitchFamily="34" charset="0"/>
              </a:rPr>
              <a:t> vị </a:t>
            </a:r>
            <a:r>
              <a:rPr lang="en-US" sz="2000" err="1" smtClean="0">
                <a:latin typeface="Arial" panose="020B0604020202020204" pitchFamily="34" charset="0"/>
                <a:cs typeface="Arial" panose="020B0604020202020204" pitchFamily="34" charset="0"/>
              </a:rPr>
              <a:t>trên</a:t>
            </a:r>
            <a:r>
              <a:rPr lang="en-US" sz="2000" smtClean="0">
                <a:latin typeface="Arial" panose="020B0604020202020204" pitchFamily="34" charset="0"/>
                <a:cs typeface="Arial" panose="020B0604020202020204" pitchFamily="34" charset="0"/>
              </a:rPr>
              <a:t> </a:t>
            </a:r>
            <a:r>
              <a:rPr lang="en-US" sz="2000" err="1" smtClean="0">
                <a:latin typeface="Arial" panose="020B0604020202020204" pitchFamily="34" charset="0"/>
                <a:cs typeface="Arial" panose="020B0604020202020204" pitchFamily="34" charset="0"/>
              </a:rPr>
              <a:t>địa</a:t>
            </a:r>
            <a:r>
              <a:rPr lang="en-US" sz="2000" smtClean="0">
                <a:latin typeface="Arial" panose="020B0604020202020204" pitchFamily="34" charset="0"/>
                <a:cs typeface="Arial" panose="020B0604020202020204" pitchFamily="34" charset="0"/>
              </a:rPr>
              <a:t> </a:t>
            </a:r>
            <a:r>
              <a:rPr lang="en-US" sz="2000" err="1" smtClean="0">
                <a:latin typeface="Arial" panose="020B0604020202020204" pitchFamily="34" charset="0"/>
                <a:cs typeface="Arial" panose="020B0604020202020204" pitchFamily="34" charset="0"/>
              </a:rPr>
              <a:t>bàn</a:t>
            </a:r>
            <a:r>
              <a:rPr lang="en-US" sz="2000" smtClean="0">
                <a:latin typeface="Arial" panose="020B0604020202020204" pitchFamily="34" charset="0"/>
                <a:cs typeface="Arial" panose="020B0604020202020204" pitchFamily="34" charset="0"/>
              </a:rPr>
              <a:t> </a:t>
            </a:r>
            <a:r>
              <a:rPr lang="en-US" sz="2000" err="1" smtClean="0">
                <a:latin typeface="Arial" panose="020B0604020202020204" pitchFamily="34" charset="0"/>
                <a:cs typeface="Arial" panose="020B0604020202020204" pitchFamily="34" charset="0"/>
              </a:rPr>
              <a:t>thành</a:t>
            </a:r>
            <a:r>
              <a:rPr lang="en-US" sz="2000" smtClean="0">
                <a:latin typeface="Arial" panose="020B0604020202020204" pitchFamily="34" charset="0"/>
                <a:cs typeface="Arial" panose="020B0604020202020204" pitchFamily="34" charset="0"/>
              </a:rPr>
              <a:t> </a:t>
            </a:r>
            <a:r>
              <a:rPr lang="en-US" sz="2000" err="1" smtClean="0">
                <a:latin typeface="Arial" panose="020B0604020202020204" pitchFamily="34" charset="0"/>
                <a:cs typeface="Arial" panose="020B0604020202020204" pitchFamily="34" charset="0"/>
              </a:rPr>
              <a:t>phô</a:t>
            </a:r>
            <a:r>
              <a:rPr lang="en-US" sz="2000" smtClean="0">
                <a:latin typeface="Arial" panose="020B0604020202020204" pitchFamily="34" charset="0"/>
                <a:cs typeface="Arial" panose="020B0604020202020204" pitchFamily="34" charset="0"/>
              </a:rPr>
              <a:t>́.</a:t>
            </a:r>
          </a:p>
        </p:txBody>
      </p:sp>
      <p:sp>
        <p:nvSpPr>
          <p:cNvPr id="4" name="Title 3"/>
          <p:cNvSpPr>
            <a:spLocks noGrp="1"/>
          </p:cNvSpPr>
          <p:nvPr>
            <p:ph type="ctrTitle"/>
          </p:nvPr>
        </p:nvSpPr>
        <p:spPr>
          <a:xfrm>
            <a:off x="251520" y="1196752"/>
            <a:ext cx="7851648" cy="995536"/>
          </a:xfrm>
        </p:spPr>
        <p:txBody>
          <a:bodyPr/>
          <a:lstStyle/>
          <a:p>
            <a:pPr algn="l"/>
            <a:r>
              <a:rPr lang="en-US" smtClean="0"/>
              <a:t>Phạm vi áp dụng</a:t>
            </a:r>
            <a:endParaRPr lang="vi-VN"/>
          </a:p>
        </p:txBody>
      </p:sp>
      <p:sp>
        <p:nvSpPr>
          <p:cNvPr id="2" name="Rectangle 1"/>
          <p:cNvSpPr/>
          <p:nvPr/>
        </p:nvSpPr>
        <p:spPr>
          <a:xfrm>
            <a:off x="395536" y="4077072"/>
            <a:ext cx="8208912" cy="1323439"/>
          </a:xfrm>
          <a:prstGeom prst="rect">
            <a:avLst/>
          </a:prstGeom>
        </p:spPr>
        <p:txBody>
          <a:bodyPr wrap="square">
            <a:spAutoFit/>
          </a:bodyPr>
          <a:lstStyle/>
          <a:p>
            <a:pPr marL="514350" indent="-514350">
              <a:spcBef>
                <a:spcPts val="1200"/>
              </a:spcBef>
              <a:buAutoNum type="arabicPeriod"/>
            </a:pPr>
            <a:r>
              <a:rPr lang="en-US" sz="2000" err="1" smtClean="0">
                <a:latin typeface="Arial" panose="020B0604020202020204" pitchFamily="34" charset="0"/>
                <a:cs typeface="Arial" panose="020B0604020202020204" pitchFamily="34" charset="0"/>
              </a:rPr>
              <a:t>Công</a:t>
            </a:r>
            <a:r>
              <a:rPr lang="en-US" sz="2000" smtClean="0">
                <a:latin typeface="Arial" panose="020B0604020202020204" pitchFamily="34" charset="0"/>
                <a:cs typeface="Arial" panose="020B0604020202020204" pitchFamily="34" charset="0"/>
              </a:rPr>
              <a:t> </a:t>
            </a:r>
            <a:r>
              <a:rPr lang="en-US" sz="2000" err="1" smtClean="0">
                <a:latin typeface="Arial" panose="020B0604020202020204" pitchFamily="34" charset="0"/>
                <a:cs typeface="Arial" panose="020B0604020202020204" pitchFamily="34" charset="0"/>
              </a:rPr>
              <a:t>dân</a:t>
            </a:r>
            <a:r>
              <a:rPr lang="en-US" sz="2000" smtClean="0">
                <a:latin typeface="Arial" panose="020B0604020202020204" pitchFamily="34" charset="0"/>
                <a:cs typeface="Arial" panose="020B0604020202020204" pitchFamily="34" charset="0"/>
              </a:rPr>
              <a:t>/</a:t>
            </a:r>
            <a:r>
              <a:rPr lang="en-US" sz="2000" err="1" smtClean="0">
                <a:latin typeface="Arial" panose="020B0604020202020204" pitchFamily="34" charset="0"/>
                <a:cs typeface="Arial" panose="020B0604020202020204" pitchFamily="34" charset="0"/>
              </a:rPr>
              <a:t>doanh</a:t>
            </a:r>
            <a:r>
              <a:rPr lang="en-US" sz="2000" smtClean="0">
                <a:latin typeface="Arial" panose="020B0604020202020204" pitchFamily="34" charset="0"/>
                <a:cs typeface="Arial" panose="020B0604020202020204" pitchFamily="34" charset="0"/>
              </a:rPr>
              <a:t> </a:t>
            </a:r>
            <a:r>
              <a:rPr lang="en-US" sz="2000" err="1" smtClean="0">
                <a:latin typeface="Arial" panose="020B0604020202020204" pitchFamily="34" charset="0"/>
                <a:cs typeface="Arial" panose="020B0604020202020204" pitchFamily="34" charset="0"/>
              </a:rPr>
              <a:t>nghiệp</a:t>
            </a:r>
            <a:r>
              <a:rPr lang="en-US" sz="2000" smtClean="0">
                <a:latin typeface="Arial" panose="020B0604020202020204" pitchFamily="34" charset="0"/>
                <a:cs typeface="Arial" panose="020B0604020202020204" pitchFamily="34" charset="0"/>
              </a:rPr>
              <a:t> </a:t>
            </a:r>
            <a:r>
              <a:rPr lang="en-US" sz="2000" err="1" smtClean="0">
                <a:latin typeface="Arial" panose="020B0604020202020204" pitchFamily="34" charset="0"/>
                <a:cs typeface="Arial" panose="020B0604020202020204" pitchFamily="34" charset="0"/>
              </a:rPr>
              <a:t>nộp</a:t>
            </a:r>
            <a:r>
              <a:rPr lang="en-US" sz="2000" smtClean="0">
                <a:latin typeface="Arial" panose="020B0604020202020204" pitchFamily="34" charset="0"/>
                <a:cs typeface="Arial" panose="020B0604020202020204" pitchFamily="34" charset="0"/>
              </a:rPr>
              <a:t> </a:t>
            </a:r>
            <a:r>
              <a:rPr lang="en-US" sz="2000" err="1" smtClean="0">
                <a:latin typeface="Arial" panose="020B0604020202020204" pitchFamily="34" charset="0"/>
                <a:cs typeface="Arial" panose="020B0604020202020204" pitchFamily="34" charset="0"/>
              </a:rPr>
              <a:t>hô</a:t>
            </a:r>
            <a:r>
              <a:rPr lang="en-US" sz="2000" smtClean="0">
                <a:latin typeface="Arial" panose="020B0604020202020204" pitchFamily="34" charset="0"/>
                <a:cs typeface="Arial" panose="020B0604020202020204" pitchFamily="34" charset="0"/>
              </a:rPr>
              <a:t>̀ </a:t>
            </a:r>
            <a:r>
              <a:rPr lang="en-US" sz="2000" err="1" smtClean="0">
                <a:latin typeface="Arial" panose="020B0604020202020204" pitchFamily="34" charset="0"/>
                <a:cs typeface="Arial" panose="020B0604020202020204" pitchFamily="34" charset="0"/>
              </a:rPr>
              <a:t>sơ</a:t>
            </a:r>
            <a:endParaRPr lang="en-US" sz="2000" smtClean="0">
              <a:latin typeface="Arial" panose="020B0604020202020204" pitchFamily="34" charset="0"/>
              <a:cs typeface="Arial" panose="020B0604020202020204" pitchFamily="34" charset="0"/>
            </a:endParaRPr>
          </a:p>
          <a:p>
            <a:pPr marL="514350" indent="-514350">
              <a:spcBef>
                <a:spcPts val="1200"/>
              </a:spcBef>
              <a:buAutoNum type="arabicPeriod"/>
            </a:pPr>
            <a:r>
              <a:rPr lang="en-US" sz="2000" err="1" smtClean="0">
                <a:latin typeface="Arial" panose="020B0604020202020204" pitchFamily="34" charset="0"/>
                <a:cs typeface="Arial" panose="020B0604020202020204" pitchFamily="34" charset="0"/>
              </a:rPr>
              <a:t>Lãnh</a:t>
            </a:r>
            <a:r>
              <a:rPr lang="en-US" sz="2000" smtClean="0">
                <a:latin typeface="Arial" panose="020B0604020202020204" pitchFamily="34" charset="0"/>
                <a:cs typeface="Arial" panose="020B0604020202020204" pitchFamily="34" charset="0"/>
              </a:rPr>
              <a:t> </a:t>
            </a:r>
            <a:r>
              <a:rPr lang="en-US" sz="2000" err="1" smtClean="0">
                <a:latin typeface="Arial" panose="020B0604020202020204" pitchFamily="34" charset="0"/>
                <a:cs typeface="Arial" panose="020B0604020202020204" pitchFamily="34" charset="0"/>
              </a:rPr>
              <a:t>đạo</a:t>
            </a:r>
            <a:r>
              <a:rPr lang="en-US" sz="2000" smtClean="0">
                <a:latin typeface="Arial" panose="020B0604020202020204" pitchFamily="34" charset="0"/>
                <a:cs typeface="Arial" panose="020B0604020202020204" pitchFamily="34" charset="0"/>
              </a:rPr>
              <a:t> </a:t>
            </a:r>
            <a:r>
              <a:rPr lang="en-US" sz="2000" err="1" smtClean="0">
                <a:latin typeface="Arial" panose="020B0604020202020204" pitchFamily="34" charset="0"/>
                <a:cs typeface="Arial" panose="020B0604020202020204" pitchFamily="34" charset="0"/>
              </a:rPr>
              <a:t>đơn</a:t>
            </a:r>
            <a:r>
              <a:rPr lang="en-US" sz="2000" smtClean="0">
                <a:latin typeface="Arial" panose="020B0604020202020204" pitchFamily="34" charset="0"/>
                <a:cs typeface="Arial" panose="020B0604020202020204" pitchFamily="34" charset="0"/>
              </a:rPr>
              <a:t> vị/</a:t>
            </a:r>
            <a:r>
              <a:rPr lang="en-US" sz="2000" err="1" smtClean="0">
                <a:latin typeface="Arial" panose="020B0604020202020204" pitchFamily="34" charset="0"/>
                <a:cs typeface="Arial" panose="020B0604020202020204" pitchFamily="34" charset="0"/>
              </a:rPr>
              <a:t>lãnh</a:t>
            </a:r>
            <a:r>
              <a:rPr lang="en-US" sz="2000" smtClean="0">
                <a:latin typeface="Arial" panose="020B0604020202020204" pitchFamily="34" charset="0"/>
                <a:cs typeface="Arial" panose="020B0604020202020204" pitchFamily="34" charset="0"/>
              </a:rPr>
              <a:t> </a:t>
            </a:r>
            <a:r>
              <a:rPr lang="en-US" sz="2000" err="1" smtClean="0">
                <a:latin typeface="Arial" panose="020B0604020202020204" pitchFamily="34" charset="0"/>
                <a:cs typeface="Arial" panose="020B0604020202020204" pitchFamily="34" charset="0"/>
              </a:rPr>
              <a:t>đạo</a:t>
            </a:r>
            <a:r>
              <a:rPr lang="en-US" sz="2000" smtClean="0">
                <a:latin typeface="Arial" panose="020B0604020202020204" pitchFamily="34" charset="0"/>
                <a:cs typeface="Arial" panose="020B0604020202020204" pitchFamily="34" charset="0"/>
              </a:rPr>
              <a:t> </a:t>
            </a:r>
            <a:r>
              <a:rPr lang="en-US" sz="2000" err="1" smtClean="0">
                <a:latin typeface="Arial" panose="020B0604020202020204" pitchFamily="34" charset="0"/>
                <a:cs typeface="Arial" panose="020B0604020202020204" pitchFamily="34" charset="0"/>
              </a:rPr>
              <a:t>thành</a:t>
            </a:r>
            <a:r>
              <a:rPr lang="en-US" sz="2000" smtClean="0">
                <a:latin typeface="Arial" panose="020B0604020202020204" pitchFamily="34" charset="0"/>
                <a:cs typeface="Arial" panose="020B0604020202020204" pitchFamily="34" charset="0"/>
              </a:rPr>
              <a:t> </a:t>
            </a:r>
            <a:r>
              <a:rPr lang="en-US" sz="2000" err="1" smtClean="0">
                <a:latin typeface="Arial" panose="020B0604020202020204" pitchFamily="34" charset="0"/>
                <a:cs typeface="Arial" panose="020B0604020202020204" pitchFamily="34" charset="0"/>
              </a:rPr>
              <a:t>phô</a:t>
            </a:r>
            <a:r>
              <a:rPr lang="en-US" sz="2000" smtClean="0">
                <a:latin typeface="Arial" panose="020B0604020202020204" pitchFamily="34" charset="0"/>
                <a:cs typeface="Arial" panose="020B0604020202020204" pitchFamily="34" charset="0"/>
              </a:rPr>
              <a:t>́</a:t>
            </a:r>
          </a:p>
          <a:p>
            <a:pPr marL="514350" indent="-514350">
              <a:spcBef>
                <a:spcPts val="1200"/>
              </a:spcBef>
              <a:buAutoNum type="arabicPeriod"/>
            </a:pPr>
            <a:r>
              <a:rPr lang="en-US" sz="2000" err="1" smtClean="0">
                <a:latin typeface="Arial" panose="020B0604020202020204" pitchFamily="34" charset="0"/>
                <a:cs typeface="Arial" panose="020B0604020202020204" pitchFamily="34" charset="0"/>
              </a:rPr>
              <a:t>Cán</a:t>
            </a:r>
            <a:r>
              <a:rPr lang="en-US" sz="2000" smtClean="0">
                <a:latin typeface="Arial" panose="020B0604020202020204" pitchFamily="34" charset="0"/>
                <a:cs typeface="Arial" panose="020B0604020202020204" pitchFamily="34" charset="0"/>
              </a:rPr>
              <a:t> </a:t>
            </a:r>
            <a:r>
              <a:rPr lang="en-US" sz="2000" err="1" smtClean="0">
                <a:latin typeface="Arial" panose="020B0604020202020204" pitchFamily="34" charset="0"/>
                <a:cs typeface="Arial" panose="020B0604020202020204" pitchFamily="34" charset="0"/>
              </a:rPr>
              <a:t>bô</a:t>
            </a:r>
            <a:r>
              <a:rPr lang="en-US" sz="2000" smtClean="0">
                <a:latin typeface="Arial" panose="020B0604020202020204" pitchFamily="34" charset="0"/>
                <a:cs typeface="Arial" panose="020B0604020202020204" pitchFamily="34" charset="0"/>
              </a:rPr>
              <a:t>̣ </a:t>
            </a:r>
            <a:r>
              <a:rPr lang="en-US" sz="2000" err="1" smtClean="0">
                <a:latin typeface="Arial" panose="020B0604020202020204" pitchFamily="34" charset="0"/>
                <a:cs typeface="Arial" panose="020B0604020202020204" pitchFamily="34" charset="0"/>
              </a:rPr>
              <a:t>quản</a:t>
            </a:r>
            <a:r>
              <a:rPr lang="en-US" sz="2000" smtClean="0">
                <a:latin typeface="Arial" panose="020B0604020202020204" pitchFamily="34" charset="0"/>
                <a:cs typeface="Arial" panose="020B0604020202020204" pitchFamily="34" charset="0"/>
              </a:rPr>
              <a:t> trị </a:t>
            </a:r>
            <a:r>
              <a:rPr lang="en-US" sz="2000" err="1" smtClean="0">
                <a:latin typeface="Arial" panose="020B0604020202020204" pitchFamily="34" charset="0"/>
                <a:cs typeface="Arial" panose="020B0604020202020204" pitchFamily="34" charset="0"/>
              </a:rPr>
              <a:t>hê</a:t>
            </a:r>
            <a:r>
              <a:rPr lang="en-US" sz="2000" smtClean="0">
                <a:latin typeface="Arial" panose="020B0604020202020204" pitchFamily="34" charset="0"/>
                <a:cs typeface="Arial" panose="020B0604020202020204" pitchFamily="34" charset="0"/>
              </a:rPr>
              <a:t>̣ </a:t>
            </a:r>
            <a:r>
              <a:rPr lang="en-US" sz="2000" err="1" smtClean="0">
                <a:latin typeface="Arial" panose="020B0604020202020204" pitchFamily="34" charset="0"/>
                <a:cs typeface="Arial" panose="020B0604020202020204" pitchFamily="34" charset="0"/>
              </a:rPr>
              <a:t>thống</a:t>
            </a:r>
            <a:r>
              <a:rPr lang="en-US" sz="2000" smtClean="0">
                <a:latin typeface="Arial" panose="020B0604020202020204" pitchFamily="34" charset="0"/>
                <a:cs typeface="Arial" panose="020B0604020202020204" pitchFamily="34" charset="0"/>
              </a:rPr>
              <a:t> </a:t>
            </a:r>
            <a:endParaRPr lang="vi-VN" sz="2000">
              <a:latin typeface="Arial" panose="020B0604020202020204" pitchFamily="34" charset="0"/>
              <a:cs typeface="Arial" panose="020B0604020202020204" pitchFamily="34" charset="0"/>
            </a:endParaRPr>
          </a:p>
        </p:txBody>
      </p:sp>
      <p:sp>
        <p:nvSpPr>
          <p:cNvPr id="6" name="Title 3"/>
          <p:cNvSpPr txBox="1">
            <a:spLocks/>
          </p:cNvSpPr>
          <p:nvPr/>
        </p:nvSpPr>
        <p:spPr>
          <a:xfrm>
            <a:off x="251520" y="2931232"/>
            <a:ext cx="7851648" cy="995536"/>
          </a:xfrm>
          <a:prstGeom prst="rect">
            <a:avLst/>
          </a:prstGeom>
          <a:ln>
            <a:noFill/>
          </a:ln>
        </p:spPr>
        <p:txBody>
          <a:bodyPr vert="horz" lIns="0"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eaLnBrk="1" latinLnBrk="0" hangingPunct="1">
              <a:spcBef>
                <a:spcPct val="0"/>
              </a:spcBef>
              <a:buNone/>
              <a:defRPr kumimoji="0" sz="5600" b="1" kern="1200">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pPr algn="l"/>
            <a:r>
              <a:rPr lang="en-US"/>
              <a:t>Đối tượng phục </a:t>
            </a:r>
            <a:r>
              <a:rPr lang="en-US" smtClean="0"/>
              <a:t>vụ</a:t>
            </a:r>
            <a:endParaRPr lang="vi-VN"/>
          </a:p>
        </p:txBody>
      </p:sp>
    </p:spTree>
    <p:extLst>
      <p:ext uri="{BB962C8B-B14F-4D97-AF65-F5344CB8AC3E}">
        <p14:creationId xmlns:p14="http://schemas.microsoft.com/office/powerpoint/2010/main" val="136111769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23528" y="2636912"/>
            <a:ext cx="7854696" cy="3240360"/>
          </a:xfrm>
        </p:spPr>
        <p:txBody>
          <a:bodyPr>
            <a:normAutofit/>
          </a:bodyPr>
          <a:lstStyle/>
          <a:p>
            <a:pPr marL="514350" indent="-514350" algn="l">
              <a:lnSpc>
                <a:spcPct val="120000"/>
              </a:lnSpc>
              <a:spcBef>
                <a:spcPts val="1200"/>
              </a:spcBef>
              <a:buClr>
                <a:schemeClr val="tx1"/>
              </a:buClr>
              <a:buSzPct val="100000"/>
              <a:buAutoNum type="arabicPeriod"/>
            </a:pPr>
            <a:r>
              <a:rPr lang="en-US" sz="2000" err="1" smtClean="0">
                <a:latin typeface="Arial" panose="020B0604020202020204" pitchFamily="34" charset="0"/>
                <a:cs typeface="Arial" panose="020B0604020202020204" pitchFamily="34" charset="0"/>
              </a:rPr>
              <a:t>Trực</a:t>
            </a:r>
            <a:r>
              <a:rPr lang="en-US" sz="2000" smtClean="0">
                <a:latin typeface="Arial" panose="020B0604020202020204" pitchFamily="34" charset="0"/>
                <a:cs typeface="Arial" panose="020B0604020202020204" pitchFamily="34" charset="0"/>
              </a:rPr>
              <a:t> </a:t>
            </a:r>
            <a:r>
              <a:rPr lang="en-US" sz="2000" err="1" smtClean="0">
                <a:latin typeface="Arial" panose="020B0604020202020204" pitchFamily="34" charset="0"/>
                <a:cs typeface="Arial" panose="020B0604020202020204" pitchFamily="34" charset="0"/>
              </a:rPr>
              <a:t>tiếp</a:t>
            </a:r>
            <a:r>
              <a:rPr lang="en-US" sz="2000" smtClean="0">
                <a:latin typeface="Arial" panose="020B0604020202020204" pitchFamily="34" charset="0"/>
                <a:cs typeface="Arial" panose="020B0604020202020204" pitchFamily="34" charset="0"/>
              </a:rPr>
              <a:t> </a:t>
            </a:r>
            <a:r>
              <a:rPr lang="en-US" sz="2000" err="1" smtClean="0">
                <a:latin typeface="Arial" panose="020B0604020202020204" pitchFamily="34" charset="0"/>
                <a:cs typeface="Arial" panose="020B0604020202020204" pitchFamily="34" charset="0"/>
              </a:rPr>
              <a:t>tại</a:t>
            </a:r>
            <a:r>
              <a:rPr lang="en-US" sz="2000" smtClean="0">
                <a:latin typeface="Arial" panose="020B0604020202020204" pitchFamily="34" charset="0"/>
                <a:cs typeface="Arial" panose="020B0604020202020204" pitchFamily="34" charset="0"/>
              </a:rPr>
              <a:t> </a:t>
            </a:r>
            <a:r>
              <a:rPr lang="en-US" sz="2000" err="1" smtClean="0">
                <a:latin typeface="Arial" panose="020B0604020202020204" pitchFamily="34" charset="0"/>
                <a:cs typeface="Arial" panose="020B0604020202020204" pitchFamily="34" charset="0"/>
              </a:rPr>
              <a:t>các</a:t>
            </a:r>
            <a:r>
              <a:rPr lang="en-US" sz="2000" smtClean="0">
                <a:latin typeface="Arial" panose="020B0604020202020204" pitchFamily="34" charset="0"/>
                <a:cs typeface="Arial" panose="020B0604020202020204" pitchFamily="34" charset="0"/>
              </a:rPr>
              <a:t> </a:t>
            </a:r>
            <a:r>
              <a:rPr lang="en-US" sz="2000" err="1" smtClean="0">
                <a:latin typeface="Arial" panose="020B0604020202020204" pitchFamily="34" charset="0"/>
                <a:cs typeface="Arial" panose="020B0604020202020204" pitchFamily="34" charset="0"/>
              </a:rPr>
              <a:t>quầy</a:t>
            </a:r>
            <a:r>
              <a:rPr lang="en-US" sz="2000" smtClean="0">
                <a:latin typeface="Arial" panose="020B0604020202020204" pitchFamily="34" charset="0"/>
                <a:cs typeface="Arial" panose="020B0604020202020204" pitchFamily="34" charset="0"/>
              </a:rPr>
              <a:t> </a:t>
            </a:r>
            <a:r>
              <a:rPr lang="en-US" sz="2000" err="1" smtClean="0">
                <a:latin typeface="Arial" panose="020B0604020202020204" pitchFamily="34" charset="0"/>
                <a:cs typeface="Arial" panose="020B0604020202020204" pitchFamily="34" charset="0"/>
              </a:rPr>
              <a:t>của</a:t>
            </a:r>
            <a:r>
              <a:rPr lang="en-US" sz="2000" smtClean="0">
                <a:latin typeface="Arial" panose="020B0604020202020204" pitchFamily="34" charset="0"/>
                <a:cs typeface="Arial" panose="020B0604020202020204" pitchFamily="34" charset="0"/>
              </a:rPr>
              <a:t> </a:t>
            </a:r>
            <a:r>
              <a:rPr lang="en-US" sz="2000" err="1" smtClean="0">
                <a:latin typeface="Arial" panose="020B0604020202020204" pitchFamily="34" charset="0"/>
                <a:cs typeface="Arial" panose="020B0604020202020204" pitchFamily="34" charset="0"/>
              </a:rPr>
              <a:t>cán</a:t>
            </a:r>
            <a:r>
              <a:rPr lang="en-US" sz="2000" smtClean="0">
                <a:latin typeface="Arial" panose="020B0604020202020204" pitchFamily="34" charset="0"/>
                <a:cs typeface="Arial" panose="020B0604020202020204" pitchFamily="34" charset="0"/>
              </a:rPr>
              <a:t> </a:t>
            </a:r>
            <a:r>
              <a:rPr lang="en-US" sz="2000" err="1" smtClean="0">
                <a:latin typeface="Arial" panose="020B0604020202020204" pitchFamily="34" charset="0"/>
                <a:cs typeface="Arial" panose="020B0604020202020204" pitchFamily="34" charset="0"/>
              </a:rPr>
              <a:t>bô</a:t>
            </a:r>
            <a:r>
              <a:rPr lang="en-US" sz="2000" smtClean="0">
                <a:latin typeface="Arial" panose="020B0604020202020204" pitchFamily="34" charset="0"/>
                <a:cs typeface="Arial" panose="020B0604020202020204" pitchFamily="34" charset="0"/>
              </a:rPr>
              <a:t>̣ </a:t>
            </a:r>
            <a:r>
              <a:rPr lang="en-US" sz="2000" err="1" smtClean="0">
                <a:latin typeface="Arial" panose="020B0604020202020204" pitchFamily="34" charset="0"/>
                <a:cs typeface="Arial" panose="020B0604020202020204" pitchFamily="34" charset="0"/>
              </a:rPr>
              <a:t>tiếp</a:t>
            </a:r>
            <a:r>
              <a:rPr lang="en-US" sz="2000" smtClean="0">
                <a:latin typeface="Arial" panose="020B0604020202020204" pitchFamily="34" charset="0"/>
                <a:cs typeface="Arial" panose="020B0604020202020204" pitchFamily="34" charset="0"/>
              </a:rPr>
              <a:t> </a:t>
            </a:r>
            <a:r>
              <a:rPr lang="en-US" sz="2000" err="1" smtClean="0">
                <a:latin typeface="Arial" panose="020B0604020202020204" pitchFamily="34" charset="0"/>
                <a:cs typeface="Arial" panose="020B0604020202020204" pitchFamily="34" charset="0"/>
              </a:rPr>
              <a:t>nhận</a:t>
            </a:r>
            <a:r>
              <a:rPr lang="en-US" sz="2000" smtClean="0">
                <a:latin typeface="Arial" panose="020B0604020202020204" pitchFamily="34" charset="0"/>
                <a:cs typeface="Arial" panose="020B0604020202020204" pitchFamily="34" charset="0"/>
              </a:rPr>
              <a:t> </a:t>
            </a:r>
            <a:r>
              <a:rPr lang="en-US" sz="2000" err="1" smtClean="0">
                <a:latin typeface="Arial" panose="020B0604020202020204" pitchFamily="34" charset="0"/>
                <a:cs typeface="Arial" panose="020B0604020202020204" pitchFamily="34" charset="0"/>
              </a:rPr>
              <a:t>hô</a:t>
            </a:r>
            <a:r>
              <a:rPr lang="en-US" sz="2000" smtClean="0">
                <a:latin typeface="Arial" panose="020B0604020202020204" pitchFamily="34" charset="0"/>
                <a:cs typeface="Arial" panose="020B0604020202020204" pitchFamily="34" charset="0"/>
              </a:rPr>
              <a:t>̀ </a:t>
            </a:r>
            <a:r>
              <a:rPr lang="en-US" sz="2000" err="1" smtClean="0">
                <a:latin typeface="Arial" panose="020B0604020202020204" pitchFamily="34" charset="0"/>
                <a:cs typeface="Arial" panose="020B0604020202020204" pitchFamily="34" charset="0"/>
              </a:rPr>
              <a:t>sơ</a:t>
            </a:r>
            <a:r>
              <a:rPr lang="en-US" sz="2000" smtClean="0">
                <a:latin typeface="Arial" panose="020B0604020202020204" pitchFamily="34" charset="0"/>
                <a:cs typeface="Arial" panose="020B0604020202020204" pitchFamily="34" charset="0"/>
              </a:rPr>
              <a:t>: </a:t>
            </a:r>
            <a:r>
              <a:rPr lang="en-US" sz="2000" err="1" smtClean="0">
                <a:latin typeface="Arial" panose="020B0604020202020204" pitchFamily="34" charset="0"/>
                <a:cs typeface="Arial" panose="020B0604020202020204" pitchFamily="34" charset="0"/>
              </a:rPr>
              <a:t>thông</a:t>
            </a:r>
            <a:r>
              <a:rPr lang="en-US" sz="2000" smtClean="0">
                <a:latin typeface="Arial" panose="020B0604020202020204" pitchFamily="34" charset="0"/>
                <a:cs typeface="Arial" panose="020B0604020202020204" pitchFamily="34" charset="0"/>
              </a:rPr>
              <a:t> qua </a:t>
            </a:r>
            <a:r>
              <a:rPr lang="en-US" sz="2000" err="1" smtClean="0">
                <a:latin typeface="Arial" panose="020B0604020202020204" pitchFamily="34" charset="0"/>
                <a:cs typeface="Arial" panose="020B0604020202020204" pitchFamily="34" charset="0"/>
              </a:rPr>
              <a:t>các</a:t>
            </a:r>
            <a:r>
              <a:rPr lang="en-US" sz="2000" smtClean="0">
                <a:latin typeface="Arial" panose="020B0604020202020204" pitchFamily="34" charset="0"/>
                <a:cs typeface="Arial" panose="020B0604020202020204" pitchFamily="34" charset="0"/>
              </a:rPr>
              <a:t> </a:t>
            </a:r>
            <a:r>
              <a:rPr lang="en-US" sz="2000" err="1" smtClean="0">
                <a:latin typeface="Arial" panose="020B0604020202020204" pitchFamily="34" charset="0"/>
                <a:cs typeface="Arial" panose="020B0604020202020204" pitchFamily="34" charset="0"/>
              </a:rPr>
              <a:t>màn</a:t>
            </a:r>
            <a:r>
              <a:rPr lang="en-US" sz="2000" smtClean="0">
                <a:latin typeface="Arial" panose="020B0604020202020204" pitchFamily="34" charset="0"/>
                <a:cs typeface="Arial" panose="020B0604020202020204" pitchFamily="34" charset="0"/>
              </a:rPr>
              <a:t> </a:t>
            </a:r>
            <a:r>
              <a:rPr lang="en-US" sz="2000" err="1" smtClean="0">
                <a:latin typeface="Arial" panose="020B0604020202020204" pitchFamily="34" charset="0"/>
                <a:cs typeface="Arial" panose="020B0604020202020204" pitchFamily="34" charset="0"/>
              </a:rPr>
              <a:t>hình</a:t>
            </a:r>
            <a:r>
              <a:rPr lang="en-US" sz="2000" smtClean="0">
                <a:latin typeface="Arial" panose="020B0604020202020204" pitchFamily="34" charset="0"/>
                <a:cs typeface="Arial" panose="020B0604020202020204" pitchFamily="34" charset="0"/>
              </a:rPr>
              <a:t> touch screen, </a:t>
            </a:r>
            <a:r>
              <a:rPr lang="en-US" sz="2000" err="1" smtClean="0">
                <a:latin typeface="Arial" panose="020B0604020202020204" pitchFamily="34" charset="0"/>
                <a:cs typeface="Arial" panose="020B0604020202020204" pitchFamily="34" charset="0"/>
              </a:rPr>
              <a:t>máy</a:t>
            </a:r>
            <a:r>
              <a:rPr lang="en-US" sz="2000" smtClean="0">
                <a:latin typeface="Arial" panose="020B0604020202020204" pitchFamily="34" charset="0"/>
                <a:cs typeface="Arial" panose="020B0604020202020204" pitchFamily="34" charset="0"/>
              </a:rPr>
              <a:t> </a:t>
            </a:r>
            <a:r>
              <a:rPr lang="en-US" sz="2000" err="1" smtClean="0">
                <a:latin typeface="Arial" panose="020B0604020202020204" pitchFamily="34" charset="0"/>
                <a:cs typeface="Arial" panose="020B0604020202020204" pitchFamily="34" charset="0"/>
              </a:rPr>
              <a:t>tính</a:t>
            </a:r>
            <a:r>
              <a:rPr lang="en-US" sz="2000" smtClean="0">
                <a:latin typeface="Arial" panose="020B0604020202020204" pitchFamily="34" charset="0"/>
                <a:cs typeface="Arial" panose="020B0604020202020204" pitchFamily="34" charset="0"/>
              </a:rPr>
              <a:t> </a:t>
            </a:r>
            <a:r>
              <a:rPr lang="en-US" sz="2000" err="1" smtClean="0">
                <a:latin typeface="Arial" panose="020B0604020202020204" pitchFamily="34" charset="0"/>
                <a:cs typeface="Arial" panose="020B0604020202020204" pitchFamily="34" charset="0"/>
              </a:rPr>
              <a:t>bảng</a:t>
            </a:r>
            <a:r>
              <a:rPr lang="en-US" sz="2000" smtClean="0">
                <a:latin typeface="Arial" panose="020B0604020202020204" pitchFamily="34" charset="0"/>
                <a:cs typeface="Arial" panose="020B0604020202020204" pitchFamily="34" charset="0"/>
              </a:rPr>
              <a:t>, kiosk</a:t>
            </a:r>
          </a:p>
          <a:p>
            <a:pPr marL="514350" indent="-514350" algn="l">
              <a:lnSpc>
                <a:spcPct val="120000"/>
              </a:lnSpc>
              <a:spcBef>
                <a:spcPts val="1200"/>
              </a:spcBef>
              <a:buClr>
                <a:schemeClr val="tx1"/>
              </a:buClr>
              <a:buSzPct val="100000"/>
              <a:buAutoNum type="arabicPeriod"/>
            </a:pPr>
            <a:r>
              <a:rPr lang="en-US" sz="2000" smtClean="0">
                <a:latin typeface="Arial" panose="020B0604020202020204" pitchFamily="34" charset="0"/>
                <a:cs typeface="Arial" panose="020B0604020202020204" pitchFamily="34" charset="0"/>
              </a:rPr>
              <a:t>Qua </a:t>
            </a:r>
            <a:r>
              <a:rPr lang="en-US" sz="2000" err="1" smtClean="0">
                <a:latin typeface="Arial" panose="020B0604020202020204" pitchFamily="34" charset="0"/>
                <a:cs typeface="Arial" panose="020B0604020202020204" pitchFamily="34" charset="0"/>
              </a:rPr>
              <a:t>điện</a:t>
            </a:r>
            <a:r>
              <a:rPr lang="en-US" sz="2000" smtClean="0">
                <a:latin typeface="Arial" panose="020B0604020202020204" pitchFamily="34" charset="0"/>
                <a:cs typeface="Arial" panose="020B0604020202020204" pitchFamily="34" charset="0"/>
              </a:rPr>
              <a:t> </a:t>
            </a:r>
            <a:r>
              <a:rPr lang="en-US" sz="2000" err="1" smtClean="0">
                <a:latin typeface="Arial" panose="020B0604020202020204" pitchFamily="34" charset="0"/>
                <a:cs typeface="Arial" panose="020B0604020202020204" pitchFamily="34" charset="0"/>
              </a:rPr>
              <a:t>thoại</a:t>
            </a:r>
            <a:r>
              <a:rPr lang="en-US" sz="2000" smtClean="0">
                <a:latin typeface="Arial" panose="020B0604020202020204" pitchFamily="34" charset="0"/>
                <a:cs typeface="Arial" panose="020B0604020202020204" pitchFamily="34" charset="0"/>
              </a:rPr>
              <a:t> </a:t>
            </a:r>
            <a:r>
              <a:rPr lang="en-US" sz="2000" err="1" smtClean="0">
                <a:latin typeface="Arial" panose="020B0604020202020204" pitchFamily="34" charset="0"/>
                <a:cs typeface="Arial" panose="020B0604020202020204" pitchFamily="34" charset="0"/>
              </a:rPr>
              <a:t>va</a:t>
            </a:r>
            <a:r>
              <a:rPr lang="en-US" sz="2000" smtClean="0">
                <a:latin typeface="Arial" panose="020B0604020202020204" pitchFamily="34" charset="0"/>
                <a:cs typeface="Arial" panose="020B0604020202020204" pitchFamily="34" charset="0"/>
              </a:rPr>
              <a:t>̀ email: </a:t>
            </a:r>
            <a:r>
              <a:rPr lang="en-US" sz="2000" err="1" smtClean="0">
                <a:latin typeface="Arial" panose="020B0604020202020204" pitchFamily="34" charset="0"/>
                <a:cs typeface="Arial" panose="020B0604020202020204" pitchFamily="34" charset="0"/>
              </a:rPr>
              <a:t>căn</a:t>
            </a:r>
            <a:r>
              <a:rPr lang="en-US" sz="2000" smtClean="0">
                <a:latin typeface="Arial" panose="020B0604020202020204" pitchFamily="34" charset="0"/>
                <a:cs typeface="Arial" panose="020B0604020202020204" pitchFamily="34" charset="0"/>
              </a:rPr>
              <a:t> </a:t>
            </a:r>
            <a:r>
              <a:rPr lang="en-US" sz="2000" err="1" smtClean="0">
                <a:latin typeface="Arial" panose="020B0604020202020204" pitchFamily="34" charset="0"/>
                <a:cs typeface="Arial" panose="020B0604020202020204" pitchFamily="34" charset="0"/>
              </a:rPr>
              <a:t>cư</a:t>
            </a:r>
            <a:r>
              <a:rPr lang="en-US" sz="2000" smtClean="0">
                <a:latin typeface="Arial" panose="020B0604020202020204" pitchFamily="34" charset="0"/>
                <a:cs typeface="Arial" panose="020B0604020202020204" pitchFamily="34" charset="0"/>
              </a:rPr>
              <a:t>́ </a:t>
            </a:r>
            <a:r>
              <a:rPr lang="en-US" sz="2000" err="1" smtClean="0">
                <a:latin typeface="Arial" panose="020B0604020202020204" pitchFamily="34" charset="0"/>
                <a:cs typeface="Arial" panose="020B0604020202020204" pitchFamily="34" charset="0"/>
              </a:rPr>
              <a:t>với</a:t>
            </a:r>
            <a:r>
              <a:rPr lang="en-US" sz="2000" smtClean="0">
                <a:latin typeface="Arial" panose="020B0604020202020204" pitchFamily="34" charset="0"/>
                <a:cs typeface="Arial" panose="020B0604020202020204" pitchFamily="34" charset="0"/>
              </a:rPr>
              <a:t> </a:t>
            </a:r>
            <a:r>
              <a:rPr lang="en-US" sz="2000" err="1" smtClean="0">
                <a:latin typeface="Arial" panose="020B0604020202020204" pitchFamily="34" charset="0"/>
                <a:cs typeface="Arial" panose="020B0604020202020204" pitchFamily="34" charset="0"/>
              </a:rPr>
              <a:t>sô</a:t>
            </a:r>
            <a:r>
              <a:rPr lang="en-US" sz="2000" smtClean="0">
                <a:latin typeface="Arial" panose="020B0604020202020204" pitchFamily="34" charset="0"/>
                <a:cs typeface="Arial" panose="020B0604020202020204" pitchFamily="34" charset="0"/>
              </a:rPr>
              <a:t>́ </a:t>
            </a:r>
            <a:r>
              <a:rPr lang="en-US" sz="2000" err="1" smtClean="0">
                <a:latin typeface="Arial" panose="020B0604020202020204" pitchFamily="34" charset="0"/>
                <a:cs typeface="Arial" panose="020B0604020202020204" pitchFamily="34" charset="0"/>
              </a:rPr>
              <a:t>điện</a:t>
            </a:r>
            <a:r>
              <a:rPr lang="en-US" sz="2000" smtClean="0">
                <a:latin typeface="Arial" panose="020B0604020202020204" pitchFamily="34" charset="0"/>
                <a:cs typeface="Arial" panose="020B0604020202020204" pitchFamily="34" charset="0"/>
              </a:rPr>
              <a:t> </a:t>
            </a:r>
            <a:r>
              <a:rPr lang="en-US" sz="2000" err="1" smtClean="0">
                <a:latin typeface="Arial" panose="020B0604020202020204" pitchFamily="34" charset="0"/>
                <a:cs typeface="Arial" panose="020B0604020202020204" pitchFamily="34" charset="0"/>
              </a:rPr>
              <a:t>thoại</a:t>
            </a:r>
            <a:r>
              <a:rPr lang="en-US" sz="2000" smtClean="0">
                <a:latin typeface="Arial" panose="020B0604020202020204" pitchFamily="34" charset="0"/>
                <a:cs typeface="Arial" panose="020B0604020202020204" pitchFamily="34" charset="0"/>
              </a:rPr>
              <a:t>, </a:t>
            </a:r>
            <a:r>
              <a:rPr lang="en-US" sz="2000" err="1" smtClean="0">
                <a:latin typeface="Arial" panose="020B0604020202020204" pitchFamily="34" charset="0"/>
                <a:cs typeface="Arial" panose="020B0604020202020204" pitchFamily="34" charset="0"/>
              </a:rPr>
              <a:t>địa</a:t>
            </a:r>
            <a:r>
              <a:rPr lang="en-US" sz="2000" smtClean="0">
                <a:latin typeface="Arial" panose="020B0604020202020204" pitchFamily="34" charset="0"/>
                <a:cs typeface="Arial" panose="020B0604020202020204" pitchFamily="34" charset="0"/>
              </a:rPr>
              <a:t> chỉ mail </a:t>
            </a:r>
            <a:r>
              <a:rPr lang="en-US" sz="2000" err="1" smtClean="0">
                <a:latin typeface="Arial" panose="020B0604020202020204" pitchFamily="34" charset="0"/>
                <a:cs typeface="Arial" panose="020B0604020202020204" pitchFamily="34" charset="0"/>
              </a:rPr>
              <a:t>người</a:t>
            </a:r>
            <a:r>
              <a:rPr lang="en-US" sz="2000" smtClean="0">
                <a:latin typeface="Arial" panose="020B0604020202020204" pitchFamily="34" charset="0"/>
                <a:cs typeface="Arial" panose="020B0604020202020204" pitchFamily="34" charset="0"/>
              </a:rPr>
              <a:t> </a:t>
            </a:r>
            <a:r>
              <a:rPr lang="en-US" sz="2000" err="1" smtClean="0">
                <a:latin typeface="Arial" panose="020B0604020202020204" pitchFamily="34" charset="0"/>
                <a:cs typeface="Arial" panose="020B0604020202020204" pitchFamily="34" charset="0"/>
              </a:rPr>
              <a:t>nộp</a:t>
            </a:r>
            <a:r>
              <a:rPr lang="en-US" sz="2000" smtClean="0">
                <a:latin typeface="Arial" panose="020B0604020202020204" pitchFamily="34" charset="0"/>
                <a:cs typeface="Arial" panose="020B0604020202020204" pitchFamily="34" charset="0"/>
              </a:rPr>
              <a:t> </a:t>
            </a:r>
            <a:r>
              <a:rPr lang="en-US" sz="2000" err="1" smtClean="0">
                <a:latin typeface="Arial" panose="020B0604020202020204" pitchFamily="34" charset="0"/>
                <a:cs typeface="Arial" panose="020B0604020202020204" pitchFamily="34" charset="0"/>
              </a:rPr>
              <a:t>hô</a:t>
            </a:r>
            <a:r>
              <a:rPr lang="en-US" sz="2000" smtClean="0">
                <a:latin typeface="Arial" panose="020B0604020202020204" pitchFamily="34" charset="0"/>
                <a:cs typeface="Arial" panose="020B0604020202020204" pitchFamily="34" charset="0"/>
              </a:rPr>
              <a:t>̀ </a:t>
            </a:r>
            <a:r>
              <a:rPr lang="en-US" sz="2000" err="1" smtClean="0">
                <a:latin typeface="Arial" panose="020B0604020202020204" pitchFamily="34" charset="0"/>
                <a:cs typeface="Arial" panose="020B0604020202020204" pitchFamily="34" charset="0"/>
              </a:rPr>
              <a:t>sơ</a:t>
            </a:r>
            <a:r>
              <a:rPr lang="en-US" sz="2000" smtClean="0">
                <a:latin typeface="Arial" panose="020B0604020202020204" pitchFamily="34" charset="0"/>
                <a:cs typeface="Arial" panose="020B0604020202020204" pitchFamily="34" charset="0"/>
              </a:rPr>
              <a:t> </a:t>
            </a:r>
            <a:r>
              <a:rPr lang="en-US" sz="2000" err="1" smtClean="0">
                <a:latin typeface="Arial" panose="020B0604020202020204" pitchFamily="34" charset="0"/>
                <a:cs typeface="Arial" panose="020B0604020202020204" pitchFamily="34" charset="0"/>
              </a:rPr>
              <a:t>cung</a:t>
            </a:r>
            <a:r>
              <a:rPr lang="en-US" sz="2000" smtClean="0">
                <a:latin typeface="Arial" panose="020B0604020202020204" pitchFamily="34" charset="0"/>
                <a:cs typeface="Arial" panose="020B0604020202020204" pitchFamily="34" charset="0"/>
              </a:rPr>
              <a:t> </a:t>
            </a:r>
            <a:r>
              <a:rPr lang="en-US" sz="2000" err="1" smtClean="0">
                <a:latin typeface="Arial" panose="020B0604020202020204" pitchFamily="34" charset="0"/>
                <a:cs typeface="Arial" panose="020B0604020202020204" pitchFamily="34" charset="0"/>
              </a:rPr>
              <a:t>cấp</a:t>
            </a:r>
            <a:r>
              <a:rPr lang="en-US" sz="2000" smtClean="0">
                <a:latin typeface="Arial" panose="020B0604020202020204" pitchFamily="34" charset="0"/>
                <a:cs typeface="Arial" panose="020B0604020202020204" pitchFamily="34" charset="0"/>
              </a:rPr>
              <a:t> </a:t>
            </a:r>
            <a:r>
              <a:rPr lang="en-US" sz="2000" err="1" smtClean="0">
                <a:latin typeface="Arial" panose="020B0604020202020204" pitchFamily="34" charset="0"/>
                <a:cs typeface="Arial" panose="020B0604020202020204" pitchFamily="34" charset="0"/>
              </a:rPr>
              <a:t>khi</a:t>
            </a:r>
            <a:r>
              <a:rPr lang="en-US" sz="2000" smtClean="0">
                <a:latin typeface="Arial" panose="020B0604020202020204" pitchFamily="34" charset="0"/>
                <a:cs typeface="Arial" panose="020B0604020202020204" pitchFamily="34" charset="0"/>
              </a:rPr>
              <a:t> </a:t>
            </a:r>
            <a:r>
              <a:rPr lang="en-US" sz="2000" err="1" smtClean="0">
                <a:latin typeface="Arial" panose="020B0604020202020204" pitchFamily="34" charset="0"/>
                <a:cs typeface="Arial" panose="020B0604020202020204" pitchFamily="34" charset="0"/>
              </a:rPr>
              <a:t>giao</a:t>
            </a:r>
            <a:r>
              <a:rPr lang="en-US" sz="2000" smtClean="0">
                <a:latin typeface="Arial" panose="020B0604020202020204" pitchFamily="34" charset="0"/>
                <a:cs typeface="Arial" panose="020B0604020202020204" pitchFamily="34" charset="0"/>
              </a:rPr>
              <a:t> </a:t>
            </a:r>
            <a:r>
              <a:rPr lang="en-US" sz="2000" err="1" smtClean="0">
                <a:latin typeface="Arial" panose="020B0604020202020204" pitchFamily="34" charset="0"/>
                <a:cs typeface="Arial" panose="020B0604020202020204" pitchFamily="34" charset="0"/>
              </a:rPr>
              <a:t>dịch</a:t>
            </a:r>
            <a:r>
              <a:rPr lang="en-US" sz="2000" smtClean="0">
                <a:latin typeface="Arial" panose="020B0604020202020204" pitchFamily="34" charset="0"/>
                <a:cs typeface="Arial" panose="020B0604020202020204" pitchFamily="34" charset="0"/>
              </a:rPr>
              <a:t>.</a:t>
            </a:r>
          </a:p>
          <a:p>
            <a:pPr marL="514350" indent="-514350" algn="l">
              <a:lnSpc>
                <a:spcPct val="120000"/>
              </a:lnSpc>
              <a:spcBef>
                <a:spcPts val="1200"/>
              </a:spcBef>
              <a:buClr>
                <a:schemeClr val="tx1"/>
              </a:buClr>
              <a:buSzPct val="100000"/>
              <a:buAutoNum type="arabicPeriod"/>
            </a:pPr>
            <a:r>
              <a:rPr lang="en-US" sz="2000" smtClean="0">
                <a:latin typeface="Arial" panose="020B0604020202020204" pitchFamily="34" charset="0"/>
                <a:cs typeface="Arial" panose="020B0604020202020204" pitchFamily="34" charset="0"/>
              </a:rPr>
              <a:t>Qua </a:t>
            </a:r>
            <a:r>
              <a:rPr lang="en-US" sz="2000" err="1" smtClean="0">
                <a:latin typeface="Arial" panose="020B0604020202020204" pitchFamily="34" charset="0"/>
                <a:cs typeface="Arial" panose="020B0604020202020204" pitchFamily="34" charset="0"/>
              </a:rPr>
              <a:t>cổng</a:t>
            </a:r>
            <a:r>
              <a:rPr lang="en-US" sz="2000" smtClean="0">
                <a:latin typeface="Arial" panose="020B0604020202020204" pitchFamily="34" charset="0"/>
                <a:cs typeface="Arial" panose="020B0604020202020204" pitchFamily="34" charset="0"/>
              </a:rPr>
              <a:t> </a:t>
            </a:r>
            <a:r>
              <a:rPr lang="en-US" sz="2000" err="1" smtClean="0">
                <a:latin typeface="Arial" panose="020B0604020202020204" pitchFamily="34" charset="0"/>
                <a:cs typeface="Arial" panose="020B0604020202020204" pitchFamily="34" charset="0"/>
              </a:rPr>
              <a:t>thông</a:t>
            </a:r>
            <a:r>
              <a:rPr lang="en-US" sz="2000" smtClean="0">
                <a:latin typeface="Arial" panose="020B0604020202020204" pitchFamily="34" charset="0"/>
                <a:cs typeface="Arial" panose="020B0604020202020204" pitchFamily="34" charset="0"/>
              </a:rPr>
              <a:t> tin </a:t>
            </a:r>
            <a:r>
              <a:rPr lang="en-US" sz="2000" err="1" smtClean="0">
                <a:latin typeface="Arial" panose="020B0604020202020204" pitchFamily="34" charset="0"/>
                <a:cs typeface="Arial" panose="020B0604020202020204" pitchFamily="34" charset="0"/>
              </a:rPr>
              <a:t>của</a:t>
            </a:r>
            <a:r>
              <a:rPr lang="en-US" sz="2000" smtClean="0">
                <a:latin typeface="Arial" panose="020B0604020202020204" pitchFamily="34" charset="0"/>
                <a:cs typeface="Arial" panose="020B0604020202020204" pitchFamily="34" charset="0"/>
              </a:rPr>
              <a:t> </a:t>
            </a:r>
            <a:r>
              <a:rPr lang="en-US" sz="2000" err="1" smtClean="0">
                <a:latin typeface="Arial" panose="020B0604020202020204" pitchFamily="34" charset="0"/>
                <a:cs typeface="Arial" panose="020B0604020202020204" pitchFamily="34" charset="0"/>
              </a:rPr>
              <a:t>Tp</a:t>
            </a:r>
            <a:r>
              <a:rPr lang="en-US" sz="2000" smtClean="0">
                <a:latin typeface="Arial" panose="020B0604020202020204" pitchFamily="34" charset="0"/>
                <a:cs typeface="Arial" panose="020B0604020202020204" pitchFamily="34" charset="0"/>
              </a:rPr>
              <a:t>, </a:t>
            </a:r>
            <a:r>
              <a:rPr lang="en-US" sz="2000" err="1" smtClean="0">
                <a:latin typeface="Arial" panose="020B0604020202020204" pitchFamily="34" charset="0"/>
                <a:cs typeface="Arial" panose="020B0604020202020204" pitchFamily="34" charset="0"/>
              </a:rPr>
              <a:t>Cổng</a:t>
            </a:r>
            <a:r>
              <a:rPr lang="en-US" sz="2000" smtClean="0">
                <a:latin typeface="Arial" panose="020B0604020202020204" pitchFamily="34" charset="0"/>
                <a:cs typeface="Arial" panose="020B0604020202020204" pitchFamily="34" charset="0"/>
              </a:rPr>
              <a:t> </a:t>
            </a:r>
            <a:r>
              <a:rPr lang="en-US" sz="2000" err="1" smtClean="0">
                <a:latin typeface="Arial" panose="020B0604020202020204" pitchFamily="34" charset="0"/>
                <a:cs typeface="Arial" panose="020B0604020202020204" pitchFamily="34" charset="0"/>
              </a:rPr>
              <a:t>Một</a:t>
            </a:r>
            <a:r>
              <a:rPr lang="en-US" sz="2000" smtClean="0">
                <a:latin typeface="Arial" panose="020B0604020202020204" pitchFamily="34" charset="0"/>
                <a:cs typeface="Arial" panose="020B0604020202020204" pitchFamily="34" charset="0"/>
              </a:rPr>
              <a:t> </a:t>
            </a:r>
            <a:r>
              <a:rPr lang="en-US" sz="2000" err="1" smtClean="0">
                <a:latin typeface="Arial" panose="020B0604020202020204" pitchFamily="34" charset="0"/>
                <a:cs typeface="Arial" panose="020B0604020202020204" pitchFamily="34" charset="0"/>
              </a:rPr>
              <a:t>cửa</a:t>
            </a:r>
            <a:r>
              <a:rPr lang="en-US" sz="2000" smtClean="0">
                <a:latin typeface="Arial" panose="020B0604020202020204" pitchFamily="34" charset="0"/>
                <a:cs typeface="Arial" panose="020B0604020202020204" pitchFamily="34" charset="0"/>
              </a:rPr>
              <a:t> </a:t>
            </a:r>
            <a:r>
              <a:rPr lang="en-US" sz="2000" err="1" smtClean="0">
                <a:latin typeface="Arial" panose="020B0604020202020204" pitchFamily="34" charset="0"/>
                <a:cs typeface="Arial" panose="020B0604020202020204" pitchFamily="34" charset="0"/>
              </a:rPr>
              <a:t>điện</a:t>
            </a:r>
            <a:r>
              <a:rPr lang="en-US" sz="2000" smtClean="0">
                <a:latin typeface="Arial" panose="020B0604020202020204" pitchFamily="34" charset="0"/>
                <a:cs typeface="Arial" panose="020B0604020202020204" pitchFamily="34" charset="0"/>
              </a:rPr>
              <a:t> </a:t>
            </a:r>
            <a:r>
              <a:rPr lang="en-US" sz="2000" err="1" smtClean="0">
                <a:latin typeface="Arial" panose="020B0604020202020204" pitchFamily="34" charset="0"/>
                <a:cs typeface="Arial" panose="020B0604020202020204" pitchFamily="34" charset="0"/>
              </a:rPr>
              <a:t>tư</a:t>
            </a:r>
            <a:r>
              <a:rPr lang="en-US" sz="2000" smtClean="0">
                <a:latin typeface="Arial" panose="020B0604020202020204" pitchFamily="34" charset="0"/>
                <a:cs typeface="Arial" panose="020B0604020202020204" pitchFamily="34" charset="0"/>
              </a:rPr>
              <a:t>̉, website </a:t>
            </a:r>
            <a:r>
              <a:rPr lang="en-US" sz="2000" err="1" smtClean="0">
                <a:latin typeface="Arial" panose="020B0604020202020204" pitchFamily="34" charset="0"/>
                <a:cs typeface="Arial" panose="020B0604020202020204" pitchFamily="34" charset="0"/>
              </a:rPr>
              <a:t>của</a:t>
            </a:r>
            <a:r>
              <a:rPr lang="en-US" sz="2000" smtClean="0">
                <a:latin typeface="Arial" panose="020B0604020202020204" pitchFamily="34" charset="0"/>
                <a:cs typeface="Arial" panose="020B0604020202020204" pitchFamily="34" charset="0"/>
              </a:rPr>
              <a:t> </a:t>
            </a:r>
            <a:r>
              <a:rPr lang="en-US" sz="2000" err="1" smtClean="0">
                <a:latin typeface="Arial" panose="020B0604020202020204" pitchFamily="34" charset="0"/>
                <a:cs typeface="Arial" panose="020B0604020202020204" pitchFamily="34" charset="0"/>
              </a:rPr>
              <a:t>đơn</a:t>
            </a:r>
            <a:r>
              <a:rPr lang="en-US" sz="2000" smtClean="0">
                <a:latin typeface="Arial" panose="020B0604020202020204" pitchFamily="34" charset="0"/>
                <a:cs typeface="Arial" panose="020B0604020202020204" pitchFamily="34" charset="0"/>
              </a:rPr>
              <a:t> vị</a:t>
            </a:r>
          </a:p>
          <a:p>
            <a:pPr marL="514350" indent="-514350" algn="l">
              <a:lnSpc>
                <a:spcPct val="120000"/>
              </a:lnSpc>
              <a:spcBef>
                <a:spcPts val="1200"/>
              </a:spcBef>
              <a:buAutoNum type="arabicPeriod"/>
            </a:pPr>
            <a:endParaRPr lang="en-US" sz="2000" smtClean="0">
              <a:latin typeface="Arial" panose="020B0604020202020204" pitchFamily="34" charset="0"/>
              <a:cs typeface="Arial" panose="020B0604020202020204" pitchFamily="34" charset="0"/>
            </a:endParaRPr>
          </a:p>
          <a:p>
            <a:pPr marL="514350" indent="-514350" algn="l">
              <a:lnSpc>
                <a:spcPct val="120000"/>
              </a:lnSpc>
              <a:spcBef>
                <a:spcPts val="1200"/>
              </a:spcBef>
              <a:buAutoNum type="arabicPeriod"/>
            </a:pPr>
            <a:endParaRPr lang="vi-VN" sz="2000">
              <a:latin typeface="Arial" panose="020B0604020202020204" pitchFamily="34" charset="0"/>
              <a:cs typeface="Arial" panose="020B0604020202020204" pitchFamily="34" charset="0"/>
            </a:endParaRPr>
          </a:p>
        </p:txBody>
      </p:sp>
      <p:sp>
        <p:nvSpPr>
          <p:cNvPr id="4" name="Title 3"/>
          <p:cNvSpPr>
            <a:spLocks noGrp="1"/>
          </p:cNvSpPr>
          <p:nvPr>
            <p:ph type="ctrTitle"/>
          </p:nvPr>
        </p:nvSpPr>
        <p:spPr>
          <a:xfrm>
            <a:off x="533400" y="1371600"/>
            <a:ext cx="7851648" cy="977280"/>
          </a:xfrm>
        </p:spPr>
        <p:txBody>
          <a:bodyPr/>
          <a:lstStyle/>
          <a:p>
            <a:pPr algn="l"/>
            <a:r>
              <a:rPr lang="en-US" err="1" smtClean="0"/>
              <a:t>Các</a:t>
            </a:r>
            <a:r>
              <a:rPr lang="en-US" smtClean="0"/>
              <a:t> </a:t>
            </a:r>
            <a:r>
              <a:rPr lang="en-US" err="1" smtClean="0"/>
              <a:t>hình</a:t>
            </a:r>
            <a:r>
              <a:rPr lang="en-US" smtClean="0"/>
              <a:t> </a:t>
            </a:r>
            <a:r>
              <a:rPr lang="en-US" err="1" smtClean="0"/>
              <a:t>thức</a:t>
            </a:r>
            <a:r>
              <a:rPr lang="en-US" smtClean="0"/>
              <a:t> </a:t>
            </a:r>
            <a:r>
              <a:rPr lang="en-US" err="1" smtClean="0"/>
              <a:t>đánh</a:t>
            </a:r>
            <a:r>
              <a:rPr lang="en-US" smtClean="0"/>
              <a:t> </a:t>
            </a:r>
            <a:r>
              <a:rPr lang="en-US" err="1" smtClean="0"/>
              <a:t>gia</a:t>
            </a:r>
            <a:r>
              <a:rPr lang="en-US" smtClean="0"/>
              <a:t>́</a:t>
            </a:r>
            <a:endParaRPr lang="vi-VN"/>
          </a:p>
        </p:txBody>
      </p:sp>
    </p:spTree>
    <p:extLst>
      <p:ext uri="{BB962C8B-B14F-4D97-AF65-F5344CB8AC3E}">
        <p14:creationId xmlns:p14="http://schemas.microsoft.com/office/powerpoint/2010/main" val="353638308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108520" y="692696"/>
            <a:ext cx="9144000" cy="936104"/>
          </a:xfrm>
        </p:spPr>
        <p:txBody>
          <a:bodyPr>
            <a:normAutofit/>
          </a:bodyPr>
          <a:lstStyle/>
          <a:p>
            <a:pPr algn="l"/>
            <a:r>
              <a:rPr lang="en-US" sz="4800"/>
              <a:t>Qui </a:t>
            </a:r>
            <a:r>
              <a:rPr lang="en-US" sz="4800" err="1"/>
              <a:t>trình</a:t>
            </a:r>
            <a:r>
              <a:rPr lang="en-US" sz="4800"/>
              <a:t> </a:t>
            </a:r>
            <a:r>
              <a:rPr lang="en-US" sz="4800" err="1"/>
              <a:t>vận</a:t>
            </a:r>
            <a:r>
              <a:rPr lang="en-US" sz="4800"/>
              <a:t> </a:t>
            </a:r>
            <a:r>
              <a:rPr lang="en-US" sz="4800" err="1"/>
              <a:t>hành</a:t>
            </a:r>
            <a:r>
              <a:rPr lang="en-US" sz="4800"/>
              <a:t> </a:t>
            </a:r>
            <a:r>
              <a:rPr lang="en-US" sz="4800" err="1"/>
              <a:t>của</a:t>
            </a:r>
            <a:r>
              <a:rPr lang="en-US" sz="4800"/>
              <a:t> </a:t>
            </a:r>
            <a:r>
              <a:rPr lang="en-US" sz="4800" err="1"/>
              <a:t>hệ</a:t>
            </a:r>
            <a:r>
              <a:rPr lang="en-US" sz="4800"/>
              <a:t> </a:t>
            </a:r>
            <a:r>
              <a:rPr lang="en-US" sz="4800" err="1"/>
              <a:t>thống</a:t>
            </a:r>
            <a:endParaRPr lang="vi-VN" sz="4800"/>
          </a:p>
        </p:txBody>
      </p:sp>
      <p:sp>
        <p:nvSpPr>
          <p:cNvPr id="5"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graphicFrame>
        <p:nvGraphicFramePr>
          <p:cNvPr id="2" name="Diagram 1"/>
          <p:cNvGraphicFramePr/>
          <p:nvPr>
            <p:extLst>
              <p:ext uri="{D42A27DB-BD31-4B8C-83A1-F6EECF244321}">
                <p14:modId xmlns:p14="http://schemas.microsoft.com/office/powerpoint/2010/main" val="1313985521"/>
              </p:ext>
            </p:extLst>
          </p:nvPr>
        </p:nvGraphicFramePr>
        <p:xfrm>
          <a:off x="251520" y="1988840"/>
          <a:ext cx="8496944" cy="34721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Rectangle 2"/>
          <p:cNvSpPr/>
          <p:nvPr/>
        </p:nvSpPr>
        <p:spPr>
          <a:xfrm>
            <a:off x="251520" y="5624181"/>
            <a:ext cx="1864613" cy="369332"/>
          </a:xfrm>
          <a:prstGeom prst="rect">
            <a:avLst/>
          </a:prstGeom>
        </p:spPr>
        <p:txBody>
          <a:bodyPr wrap="none">
            <a:spAutoFit/>
          </a:bodyPr>
          <a:lstStyle/>
          <a:p>
            <a:pPr lvl="0"/>
            <a:r>
              <a:rPr lang="vi-VN"/>
              <a:t>Quản trị </a:t>
            </a:r>
            <a:r>
              <a:rPr lang="vi-VN" smtClean="0"/>
              <a:t>hệ </a:t>
            </a:r>
            <a:r>
              <a:rPr lang="vi-VN"/>
              <a:t>thống </a:t>
            </a:r>
            <a:endParaRPr lang="en-US"/>
          </a:p>
        </p:txBody>
      </p:sp>
      <p:pic>
        <p:nvPicPr>
          <p:cNvPr id="9" name="Picture 8"/>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39552" y="4726549"/>
            <a:ext cx="897632" cy="897632"/>
          </a:xfrm>
          <a:prstGeom prst="rect">
            <a:avLst/>
          </a:prstGeom>
        </p:spPr>
      </p:pic>
      <p:pic>
        <p:nvPicPr>
          <p:cNvPr id="10" name="Picture 9"/>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220072" y="4582533"/>
            <a:ext cx="1041648" cy="1041648"/>
          </a:xfrm>
          <a:prstGeom prst="rect">
            <a:avLst/>
          </a:prstGeom>
        </p:spPr>
      </p:pic>
      <p:sp>
        <p:nvSpPr>
          <p:cNvPr id="11" name="Rectangle 10"/>
          <p:cNvSpPr/>
          <p:nvPr/>
        </p:nvSpPr>
        <p:spPr>
          <a:xfrm>
            <a:off x="5220072" y="5624181"/>
            <a:ext cx="1138004" cy="369332"/>
          </a:xfrm>
          <a:prstGeom prst="rect">
            <a:avLst/>
          </a:prstGeom>
        </p:spPr>
        <p:txBody>
          <a:bodyPr wrap="none">
            <a:spAutoFit/>
          </a:bodyPr>
          <a:lstStyle/>
          <a:p>
            <a:pPr lvl="0"/>
            <a:r>
              <a:rPr lang="en-US" err="1" smtClean="0"/>
              <a:t>Công</a:t>
            </a:r>
            <a:r>
              <a:rPr lang="en-US" smtClean="0"/>
              <a:t> </a:t>
            </a:r>
            <a:r>
              <a:rPr lang="en-US" err="1" smtClean="0"/>
              <a:t>dân</a:t>
            </a:r>
            <a:endParaRPr lang="en-US"/>
          </a:p>
        </p:txBody>
      </p:sp>
      <p:sp>
        <p:nvSpPr>
          <p:cNvPr id="12" name="Rectangle 11"/>
          <p:cNvSpPr/>
          <p:nvPr/>
        </p:nvSpPr>
        <p:spPr>
          <a:xfrm>
            <a:off x="2447764" y="5624181"/>
            <a:ext cx="1644489" cy="369332"/>
          </a:xfrm>
          <a:prstGeom prst="rect">
            <a:avLst/>
          </a:prstGeom>
        </p:spPr>
        <p:txBody>
          <a:bodyPr wrap="none">
            <a:spAutoFit/>
          </a:bodyPr>
          <a:lstStyle/>
          <a:p>
            <a:pPr lvl="0"/>
            <a:r>
              <a:rPr lang="vi-VN"/>
              <a:t>Quản trị </a:t>
            </a:r>
            <a:r>
              <a:rPr lang="en-US" err="1" smtClean="0"/>
              <a:t>đơn</a:t>
            </a:r>
            <a:r>
              <a:rPr lang="en-US" smtClean="0"/>
              <a:t> </a:t>
            </a:r>
            <a:r>
              <a:rPr lang="en-US" err="1" smtClean="0"/>
              <a:t>vị</a:t>
            </a:r>
            <a:endParaRPr lang="en-US"/>
          </a:p>
        </p:txBody>
      </p:sp>
      <p:pic>
        <p:nvPicPr>
          <p:cNvPr id="14" name="Picture 13"/>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834190" y="4665972"/>
            <a:ext cx="988876" cy="988876"/>
          </a:xfrm>
          <a:prstGeom prst="rect">
            <a:avLst/>
          </a:prstGeom>
        </p:spPr>
      </p:pic>
      <p:pic>
        <p:nvPicPr>
          <p:cNvPr id="15" name="Picture 14"/>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7524328" y="4575058"/>
            <a:ext cx="1040993" cy="1040993"/>
          </a:xfrm>
          <a:prstGeom prst="rect">
            <a:avLst/>
          </a:prstGeom>
        </p:spPr>
      </p:pic>
      <p:sp>
        <p:nvSpPr>
          <p:cNvPr id="16" name="Rectangle 15"/>
          <p:cNvSpPr/>
          <p:nvPr/>
        </p:nvSpPr>
        <p:spPr>
          <a:xfrm>
            <a:off x="7442520" y="5682899"/>
            <a:ext cx="1114857" cy="369332"/>
          </a:xfrm>
          <a:prstGeom prst="rect">
            <a:avLst/>
          </a:prstGeom>
        </p:spPr>
        <p:txBody>
          <a:bodyPr wrap="none">
            <a:spAutoFit/>
          </a:bodyPr>
          <a:lstStyle/>
          <a:p>
            <a:pPr lvl="0"/>
            <a:r>
              <a:rPr lang="en-US" err="1" smtClean="0"/>
              <a:t>Hệ</a:t>
            </a:r>
            <a:r>
              <a:rPr lang="en-US" smtClean="0"/>
              <a:t> </a:t>
            </a:r>
            <a:r>
              <a:rPr lang="en-US" err="1" smtClean="0"/>
              <a:t>thống</a:t>
            </a:r>
            <a:endParaRPr lang="en-US"/>
          </a:p>
        </p:txBody>
      </p:sp>
    </p:spTree>
    <p:extLst>
      <p:ext uri="{BB962C8B-B14F-4D97-AF65-F5344CB8AC3E}">
        <p14:creationId xmlns:p14="http://schemas.microsoft.com/office/powerpoint/2010/main" val="377134749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0" y="692696"/>
            <a:ext cx="9144000" cy="936104"/>
          </a:xfrm>
        </p:spPr>
        <p:txBody>
          <a:bodyPr>
            <a:normAutofit fontScale="90000"/>
          </a:bodyPr>
          <a:lstStyle/>
          <a:p>
            <a:pPr algn="l"/>
            <a:r>
              <a:rPr lang="en-US" sz="4800" err="1" smtClean="0"/>
              <a:t>Trình</a:t>
            </a:r>
            <a:r>
              <a:rPr lang="en-US" sz="4800" smtClean="0"/>
              <a:t> </a:t>
            </a:r>
            <a:r>
              <a:rPr lang="en-US" sz="4800" err="1" smtClean="0"/>
              <a:t>tự</a:t>
            </a:r>
            <a:r>
              <a:rPr lang="en-US" sz="4800" smtClean="0"/>
              <a:t> </a:t>
            </a:r>
            <a:r>
              <a:rPr lang="en-US" sz="4800" err="1" smtClean="0"/>
              <a:t>đánh</a:t>
            </a:r>
            <a:r>
              <a:rPr lang="en-US" sz="4800" smtClean="0"/>
              <a:t> </a:t>
            </a:r>
            <a:r>
              <a:rPr lang="en-US" sz="4800" err="1" smtClean="0"/>
              <a:t>giá</a:t>
            </a:r>
            <a:r>
              <a:rPr lang="en-US" sz="4800" smtClean="0"/>
              <a:t> </a:t>
            </a:r>
            <a:r>
              <a:rPr lang="en-US" sz="4800" err="1" smtClean="0"/>
              <a:t>trực</a:t>
            </a:r>
            <a:r>
              <a:rPr lang="en-US" sz="4800" smtClean="0"/>
              <a:t> </a:t>
            </a:r>
            <a:r>
              <a:rPr lang="en-US" sz="4800" err="1" smtClean="0"/>
              <a:t>tiếp</a:t>
            </a:r>
            <a:r>
              <a:rPr lang="en-US" sz="4800" smtClean="0"/>
              <a:t> </a:t>
            </a:r>
            <a:r>
              <a:rPr lang="en-US" sz="4800" err="1" smtClean="0"/>
              <a:t>và</a:t>
            </a:r>
            <a:r>
              <a:rPr lang="en-US" sz="4800" smtClean="0"/>
              <a:t> qua </a:t>
            </a:r>
            <a:r>
              <a:rPr lang="en-US" sz="4800" err="1" smtClean="0"/>
              <a:t>mạng</a:t>
            </a:r>
            <a:endParaRPr lang="vi-VN" sz="4800"/>
          </a:p>
        </p:txBody>
      </p:sp>
      <p:sp>
        <p:nvSpPr>
          <p:cNvPr id="5"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graphicFrame>
        <p:nvGraphicFramePr>
          <p:cNvPr id="2" name="Diagram 1"/>
          <p:cNvGraphicFramePr/>
          <p:nvPr>
            <p:extLst>
              <p:ext uri="{D42A27DB-BD31-4B8C-83A1-F6EECF244321}">
                <p14:modId xmlns:p14="http://schemas.microsoft.com/office/powerpoint/2010/main" val="708975131"/>
              </p:ext>
            </p:extLst>
          </p:nvPr>
        </p:nvGraphicFramePr>
        <p:xfrm>
          <a:off x="251520" y="1988840"/>
          <a:ext cx="8496944" cy="34721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6" name="Picture 5"/>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067944" y="5229200"/>
            <a:ext cx="1041648" cy="1041648"/>
          </a:xfrm>
          <a:prstGeom prst="rect">
            <a:avLst/>
          </a:prstGeom>
        </p:spPr>
      </p:pic>
      <p:sp>
        <p:nvSpPr>
          <p:cNvPr id="7" name="Rectangle 6"/>
          <p:cNvSpPr/>
          <p:nvPr/>
        </p:nvSpPr>
        <p:spPr>
          <a:xfrm>
            <a:off x="4067944" y="6270848"/>
            <a:ext cx="1138004" cy="369332"/>
          </a:xfrm>
          <a:prstGeom prst="rect">
            <a:avLst/>
          </a:prstGeom>
        </p:spPr>
        <p:txBody>
          <a:bodyPr wrap="none">
            <a:spAutoFit/>
          </a:bodyPr>
          <a:lstStyle/>
          <a:p>
            <a:pPr lvl="0"/>
            <a:r>
              <a:rPr lang="en-US" err="1" smtClean="0"/>
              <a:t>Công</a:t>
            </a:r>
            <a:r>
              <a:rPr lang="en-US" smtClean="0"/>
              <a:t> </a:t>
            </a:r>
            <a:r>
              <a:rPr lang="en-US" err="1" smtClean="0"/>
              <a:t>dân</a:t>
            </a:r>
            <a:endParaRPr lang="en-US"/>
          </a:p>
        </p:txBody>
      </p:sp>
    </p:spTree>
    <p:extLst>
      <p:ext uri="{BB962C8B-B14F-4D97-AF65-F5344CB8AC3E}">
        <p14:creationId xmlns:p14="http://schemas.microsoft.com/office/powerpoint/2010/main" val="247568997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0" y="692696"/>
            <a:ext cx="9144000" cy="936104"/>
          </a:xfrm>
        </p:spPr>
        <p:txBody>
          <a:bodyPr>
            <a:normAutofit/>
          </a:bodyPr>
          <a:lstStyle/>
          <a:p>
            <a:pPr algn="l"/>
            <a:r>
              <a:rPr lang="en-US" sz="4800" err="1" smtClean="0"/>
              <a:t>Trình</a:t>
            </a:r>
            <a:r>
              <a:rPr lang="en-US" sz="4800" smtClean="0"/>
              <a:t> </a:t>
            </a:r>
            <a:r>
              <a:rPr lang="en-US" sz="4800" err="1" smtClean="0"/>
              <a:t>tự</a:t>
            </a:r>
            <a:r>
              <a:rPr lang="en-US" sz="4800" smtClean="0"/>
              <a:t> </a:t>
            </a:r>
            <a:r>
              <a:rPr lang="en-US" sz="4800" err="1" smtClean="0"/>
              <a:t>đánh</a:t>
            </a:r>
            <a:r>
              <a:rPr lang="en-US" sz="4800" smtClean="0"/>
              <a:t> </a:t>
            </a:r>
            <a:r>
              <a:rPr lang="en-US" sz="4800" err="1" smtClean="0"/>
              <a:t>giá</a:t>
            </a:r>
            <a:r>
              <a:rPr lang="en-US" sz="4800" smtClean="0"/>
              <a:t> </a:t>
            </a:r>
            <a:r>
              <a:rPr lang="en-US" sz="4800" err="1" smtClean="0"/>
              <a:t>với</a:t>
            </a:r>
            <a:r>
              <a:rPr lang="en-US" sz="4800" smtClean="0"/>
              <a:t> SMS </a:t>
            </a:r>
            <a:r>
              <a:rPr lang="en-US" sz="4800" err="1" smtClean="0"/>
              <a:t>và</a:t>
            </a:r>
            <a:r>
              <a:rPr lang="en-US" sz="4800" smtClean="0"/>
              <a:t> email</a:t>
            </a:r>
            <a:endParaRPr lang="vi-VN" sz="4800"/>
          </a:p>
        </p:txBody>
      </p:sp>
      <p:sp>
        <p:nvSpPr>
          <p:cNvPr id="5"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graphicFrame>
        <p:nvGraphicFramePr>
          <p:cNvPr id="2" name="Diagram 1"/>
          <p:cNvGraphicFramePr/>
          <p:nvPr>
            <p:extLst>
              <p:ext uri="{D42A27DB-BD31-4B8C-83A1-F6EECF244321}">
                <p14:modId xmlns:p14="http://schemas.microsoft.com/office/powerpoint/2010/main" val="4088161979"/>
              </p:ext>
            </p:extLst>
          </p:nvPr>
        </p:nvGraphicFramePr>
        <p:xfrm>
          <a:off x="251520" y="1988840"/>
          <a:ext cx="8496944" cy="34721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6" name="Picture 5"/>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923928" y="5301208"/>
            <a:ext cx="1041648" cy="1041648"/>
          </a:xfrm>
          <a:prstGeom prst="rect">
            <a:avLst/>
          </a:prstGeom>
        </p:spPr>
      </p:pic>
      <p:sp>
        <p:nvSpPr>
          <p:cNvPr id="7" name="Rectangle 6"/>
          <p:cNvSpPr/>
          <p:nvPr/>
        </p:nvSpPr>
        <p:spPr>
          <a:xfrm>
            <a:off x="3923928" y="6342856"/>
            <a:ext cx="1138004" cy="369332"/>
          </a:xfrm>
          <a:prstGeom prst="rect">
            <a:avLst/>
          </a:prstGeom>
        </p:spPr>
        <p:txBody>
          <a:bodyPr wrap="none">
            <a:spAutoFit/>
          </a:bodyPr>
          <a:lstStyle/>
          <a:p>
            <a:pPr lvl="0"/>
            <a:r>
              <a:rPr lang="en-US" err="1" smtClean="0"/>
              <a:t>Công</a:t>
            </a:r>
            <a:r>
              <a:rPr lang="en-US" smtClean="0"/>
              <a:t> </a:t>
            </a:r>
            <a:r>
              <a:rPr lang="en-US" err="1" smtClean="0"/>
              <a:t>dân</a:t>
            </a:r>
            <a:endParaRPr lang="en-US"/>
          </a:p>
        </p:txBody>
      </p:sp>
    </p:spTree>
    <p:extLst>
      <p:ext uri="{BB962C8B-B14F-4D97-AF65-F5344CB8AC3E}">
        <p14:creationId xmlns:p14="http://schemas.microsoft.com/office/powerpoint/2010/main" val="35563653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179512" y="692696"/>
            <a:ext cx="8964488" cy="936104"/>
          </a:xfrm>
        </p:spPr>
        <p:txBody>
          <a:bodyPr>
            <a:normAutofit/>
          </a:bodyPr>
          <a:lstStyle/>
          <a:p>
            <a:pPr algn="l"/>
            <a:r>
              <a:rPr lang="en-US" sz="4800" smtClean="0"/>
              <a:t>Các chức năng của hệ thống</a:t>
            </a:r>
            <a:endParaRPr lang="vi-VN" sz="4800"/>
          </a:p>
        </p:txBody>
      </p:sp>
      <p:sp>
        <p:nvSpPr>
          <p:cNvPr id="5"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graphicFrame>
        <p:nvGraphicFramePr>
          <p:cNvPr id="2" name="Table 1"/>
          <p:cNvGraphicFramePr>
            <a:graphicFrameLocks noGrp="1"/>
          </p:cNvGraphicFramePr>
          <p:nvPr>
            <p:extLst>
              <p:ext uri="{D42A27DB-BD31-4B8C-83A1-F6EECF244321}">
                <p14:modId xmlns:p14="http://schemas.microsoft.com/office/powerpoint/2010/main" val="2331827565"/>
              </p:ext>
            </p:extLst>
          </p:nvPr>
        </p:nvGraphicFramePr>
        <p:xfrm>
          <a:off x="179512" y="1700808"/>
          <a:ext cx="8784976" cy="6455457"/>
        </p:xfrm>
        <a:graphic>
          <a:graphicData uri="http://schemas.openxmlformats.org/drawingml/2006/table">
            <a:tbl>
              <a:tblPr firstRow="1" firstCol="1" lastRow="1" lastCol="1" bandRow="1" bandCol="1">
                <a:tableStyleId>{284E427A-3D55-4303-BF80-6455036E1DE7}</a:tableStyleId>
              </a:tblPr>
              <a:tblGrid>
                <a:gridCol w="504056"/>
                <a:gridCol w="1296144"/>
                <a:gridCol w="1800200"/>
                <a:gridCol w="5184576"/>
              </a:tblGrid>
              <a:tr h="428140">
                <a:tc>
                  <a:txBody>
                    <a:bodyPr/>
                    <a:lstStyle/>
                    <a:p>
                      <a:pPr algn="ctr">
                        <a:spcBef>
                          <a:spcPts val="300"/>
                        </a:spcBef>
                        <a:spcAft>
                          <a:spcPts val="0"/>
                        </a:spcAft>
                      </a:pPr>
                      <a:r>
                        <a:rPr lang="en-US" sz="1800" err="1">
                          <a:effectLst/>
                          <a:latin typeface="Arial" panose="020B0604020202020204" pitchFamily="34" charset="0"/>
                          <a:cs typeface="Arial" panose="020B0604020202020204" pitchFamily="34" charset="0"/>
                        </a:rPr>
                        <a:t>Stt</a:t>
                      </a:r>
                      <a:endParaRPr lang="vi-VN" sz="1800">
                        <a:effectLst/>
                        <a:latin typeface="Arial" panose="020B0604020202020204" pitchFamily="34" charset="0"/>
                        <a:ea typeface="Times New Roman"/>
                        <a:cs typeface="Arial" panose="020B0604020202020204" pitchFamily="34" charset="0"/>
                      </a:endParaRPr>
                    </a:p>
                  </a:txBody>
                  <a:tcPr marL="65514" marR="65514" marT="0" marB="0"/>
                </a:tc>
                <a:tc>
                  <a:txBody>
                    <a:bodyPr/>
                    <a:lstStyle/>
                    <a:p>
                      <a:pPr algn="ctr">
                        <a:spcBef>
                          <a:spcPts val="300"/>
                        </a:spcBef>
                        <a:spcAft>
                          <a:spcPts val="0"/>
                        </a:spcAft>
                      </a:pPr>
                      <a:r>
                        <a:rPr lang="en-US" sz="1800" smtClean="0">
                          <a:effectLst/>
                          <a:latin typeface="Arial" panose="020B0604020202020204" pitchFamily="34" charset="0"/>
                          <a:cs typeface="Arial" panose="020B0604020202020204" pitchFamily="34" charset="0"/>
                        </a:rPr>
                        <a:t>Đối </a:t>
                      </a:r>
                      <a:r>
                        <a:rPr lang="en-US" sz="1800">
                          <a:effectLst/>
                          <a:latin typeface="Arial" panose="020B0604020202020204" pitchFamily="34" charset="0"/>
                          <a:cs typeface="Arial" panose="020B0604020202020204" pitchFamily="34" charset="0"/>
                        </a:rPr>
                        <a:t>tượng sử dụng</a:t>
                      </a:r>
                      <a:endParaRPr lang="vi-VN" sz="1800">
                        <a:effectLst/>
                        <a:latin typeface="Arial" panose="020B0604020202020204" pitchFamily="34" charset="0"/>
                        <a:ea typeface="Times New Roman"/>
                        <a:cs typeface="Arial" panose="020B0604020202020204" pitchFamily="34" charset="0"/>
                      </a:endParaRPr>
                    </a:p>
                  </a:txBody>
                  <a:tcPr marL="65514" marR="65514" marT="0" marB="0"/>
                </a:tc>
                <a:tc>
                  <a:txBody>
                    <a:bodyPr/>
                    <a:lstStyle/>
                    <a:p>
                      <a:pPr algn="ctr">
                        <a:spcBef>
                          <a:spcPts val="300"/>
                        </a:spcBef>
                        <a:spcAft>
                          <a:spcPts val="0"/>
                        </a:spcAft>
                      </a:pPr>
                      <a:r>
                        <a:rPr lang="en-US" sz="1800">
                          <a:effectLst/>
                          <a:latin typeface="Arial" panose="020B0604020202020204" pitchFamily="34" charset="0"/>
                          <a:cs typeface="Arial" panose="020B0604020202020204" pitchFamily="34" charset="0"/>
                        </a:rPr>
                        <a:t>Tên chức năng</a:t>
                      </a:r>
                      <a:endParaRPr lang="vi-VN" sz="1800">
                        <a:effectLst/>
                        <a:latin typeface="Arial" panose="020B0604020202020204" pitchFamily="34" charset="0"/>
                        <a:ea typeface="Times New Roman"/>
                        <a:cs typeface="Arial" panose="020B0604020202020204" pitchFamily="34" charset="0"/>
                      </a:endParaRPr>
                    </a:p>
                  </a:txBody>
                  <a:tcPr marL="65514" marR="65514" marT="0" marB="0"/>
                </a:tc>
                <a:tc>
                  <a:txBody>
                    <a:bodyPr/>
                    <a:lstStyle/>
                    <a:p>
                      <a:pPr algn="ctr">
                        <a:spcBef>
                          <a:spcPts val="300"/>
                        </a:spcBef>
                        <a:spcAft>
                          <a:spcPts val="0"/>
                        </a:spcAft>
                      </a:pPr>
                      <a:r>
                        <a:rPr lang="en-US" sz="1800">
                          <a:effectLst/>
                          <a:latin typeface="Arial" panose="020B0604020202020204" pitchFamily="34" charset="0"/>
                          <a:cs typeface="Arial" panose="020B0604020202020204" pitchFamily="34" charset="0"/>
                        </a:rPr>
                        <a:t>Mô tả</a:t>
                      </a:r>
                      <a:endParaRPr lang="vi-VN" sz="1800">
                        <a:effectLst/>
                        <a:latin typeface="Arial" panose="020B0604020202020204" pitchFamily="34" charset="0"/>
                        <a:ea typeface="Times New Roman"/>
                        <a:cs typeface="Arial" panose="020B0604020202020204" pitchFamily="34" charset="0"/>
                      </a:endParaRPr>
                    </a:p>
                  </a:txBody>
                  <a:tcPr marL="65514" marR="65514" marT="0" marB="0"/>
                </a:tc>
              </a:tr>
              <a:tr h="642211">
                <a:tc rowSpan="2">
                  <a:txBody>
                    <a:bodyPr/>
                    <a:lstStyle/>
                    <a:p>
                      <a:pPr marL="342900" lvl="0" indent="-342900" algn="just">
                        <a:spcBef>
                          <a:spcPts val="300"/>
                        </a:spcBef>
                        <a:spcAft>
                          <a:spcPts val="300"/>
                        </a:spcAft>
                        <a:buFont typeface="+mj-lt"/>
                        <a:buAutoNum type="arabicPeriod"/>
                        <a:tabLst>
                          <a:tab pos="514350" algn="l"/>
                        </a:tabLst>
                      </a:pPr>
                      <a:r>
                        <a:rPr lang="en-US" sz="1600">
                          <a:effectLst/>
                          <a:latin typeface="Arial" panose="020B0604020202020204" pitchFamily="34" charset="0"/>
                          <a:cs typeface="Arial" panose="020B0604020202020204" pitchFamily="34" charset="0"/>
                        </a:rPr>
                        <a:t> </a:t>
                      </a:r>
                      <a:endParaRPr lang="vi-VN" sz="1600">
                        <a:effectLst/>
                        <a:latin typeface="Arial" panose="020B0604020202020204" pitchFamily="34" charset="0"/>
                        <a:ea typeface="Times New Roman"/>
                        <a:cs typeface="Arial" panose="020B0604020202020204" pitchFamily="34" charset="0"/>
                      </a:endParaRPr>
                    </a:p>
                    <a:p>
                      <a:pPr marL="0" lvl="0" indent="0" algn="just">
                        <a:spcBef>
                          <a:spcPts val="300"/>
                        </a:spcBef>
                        <a:spcAft>
                          <a:spcPts val="300"/>
                        </a:spcAft>
                        <a:buFont typeface="+mj-lt"/>
                        <a:buNone/>
                        <a:tabLst>
                          <a:tab pos="514350" algn="l"/>
                        </a:tabLst>
                      </a:pPr>
                      <a:r>
                        <a:rPr lang="en-US" sz="1600">
                          <a:effectLst/>
                          <a:latin typeface="Arial" panose="020B0604020202020204" pitchFamily="34" charset="0"/>
                          <a:cs typeface="Arial" panose="020B0604020202020204" pitchFamily="34" charset="0"/>
                        </a:rPr>
                        <a:t> </a:t>
                      </a:r>
                      <a:endParaRPr lang="vi-VN" sz="1600">
                        <a:effectLst/>
                        <a:latin typeface="Arial" panose="020B0604020202020204" pitchFamily="34" charset="0"/>
                        <a:ea typeface="Times New Roman"/>
                        <a:cs typeface="Arial" panose="020B0604020202020204" pitchFamily="34" charset="0"/>
                      </a:endParaRPr>
                    </a:p>
                  </a:txBody>
                  <a:tcPr marL="65514" marR="65514" marT="0" marB="0"/>
                </a:tc>
                <a:tc rowSpan="2">
                  <a:txBody>
                    <a:bodyPr/>
                    <a:lstStyle/>
                    <a:p>
                      <a:pPr algn="l">
                        <a:spcBef>
                          <a:spcPts val="300"/>
                        </a:spcBef>
                        <a:spcAft>
                          <a:spcPts val="0"/>
                        </a:spcAft>
                      </a:pPr>
                      <a:r>
                        <a:rPr lang="en-US" sz="1600">
                          <a:effectLst/>
                          <a:latin typeface="Arial" panose="020B0604020202020204" pitchFamily="34" charset="0"/>
                          <a:cs typeface="Arial" panose="020B0604020202020204" pitchFamily="34" charset="0"/>
                        </a:rPr>
                        <a:t>Người dân</a:t>
                      </a:r>
                      <a:endParaRPr lang="vi-VN" sz="1600">
                        <a:effectLst/>
                        <a:latin typeface="Arial" panose="020B0604020202020204" pitchFamily="34" charset="0"/>
                        <a:ea typeface="Times New Roman"/>
                        <a:cs typeface="Arial" panose="020B0604020202020204" pitchFamily="34" charset="0"/>
                      </a:endParaRPr>
                    </a:p>
                  </a:txBody>
                  <a:tcPr marL="65514" marR="65514" marT="0" marB="0" anchor="ctr"/>
                </a:tc>
                <a:tc>
                  <a:txBody>
                    <a:bodyPr/>
                    <a:lstStyle/>
                    <a:p>
                      <a:pPr algn="just">
                        <a:spcBef>
                          <a:spcPts val="300"/>
                        </a:spcBef>
                        <a:spcAft>
                          <a:spcPts val="0"/>
                        </a:spcAft>
                      </a:pPr>
                      <a:r>
                        <a:rPr lang="en-US" sz="1600">
                          <a:effectLst/>
                          <a:latin typeface="Arial" panose="020B0604020202020204" pitchFamily="34" charset="0"/>
                          <a:cs typeface="Arial" panose="020B0604020202020204" pitchFamily="34" charset="0"/>
                        </a:rPr>
                        <a:t>Xác nhận bằng số biên nhận/số điện thoại</a:t>
                      </a:r>
                      <a:endParaRPr lang="vi-VN" sz="1600">
                        <a:effectLst/>
                        <a:latin typeface="Arial" panose="020B0604020202020204" pitchFamily="34" charset="0"/>
                        <a:ea typeface="Times New Roman"/>
                        <a:cs typeface="Arial" panose="020B0604020202020204" pitchFamily="34" charset="0"/>
                      </a:endParaRPr>
                    </a:p>
                  </a:txBody>
                  <a:tcPr marL="65514" marR="65514" marT="0" marB="0"/>
                </a:tc>
                <a:tc>
                  <a:txBody>
                    <a:bodyPr/>
                    <a:lstStyle/>
                    <a:p>
                      <a:pPr algn="just">
                        <a:spcBef>
                          <a:spcPts val="300"/>
                        </a:spcBef>
                        <a:spcAft>
                          <a:spcPts val="0"/>
                        </a:spcAft>
                      </a:pPr>
                      <a:r>
                        <a:rPr lang="en-US" sz="1600" b="0" err="1">
                          <a:effectLst/>
                          <a:latin typeface="Arial" panose="020B0604020202020204" pitchFamily="34" charset="0"/>
                          <a:cs typeface="Arial" panose="020B0604020202020204" pitchFamily="34" charset="0"/>
                        </a:rPr>
                        <a:t>Trước</a:t>
                      </a:r>
                      <a:r>
                        <a:rPr lang="en-US" sz="1600" b="0">
                          <a:effectLst/>
                          <a:latin typeface="Arial" panose="020B0604020202020204" pitchFamily="34" charset="0"/>
                          <a:cs typeface="Arial" panose="020B0604020202020204" pitchFamily="34" charset="0"/>
                        </a:rPr>
                        <a:t> </a:t>
                      </a:r>
                      <a:r>
                        <a:rPr lang="en-US" sz="1600" b="0" err="1">
                          <a:effectLst/>
                          <a:latin typeface="Arial" panose="020B0604020202020204" pitchFamily="34" charset="0"/>
                          <a:cs typeface="Arial" panose="020B0604020202020204" pitchFamily="34" charset="0"/>
                        </a:rPr>
                        <a:t>khi</a:t>
                      </a:r>
                      <a:r>
                        <a:rPr lang="en-US" sz="1600" b="0">
                          <a:effectLst/>
                          <a:latin typeface="Arial" panose="020B0604020202020204" pitchFamily="34" charset="0"/>
                          <a:cs typeface="Arial" panose="020B0604020202020204" pitchFamily="34" charset="0"/>
                        </a:rPr>
                        <a:t> </a:t>
                      </a:r>
                      <a:r>
                        <a:rPr lang="en-US" sz="1600" b="0" err="1">
                          <a:effectLst/>
                          <a:latin typeface="Arial" panose="020B0604020202020204" pitchFamily="34" charset="0"/>
                          <a:cs typeface="Arial" panose="020B0604020202020204" pitchFamily="34" charset="0"/>
                        </a:rPr>
                        <a:t>thực</a:t>
                      </a:r>
                      <a:r>
                        <a:rPr lang="en-US" sz="1600" b="0">
                          <a:effectLst/>
                          <a:latin typeface="Arial" panose="020B0604020202020204" pitchFamily="34" charset="0"/>
                          <a:cs typeface="Arial" panose="020B0604020202020204" pitchFamily="34" charset="0"/>
                        </a:rPr>
                        <a:t> </a:t>
                      </a:r>
                      <a:r>
                        <a:rPr lang="en-US" sz="1600" b="0" err="1">
                          <a:effectLst/>
                          <a:latin typeface="Arial" panose="020B0604020202020204" pitchFamily="34" charset="0"/>
                          <a:cs typeface="Arial" panose="020B0604020202020204" pitchFamily="34" charset="0"/>
                        </a:rPr>
                        <a:t>hiện</a:t>
                      </a:r>
                      <a:r>
                        <a:rPr lang="en-US" sz="1600" b="0">
                          <a:effectLst/>
                          <a:latin typeface="Arial" panose="020B0604020202020204" pitchFamily="34" charset="0"/>
                          <a:cs typeface="Arial" panose="020B0604020202020204" pitchFamily="34" charset="0"/>
                        </a:rPr>
                        <a:t> </a:t>
                      </a:r>
                      <a:r>
                        <a:rPr lang="en-US" sz="1600" b="0" err="1">
                          <a:effectLst/>
                          <a:latin typeface="Arial" panose="020B0604020202020204" pitchFamily="34" charset="0"/>
                          <a:cs typeface="Arial" panose="020B0604020202020204" pitchFamily="34" charset="0"/>
                        </a:rPr>
                        <a:t>đánh</a:t>
                      </a:r>
                      <a:r>
                        <a:rPr lang="en-US" sz="1600" b="0">
                          <a:effectLst/>
                          <a:latin typeface="Arial" panose="020B0604020202020204" pitchFamily="34" charset="0"/>
                          <a:cs typeface="Arial" panose="020B0604020202020204" pitchFamily="34" charset="0"/>
                        </a:rPr>
                        <a:t> </a:t>
                      </a:r>
                      <a:r>
                        <a:rPr lang="en-US" sz="1600" b="0" err="1">
                          <a:effectLst/>
                          <a:latin typeface="Arial" panose="020B0604020202020204" pitchFamily="34" charset="0"/>
                          <a:cs typeface="Arial" panose="020B0604020202020204" pitchFamily="34" charset="0"/>
                        </a:rPr>
                        <a:t>giá</a:t>
                      </a:r>
                      <a:r>
                        <a:rPr lang="en-US" sz="1600" b="0">
                          <a:effectLst/>
                          <a:latin typeface="Arial" panose="020B0604020202020204" pitchFamily="34" charset="0"/>
                          <a:cs typeface="Arial" panose="020B0604020202020204" pitchFamily="34" charset="0"/>
                        </a:rPr>
                        <a:t>, </a:t>
                      </a:r>
                      <a:r>
                        <a:rPr lang="en-US" sz="1600" b="0" err="1">
                          <a:effectLst/>
                          <a:latin typeface="Arial" panose="020B0604020202020204" pitchFamily="34" charset="0"/>
                          <a:cs typeface="Arial" panose="020B0604020202020204" pitchFamily="34" charset="0"/>
                        </a:rPr>
                        <a:t>Công</a:t>
                      </a:r>
                      <a:r>
                        <a:rPr lang="en-US" sz="1600" b="0">
                          <a:effectLst/>
                          <a:latin typeface="Arial" panose="020B0604020202020204" pitchFamily="34" charset="0"/>
                          <a:cs typeface="Arial" panose="020B0604020202020204" pitchFamily="34" charset="0"/>
                        </a:rPr>
                        <a:t> </a:t>
                      </a:r>
                      <a:r>
                        <a:rPr lang="en-US" sz="1600" b="0" err="1">
                          <a:effectLst/>
                          <a:latin typeface="Arial" panose="020B0604020202020204" pitchFamily="34" charset="0"/>
                          <a:cs typeface="Arial" panose="020B0604020202020204" pitchFamily="34" charset="0"/>
                        </a:rPr>
                        <a:t>dân</a:t>
                      </a:r>
                      <a:r>
                        <a:rPr lang="en-US" sz="1600" b="0">
                          <a:effectLst/>
                          <a:latin typeface="Arial" panose="020B0604020202020204" pitchFamily="34" charset="0"/>
                          <a:cs typeface="Arial" panose="020B0604020202020204" pitchFamily="34" charset="0"/>
                        </a:rPr>
                        <a:t> </a:t>
                      </a:r>
                      <a:r>
                        <a:rPr lang="en-US" sz="1600" b="0" err="1">
                          <a:effectLst/>
                          <a:latin typeface="Arial" panose="020B0604020202020204" pitchFamily="34" charset="0"/>
                          <a:cs typeface="Arial" panose="020B0604020202020204" pitchFamily="34" charset="0"/>
                        </a:rPr>
                        <a:t>nhập</a:t>
                      </a:r>
                      <a:r>
                        <a:rPr lang="en-US" sz="1600" b="0">
                          <a:effectLst/>
                          <a:latin typeface="Arial" panose="020B0604020202020204" pitchFamily="34" charset="0"/>
                          <a:cs typeface="Arial" panose="020B0604020202020204" pitchFamily="34" charset="0"/>
                        </a:rPr>
                        <a:t> </a:t>
                      </a:r>
                      <a:r>
                        <a:rPr lang="en-US" sz="1600" b="0" err="1">
                          <a:effectLst/>
                          <a:latin typeface="Arial" panose="020B0604020202020204" pitchFamily="34" charset="0"/>
                          <a:cs typeface="Arial" panose="020B0604020202020204" pitchFamily="34" charset="0"/>
                        </a:rPr>
                        <a:t>vào</a:t>
                      </a:r>
                      <a:r>
                        <a:rPr lang="en-US" sz="1600" b="0">
                          <a:effectLst/>
                          <a:latin typeface="Arial" panose="020B0604020202020204" pitchFamily="34" charset="0"/>
                          <a:cs typeface="Arial" panose="020B0604020202020204" pitchFamily="34" charset="0"/>
                        </a:rPr>
                        <a:t> </a:t>
                      </a:r>
                      <a:r>
                        <a:rPr lang="en-US" sz="1600" b="0" err="1">
                          <a:effectLst/>
                          <a:latin typeface="Arial" panose="020B0604020202020204" pitchFamily="34" charset="0"/>
                          <a:cs typeface="Arial" panose="020B0604020202020204" pitchFamily="34" charset="0"/>
                        </a:rPr>
                        <a:t>số</a:t>
                      </a:r>
                      <a:r>
                        <a:rPr lang="en-US" sz="1600" b="0">
                          <a:effectLst/>
                          <a:latin typeface="Arial" panose="020B0604020202020204" pitchFamily="34" charset="0"/>
                          <a:cs typeface="Arial" panose="020B0604020202020204" pitchFamily="34" charset="0"/>
                        </a:rPr>
                        <a:t> </a:t>
                      </a:r>
                      <a:r>
                        <a:rPr lang="en-US" sz="1600" b="0" err="1">
                          <a:effectLst/>
                          <a:latin typeface="Arial" panose="020B0604020202020204" pitchFamily="34" charset="0"/>
                          <a:cs typeface="Arial" panose="020B0604020202020204" pitchFamily="34" charset="0"/>
                        </a:rPr>
                        <a:t>biên</a:t>
                      </a:r>
                      <a:r>
                        <a:rPr lang="en-US" sz="1600" b="0">
                          <a:effectLst/>
                          <a:latin typeface="Arial" panose="020B0604020202020204" pitchFamily="34" charset="0"/>
                          <a:cs typeface="Arial" panose="020B0604020202020204" pitchFamily="34" charset="0"/>
                        </a:rPr>
                        <a:t> </a:t>
                      </a:r>
                      <a:r>
                        <a:rPr lang="en-US" sz="1600" b="0" err="1">
                          <a:effectLst/>
                          <a:latin typeface="Arial" panose="020B0604020202020204" pitchFamily="34" charset="0"/>
                          <a:cs typeface="Arial" panose="020B0604020202020204" pitchFamily="34" charset="0"/>
                        </a:rPr>
                        <a:t>nhận</a:t>
                      </a:r>
                      <a:r>
                        <a:rPr lang="en-US" sz="1600" b="0">
                          <a:effectLst/>
                          <a:latin typeface="Arial" panose="020B0604020202020204" pitchFamily="34" charset="0"/>
                          <a:cs typeface="Arial" panose="020B0604020202020204" pitchFamily="34" charset="0"/>
                        </a:rPr>
                        <a:t> </a:t>
                      </a:r>
                      <a:r>
                        <a:rPr lang="en-US" sz="1600" b="0" err="1">
                          <a:effectLst/>
                          <a:latin typeface="Arial" panose="020B0604020202020204" pitchFamily="34" charset="0"/>
                          <a:cs typeface="Arial" panose="020B0604020202020204" pitchFamily="34" charset="0"/>
                        </a:rPr>
                        <a:t>hoặc</a:t>
                      </a:r>
                      <a:r>
                        <a:rPr lang="en-US" sz="1600" b="0">
                          <a:effectLst/>
                          <a:latin typeface="Arial" panose="020B0604020202020204" pitchFamily="34" charset="0"/>
                          <a:cs typeface="Arial" panose="020B0604020202020204" pitchFamily="34" charset="0"/>
                        </a:rPr>
                        <a:t> </a:t>
                      </a:r>
                      <a:r>
                        <a:rPr lang="en-US" sz="1600" b="0" err="1">
                          <a:effectLst/>
                          <a:latin typeface="Arial" panose="020B0604020202020204" pitchFamily="34" charset="0"/>
                          <a:cs typeface="Arial" panose="020B0604020202020204" pitchFamily="34" charset="0"/>
                        </a:rPr>
                        <a:t>sô</a:t>
                      </a:r>
                      <a:r>
                        <a:rPr lang="en-US" sz="1600" b="0">
                          <a:effectLst/>
                          <a:latin typeface="Arial" panose="020B0604020202020204" pitchFamily="34" charset="0"/>
                          <a:cs typeface="Arial" panose="020B0604020202020204" pitchFamily="34" charset="0"/>
                        </a:rPr>
                        <a:t>́ </a:t>
                      </a:r>
                      <a:r>
                        <a:rPr lang="en-US" sz="1600" b="0" err="1">
                          <a:effectLst/>
                          <a:latin typeface="Arial" panose="020B0604020202020204" pitchFamily="34" charset="0"/>
                          <a:cs typeface="Arial" panose="020B0604020202020204" pitchFamily="34" charset="0"/>
                        </a:rPr>
                        <a:t>điện</a:t>
                      </a:r>
                      <a:r>
                        <a:rPr lang="en-US" sz="1600" b="0">
                          <a:effectLst/>
                          <a:latin typeface="Arial" panose="020B0604020202020204" pitchFamily="34" charset="0"/>
                          <a:cs typeface="Arial" panose="020B0604020202020204" pitchFamily="34" charset="0"/>
                        </a:rPr>
                        <a:t> </a:t>
                      </a:r>
                      <a:r>
                        <a:rPr lang="en-US" sz="1600" b="0" err="1">
                          <a:effectLst/>
                          <a:latin typeface="Arial" panose="020B0604020202020204" pitchFamily="34" charset="0"/>
                          <a:cs typeface="Arial" panose="020B0604020202020204" pitchFamily="34" charset="0"/>
                        </a:rPr>
                        <a:t>thoại</a:t>
                      </a:r>
                      <a:r>
                        <a:rPr lang="en-US" sz="1600" b="0">
                          <a:effectLst/>
                          <a:latin typeface="Arial" panose="020B0604020202020204" pitchFamily="34" charset="0"/>
                          <a:cs typeface="Arial" panose="020B0604020202020204" pitchFamily="34" charset="0"/>
                        </a:rPr>
                        <a:t> </a:t>
                      </a:r>
                      <a:r>
                        <a:rPr lang="en-US" sz="1600" b="0" err="1">
                          <a:effectLst/>
                          <a:latin typeface="Arial" panose="020B0604020202020204" pitchFamily="34" charset="0"/>
                          <a:cs typeface="Arial" panose="020B0604020202020204" pitchFamily="34" charset="0"/>
                        </a:rPr>
                        <a:t>trong</a:t>
                      </a:r>
                      <a:r>
                        <a:rPr lang="en-US" sz="1600" b="0">
                          <a:effectLst/>
                          <a:latin typeface="Arial" panose="020B0604020202020204" pitchFamily="34" charset="0"/>
                          <a:cs typeface="Arial" panose="020B0604020202020204" pitchFamily="34" charset="0"/>
                        </a:rPr>
                        <a:t> </a:t>
                      </a:r>
                      <a:r>
                        <a:rPr lang="en-US" sz="1600" b="0" err="1">
                          <a:effectLst/>
                          <a:latin typeface="Arial" panose="020B0604020202020204" pitchFamily="34" charset="0"/>
                          <a:cs typeface="Arial" panose="020B0604020202020204" pitchFamily="34" charset="0"/>
                        </a:rPr>
                        <a:t>biên</a:t>
                      </a:r>
                      <a:r>
                        <a:rPr lang="en-US" sz="1600" b="0">
                          <a:effectLst/>
                          <a:latin typeface="Arial" panose="020B0604020202020204" pitchFamily="34" charset="0"/>
                          <a:cs typeface="Arial" panose="020B0604020202020204" pitchFamily="34" charset="0"/>
                        </a:rPr>
                        <a:t> </a:t>
                      </a:r>
                      <a:r>
                        <a:rPr lang="en-US" sz="1600" b="0" err="1" smtClean="0">
                          <a:effectLst/>
                          <a:latin typeface="Arial" panose="020B0604020202020204" pitchFamily="34" charset="0"/>
                          <a:cs typeface="Arial" panose="020B0604020202020204" pitchFamily="34" charset="0"/>
                        </a:rPr>
                        <a:t>nhận</a:t>
                      </a:r>
                      <a:r>
                        <a:rPr lang="en-US" sz="1600" b="0" smtClean="0">
                          <a:effectLst/>
                          <a:latin typeface="Arial" panose="020B0604020202020204" pitchFamily="34" charset="0"/>
                          <a:cs typeface="Arial" panose="020B0604020202020204" pitchFamily="34" charset="0"/>
                        </a:rPr>
                        <a:t> </a:t>
                      </a:r>
                      <a:r>
                        <a:rPr lang="en-US" sz="1600" b="0" err="1" smtClean="0">
                          <a:effectLst/>
                          <a:latin typeface="Arial" panose="020B0604020202020204" pitchFamily="34" charset="0"/>
                          <a:cs typeface="Arial" panose="020B0604020202020204" pitchFamily="34" charset="0"/>
                        </a:rPr>
                        <a:t>hồ</a:t>
                      </a:r>
                      <a:r>
                        <a:rPr lang="en-US" sz="1600" b="0" baseline="0" smtClean="0">
                          <a:effectLst/>
                          <a:latin typeface="Arial" panose="020B0604020202020204" pitchFamily="34" charset="0"/>
                          <a:cs typeface="Arial" panose="020B0604020202020204" pitchFamily="34" charset="0"/>
                        </a:rPr>
                        <a:t> </a:t>
                      </a:r>
                      <a:r>
                        <a:rPr lang="en-US" sz="1600" b="0" baseline="0" err="1" smtClean="0">
                          <a:effectLst/>
                          <a:latin typeface="Arial" panose="020B0604020202020204" pitchFamily="34" charset="0"/>
                          <a:cs typeface="Arial" panose="020B0604020202020204" pitchFamily="34" charset="0"/>
                        </a:rPr>
                        <a:t>sơ</a:t>
                      </a:r>
                      <a:endParaRPr lang="vi-VN" sz="1600" b="0">
                        <a:effectLst/>
                        <a:latin typeface="Arial" panose="020B0604020202020204" pitchFamily="34" charset="0"/>
                        <a:ea typeface="Times New Roman"/>
                        <a:cs typeface="Arial" panose="020B0604020202020204" pitchFamily="34" charset="0"/>
                      </a:endParaRPr>
                    </a:p>
                  </a:txBody>
                  <a:tcPr marL="65514" marR="65514" marT="0" marB="0"/>
                </a:tc>
              </a:tr>
              <a:tr h="428140">
                <a:tc vMerge="1">
                  <a:txBody>
                    <a:bodyPr/>
                    <a:lstStyle/>
                    <a:p>
                      <a:pPr marL="0" lvl="0" indent="0" algn="just">
                        <a:spcBef>
                          <a:spcPts val="300"/>
                        </a:spcBef>
                        <a:spcAft>
                          <a:spcPts val="300"/>
                        </a:spcAft>
                        <a:buFont typeface="+mj-lt"/>
                        <a:buNone/>
                        <a:tabLst>
                          <a:tab pos="514350" algn="l"/>
                        </a:tabLst>
                      </a:pPr>
                      <a:endParaRPr lang="vi-VN" sz="1600">
                        <a:effectLst/>
                        <a:latin typeface="Arial" panose="020B0604020202020204" pitchFamily="34" charset="0"/>
                        <a:ea typeface="Times New Roman"/>
                        <a:cs typeface="Arial" panose="020B0604020202020204" pitchFamily="34" charset="0"/>
                      </a:endParaRPr>
                    </a:p>
                  </a:txBody>
                  <a:tcPr marL="65514" marR="65514" marT="0" marB="0"/>
                </a:tc>
                <a:tc vMerge="1">
                  <a:txBody>
                    <a:bodyPr/>
                    <a:lstStyle/>
                    <a:p>
                      <a:endParaRPr lang="vi-VN"/>
                    </a:p>
                  </a:txBody>
                  <a:tcPr/>
                </a:tc>
                <a:tc>
                  <a:txBody>
                    <a:bodyPr/>
                    <a:lstStyle/>
                    <a:p>
                      <a:pPr algn="just">
                        <a:spcBef>
                          <a:spcPts val="300"/>
                        </a:spcBef>
                        <a:spcAft>
                          <a:spcPts val="0"/>
                        </a:spcAft>
                      </a:pPr>
                      <a:r>
                        <a:rPr lang="en-US" sz="1600">
                          <a:effectLst/>
                          <a:latin typeface="Arial" panose="020B0604020202020204" pitchFamily="34" charset="0"/>
                          <a:cs typeface="Arial" panose="020B0604020202020204" pitchFamily="34" charset="0"/>
                        </a:rPr>
                        <a:t>Đánh giá cán bộ</a:t>
                      </a:r>
                      <a:endParaRPr lang="vi-VN" sz="1600">
                        <a:effectLst/>
                        <a:latin typeface="Arial" panose="020B0604020202020204" pitchFamily="34" charset="0"/>
                        <a:ea typeface="Times New Roman"/>
                        <a:cs typeface="Arial" panose="020B0604020202020204" pitchFamily="34" charset="0"/>
                      </a:endParaRPr>
                    </a:p>
                  </a:txBody>
                  <a:tcPr marL="65514" marR="65514" marT="0" marB="0"/>
                </a:tc>
                <a:tc>
                  <a:txBody>
                    <a:bodyPr/>
                    <a:lstStyle/>
                    <a:p>
                      <a:pPr algn="just">
                        <a:spcBef>
                          <a:spcPts val="300"/>
                        </a:spcBef>
                        <a:spcAft>
                          <a:spcPts val="0"/>
                        </a:spcAft>
                      </a:pPr>
                      <a:r>
                        <a:rPr lang="en-US" sz="1600" b="0">
                          <a:effectLst/>
                          <a:latin typeface="Arial" panose="020B0604020202020204" pitchFamily="34" charset="0"/>
                          <a:cs typeface="Arial" panose="020B0604020202020204" pitchFamily="34" charset="0"/>
                        </a:rPr>
                        <a:t>Công dân thực hiện việc đánh giá theo các tiêu chí đã được thiết lập</a:t>
                      </a:r>
                      <a:endParaRPr lang="vi-VN" sz="1600" b="0">
                        <a:effectLst/>
                        <a:latin typeface="Arial" panose="020B0604020202020204" pitchFamily="34" charset="0"/>
                        <a:ea typeface="Times New Roman"/>
                        <a:cs typeface="Arial" panose="020B0604020202020204" pitchFamily="34" charset="0"/>
                      </a:endParaRPr>
                    </a:p>
                  </a:txBody>
                  <a:tcPr marL="65514" marR="65514" marT="0" marB="0"/>
                </a:tc>
              </a:tr>
              <a:tr h="620553">
                <a:tc>
                  <a:txBody>
                    <a:bodyPr/>
                    <a:lstStyle/>
                    <a:p>
                      <a:pPr marL="0" lvl="0" indent="0" algn="just">
                        <a:spcBef>
                          <a:spcPts val="300"/>
                        </a:spcBef>
                        <a:spcAft>
                          <a:spcPts val="300"/>
                        </a:spcAft>
                        <a:buFont typeface="+mj-lt"/>
                        <a:buNone/>
                        <a:tabLst>
                          <a:tab pos="514350" algn="l"/>
                        </a:tabLst>
                      </a:pPr>
                      <a:r>
                        <a:rPr lang="pt-BR" sz="1600" smtClean="0">
                          <a:effectLst/>
                          <a:latin typeface="Arial" panose="020B0604020202020204" pitchFamily="34" charset="0"/>
                          <a:cs typeface="Arial" panose="020B0604020202020204" pitchFamily="34" charset="0"/>
                        </a:rPr>
                        <a:t>2</a:t>
                      </a:r>
                      <a:r>
                        <a:rPr lang="pt-BR" sz="1600">
                          <a:effectLst/>
                          <a:latin typeface="Arial" panose="020B0604020202020204" pitchFamily="34" charset="0"/>
                          <a:cs typeface="Arial" panose="020B0604020202020204" pitchFamily="34" charset="0"/>
                        </a:rPr>
                        <a:t> </a:t>
                      </a:r>
                      <a:endParaRPr lang="vi-VN" sz="1600">
                        <a:effectLst/>
                        <a:latin typeface="Arial" panose="020B0604020202020204" pitchFamily="34" charset="0"/>
                        <a:ea typeface="Times New Roman"/>
                        <a:cs typeface="Arial" panose="020B0604020202020204" pitchFamily="34" charset="0"/>
                      </a:endParaRPr>
                    </a:p>
                  </a:txBody>
                  <a:tcPr marL="65514" marR="65514" marT="0" marB="0"/>
                </a:tc>
                <a:tc>
                  <a:txBody>
                    <a:bodyPr/>
                    <a:lstStyle/>
                    <a:p>
                      <a:pPr algn="just">
                        <a:spcBef>
                          <a:spcPts val="300"/>
                        </a:spcBef>
                        <a:spcAft>
                          <a:spcPts val="0"/>
                        </a:spcAft>
                      </a:pPr>
                      <a:r>
                        <a:rPr lang="pt-BR" sz="1600">
                          <a:effectLst/>
                          <a:latin typeface="Arial" panose="020B0604020202020204" pitchFamily="34" charset="0"/>
                          <a:cs typeface="Arial" panose="020B0604020202020204" pitchFamily="34" charset="0"/>
                        </a:rPr>
                        <a:t>Lãnh đạo đơn vị</a:t>
                      </a:r>
                      <a:endParaRPr lang="vi-VN" sz="1600">
                        <a:effectLst/>
                        <a:latin typeface="Arial" panose="020B0604020202020204" pitchFamily="34" charset="0"/>
                        <a:ea typeface="Times New Roman"/>
                        <a:cs typeface="Arial" panose="020B0604020202020204" pitchFamily="34" charset="0"/>
                      </a:endParaRPr>
                    </a:p>
                  </a:txBody>
                  <a:tcPr marL="65514" marR="65514" marT="0" marB="0"/>
                </a:tc>
                <a:tc>
                  <a:txBody>
                    <a:bodyPr/>
                    <a:lstStyle/>
                    <a:p>
                      <a:pPr algn="just">
                        <a:spcBef>
                          <a:spcPts val="300"/>
                        </a:spcBef>
                        <a:spcAft>
                          <a:spcPts val="0"/>
                        </a:spcAft>
                      </a:pPr>
                      <a:r>
                        <a:rPr lang="pt-BR" sz="1600">
                          <a:effectLst/>
                          <a:latin typeface="Arial" panose="020B0604020202020204" pitchFamily="34" charset="0"/>
                          <a:cs typeface="Arial" panose="020B0604020202020204" pitchFamily="34" charset="0"/>
                        </a:rPr>
                        <a:t>Xem kết quả đánh giá</a:t>
                      </a:r>
                      <a:endParaRPr lang="vi-VN" sz="1600">
                        <a:effectLst/>
                        <a:latin typeface="Arial" panose="020B0604020202020204" pitchFamily="34" charset="0"/>
                        <a:ea typeface="Times New Roman"/>
                        <a:cs typeface="Arial" panose="020B0604020202020204" pitchFamily="34" charset="0"/>
                      </a:endParaRPr>
                    </a:p>
                  </a:txBody>
                  <a:tcPr marL="65514" marR="65514" marT="0" marB="0"/>
                </a:tc>
                <a:tc>
                  <a:txBody>
                    <a:bodyPr/>
                    <a:lstStyle/>
                    <a:p>
                      <a:pPr algn="just">
                        <a:spcBef>
                          <a:spcPts val="300"/>
                        </a:spcBef>
                        <a:spcAft>
                          <a:spcPts val="0"/>
                        </a:spcAft>
                      </a:pPr>
                      <a:r>
                        <a:rPr lang="pt-BR" sz="1600" b="0">
                          <a:effectLst/>
                          <a:latin typeface="Arial" panose="020B0604020202020204" pitchFamily="34" charset="0"/>
                          <a:cs typeface="Arial" panose="020B0604020202020204" pitchFamily="34" charset="0"/>
                        </a:rPr>
                        <a:t>Xem </a:t>
                      </a:r>
                      <a:r>
                        <a:rPr lang="pt-BR" sz="1600" b="0" smtClean="0">
                          <a:effectLst/>
                          <a:latin typeface="Arial" panose="020B0604020202020204" pitchFamily="34" charset="0"/>
                          <a:cs typeface="Arial" panose="020B0604020202020204" pitchFamily="34" charset="0"/>
                        </a:rPr>
                        <a:t>số</a:t>
                      </a:r>
                      <a:r>
                        <a:rPr lang="pt-BR" sz="1600" b="0" baseline="0" smtClean="0">
                          <a:effectLst/>
                          <a:latin typeface="Arial" panose="020B0604020202020204" pitchFamily="34" charset="0"/>
                          <a:cs typeface="Arial" panose="020B0604020202020204" pitchFamily="34" charset="0"/>
                        </a:rPr>
                        <a:t> liệu </a:t>
                      </a:r>
                      <a:r>
                        <a:rPr lang="de-DE" sz="1600" b="0" smtClean="0">
                          <a:latin typeface="Arial" panose="020B0604020202020204" pitchFamily="34" charset="0"/>
                          <a:cs typeface="Arial" panose="020B0604020202020204" pitchFamily="34" charset="0"/>
                        </a:rPr>
                        <a:t>phân tích kết quả đánh giá của người dân</a:t>
                      </a:r>
                      <a:r>
                        <a:rPr lang="de-DE" sz="1600" smtClean="0">
                          <a:latin typeface="Arial" panose="020B0604020202020204" pitchFamily="34" charset="0"/>
                          <a:cs typeface="Arial" panose="020B0604020202020204" pitchFamily="34" charset="0"/>
                        </a:rPr>
                        <a:t> </a:t>
                      </a:r>
                      <a:r>
                        <a:rPr lang="pt-BR" sz="1600" b="0" smtClean="0">
                          <a:effectLst/>
                          <a:latin typeface="Arial" panose="020B0604020202020204" pitchFamily="34" charset="0"/>
                          <a:cs typeface="Arial" panose="020B0604020202020204" pitchFamily="34" charset="0"/>
                        </a:rPr>
                        <a:t>  </a:t>
                      </a:r>
                      <a:r>
                        <a:rPr lang="pt-BR" sz="1600" b="0">
                          <a:effectLst/>
                          <a:latin typeface="Arial" panose="020B0604020202020204" pitchFamily="34" charset="0"/>
                          <a:cs typeface="Arial" panose="020B0604020202020204" pitchFamily="34" charset="0"/>
                        </a:rPr>
                        <a:t>theo từng cán bộ, từng bộ phận và toàn đơn vị</a:t>
                      </a:r>
                      <a:endParaRPr lang="vi-VN" sz="1600" b="0">
                        <a:effectLst/>
                        <a:latin typeface="Arial" panose="020B0604020202020204" pitchFamily="34" charset="0"/>
                        <a:ea typeface="Times New Roman"/>
                        <a:cs typeface="Arial" panose="020B0604020202020204" pitchFamily="34" charset="0"/>
                      </a:endParaRPr>
                    </a:p>
                  </a:txBody>
                  <a:tcPr marL="65514" marR="65514" marT="0" marB="0"/>
                </a:tc>
              </a:tr>
              <a:tr h="642211">
                <a:tc>
                  <a:txBody>
                    <a:bodyPr/>
                    <a:lstStyle/>
                    <a:p>
                      <a:pPr marL="0" lvl="0" indent="0" algn="just">
                        <a:spcBef>
                          <a:spcPts val="300"/>
                        </a:spcBef>
                        <a:spcAft>
                          <a:spcPts val="300"/>
                        </a:spcAft>
                        <a:buFont typeface="+mj-lt"/>
                        <a:buNone/>
                        <a:tabLst>
                          <a:tab pos="514350" algn="l"/>
                        </a:tabLst>
                      </a:pPr>
                      <a:r>
                        <a:rPr lang="pt-BR" sz="1600" smtClean="0">
                          <a:effectLst/>
                          <a:latin typeface="Arial" panose="020B0604020202020204" pitchFamily="34" charset="0"/>
                          <a:cs typeface="Arial" panose="020B0604020202020204" pitchFamily="34" charset="0"/>
                        </a:rPr>
                        <a:t>3</a:t>
                      </a:r>
                      <a:r>
                        <a:rPr lang="pt-BR" sz="1600">
                          <a:effectLst/>
                          <a:latin typeface="Arial" panose="020B0604020202020204" pitchFamily="34" charset="0"/>
                          <a:cs typeface="Arial" panose="020B0604020202020204" pitchFamily="34" charset="0"/>
                        </a:rPr>
                        <a:t> </a:t>
                      </a:r>
                      <a:endParaRPr lang="vi-VN" sz="1600">
                        <a:effectLst/>
                        <a:latin typeface="Arial" panose="020B0604020202020204" pitchFamily="34" charset="0"/>
                        <a:ea typeface="Times New Roman"/>
                        <a:cs typeface="Arial" panose="020B0604020202020204" pitchFamily="34" charset="0"/>
                      </a:endParaRPr>
                    </a:p>
                  </a:txBody>
                  <a:tcPr marL="65514" marR="65514" marT="0" marB="0"/>
                </a:tc>
                <a:tc>
                  <a:txBody>
                    <a:bodyPr/>
                    <a:lstStyle/>
                    <a:p>
                      <a:pPr algn="just">
                        <a:spcBef>
                          <a:spcPts val="300"/>
                        </a:spcBef>
                        <a:spcAft>
                          <a:spcPts val="0"/>
                        </a:spcAft>
                      </a:pPr>
                      <a:r>
                        <a:rPr lang="pt-BR" sz="1600">
                          <a:effectLst/>
                          <a:latin typeface="Arial" panose="020B0604020202020204" pitchFamily="34" charset="0"/>
                          <a:cs typeface="Arial" panose="020B0604020202020204" pitchFamily="34" charset="0"/>
                        </a:rPr>
                        <a:t>Lãnh đạo thành phố</a:t>
                      </a:r>
                      <a:endParaRPr lang="vi-VN" sz="1600">
                        <a:effectLst/>
                        <a:latin typeface="Arial" panose="020B0604020202020204" pitchFamily="34" charset="0"/>
                        <a:ea typeface="Times New Roman"/>
                        <a:cs typeface="Arial" panose="020B0604020202020204" pitchFamily="34" charset="0"/>
                      </a:endParaRPr>
                    </a:p>
                  </a:txBody>
                  <a:tcPr marL="65514" marR="65514" marT="0" marB="0">
                    <a:noFill/>
                  </a:tcPr>
                </a:tc>
                <a:tc>
                  <a:txBody>
                    <a:bodyPr/>
                    <a:lstStyle/>
                    <a:p>
                      <a:pPr algn="just">
                        <a:spcBef>
                          <a:spcPts val="300"/>
                        </a:spcBef>
                        <a:spcAft>
                          <a:spcPts val="0"/>
                        </a:spcAft>
                      </a:pPr>
                      <a:r>
                        <a:rPr lang="pt-BR" sz="1600">
                          <a:effectLst/>
                          <a:latin typeface="Arial" panose="020B0604020202020204" pitchFamily="34" charset="0"/>
                          <a:cs typeface="Arial" panose="020B0604020202020204" pitchFamily="34" charset="0"/>
                        </a:rPr>
                        <a:t>Xem kết quả đánh giá</a:t>
                      </a:r>
                      <a:endParaRPr lang="vi-VN" sz="1600">
                        <a:effectLst/>
                        <a:latin typeface="Arial" panose="020B0604020202020204" pitchFamily="34" charset="0"/>
                        <a:ea typeface="Times New Roman"/>
                        <a:cs typeface="Arial" panose="020B0604020202020204" pitchFamily="34" charset="0"/>
                      </a:endParaRPr>
                    </a:p>
                  </a:txBody>
                  <a:tcPr marL="65514" marR="65514" marT="0" marB="0"/>
                </a:tc>
                <a:tc>
                  <a:txBody>
                    <a:bodyPr/>
                    <a:lstStyle/>
                    <a:p>
                      <a:pPr algn="just">
                        <a:spcBef>
                          <a:spcPts val="300"/>
                        </a:spcBef>
                        <a:spcAft>
                          <a:spcPts val="0"/>
                        </a:spcAft>
                      </a:pPr>
                      <a:r>
                        <a:rPr lang="pt-BR" sz="1600" b="0" smtClean="0">
                          <a:effectLst/>
                          <a:latin typeface="Arial" panose="020B0604020202020204" pitchFamily="34" charset="0"/>
                          <a:cs typeface="Arial" panose="020B0604020202020204" pitchFamily="34" charset="0"/>
                        </a:rPr>
                        <a:t>Xem số</a:t>
                      </a:r>
                      <a:r>
                        <a:rPr lang="pt-BR" sz="1600" b="0" baseline="0" smtClean="0">
                          <a:effectLst/>
                          <a:latin typeface="Arial" panose="020B0604020202020204" pitchFamily="34" charset="0"/>
                          <a:cs typeface="Arial" panose="020B0604020202020204" pitchFamily="34" charset="0"/>
                        </a:rPr>
                        <a:t> liệu </a:t>
                      </a:r>
                      <a:r>
                        <a:rPr lang="de-DE" sz="1600" b="0" smtClean="0">
                          <a:latin typeface="Arial" panose="020B0604020202020204" pitchFamily="34" charset="0"/>
                          <a:cs typeface="Arial" panose="020B0604020202020204" pitchFamily="34" charset="0"/>
                        </a:rPr>
                        <a:t>phân tích kết quả đánh giá của người dân</a:t>
                      </a:r>
                      <a:r>
                        <a:rPr lang="pt-BR" sz="1600" b="0" smtClean="0">
                          <a:effectLst/>
                          <a:latin typeface="Arial" panose="020B0604020202020204" pitchFamily="34" charset="0"/>
                          <a:cs typeface="Arial" panose="020B0604020202020204" pitchFamily="34" charset="0"/>
                        </a:rPr>
                        <a:t> </a:t>
                      </a:r>
                      <a:r>
                        <a:rPr lang="pt-BR" sz="1600" b="0">
                          <a:effectLst/>
                          <a:latin typeface="Arial" panose="020B0604020202020204" pitchFamily="34" charset="0"/>
                          <a:cs typeface="Arial" panose="020B0604020202020204" pitchFamily="34" charset="0"/>
                        </a:rPr>
                        <a:t>theo từng cán bộ, từng bộ phận của từng đơn vị và toàn thành phố</a:t>
                      </a:r>
                      <a:endParaRPr lang="vi-VN" sz="1600" b="0">
                        <a:effectLst/>
                        <a:latin typeface="Arial" panose="020B0604020202020204" pitchFamily="34" charset="0"/>
                        <a:ea typeface="Times New Roman"/>
                        <a:cs typeface="Arial" panose="020B0604020202020204" pitchFamily="34" charset="0"/>
                      </a:endParaRPr>
                    </a:p>
                  </a:txBody>
                  <a:tcPr marL="65514" marR="65514" marT="0" marB="0"/>
                </a:tc>
              </a:tr>
              <a:tr h="428140">
                <a:tc>
                  <a:txBody>
                    <a:bodyPr/>
                    <a:lstStyle/>
                    <a:p>
                      <a:pPr marL="0" lvl="0" indent="0" algn="just">
                        <a:spcBef>
                          <a:spcPts val="300"/>
                        </a:spcBef>
                        <a:spcAft>
                          <a:spcPts val="300"/>
                        </a:spcAft>
                        <a:buFont typeface="+mj-lt"/>
                        <a:buNone/>
                        <a:tabLst>
                          <a:tab pos="514350" algn="l"/>
                        </a:tabLst>
                      </a:pPr>
                      <a:r>
                        <a:rPr lang="pt-BR" sz="1600" smtClean="0">
                          <a:effectLst/>
                          <a:latin typeface="Arial" panose="020B0604020202020204" pitchFamily="34" charset="0"/>
                          <a:cs typeface="Arial" panose="020B0604020202020204" pitchFamily="34" charset="0"/>
                        </a:rPr>
                        <a:t>4</a:t>
                      </a:r>
                      <a:r>
                        <a:rPr lang="pt-BR" sz="1600">
                          <a:effectLst/>
                          <a:latin typeface="Arial" panose="020B0604020202020204" pitchFamily="34" charset="0"/>
                          <a:cs typeface="Arial" panose="020B0604020202020204" pitchFamily="34" charset="0"/>
                        </a:rPr>
                        <a:t> </a:t>
                      </a:r>
                      <a:endParaRPr lang="vi-VN" sz="1600">
                        <a:effectLst/>
                        <a:latin typeface="Arial" panose="020B0604020202020204" pitchFamily="34" charset="0"/>
                        <a:ea typeface="Times New Roman"/>
                        <a:cs typeface="Arial" panose="020B0604020202020204" pitchFamily="34" charset="0"/>
                      </a:endParaRPr>
                    </a:p>
                  </a:txBody>
                  <a:tcPr marL="65514" marR="65514" marT="0" marB="0"/>
                </a:tc>
                <a:tc>
                  <a:txBody>
                    <a:bodyPr/>
                    <a:lstStyle/>
                    <a:p>
                      <a:pPr algn="just">
                        <a:spcBef>
                          <a:spcPts val="300"/>
                        </a:spcBef>
                        <a:spcAft>
                          <a:spcPts val="0"/>
                        </a:spcAft>
                      </a:pPr>
                      <a:r>
                        <a:rPr lang="en-US" sz="1600">
                          <a:effectLst/>
                          <a:latin typeface="Arial" panose="020B0604020202020204" pitchFamily="34" charset="0"/>
                          <a:cs typeface="Arial" panose="020B0604020202020204" pitchFamily="34" charset="0"/>
                        </a:rPr>
                        <a:t>Tất cả</a:t>
                      </a:r>
                      <a:endParaRPr lang="vi-VN" sz="1600">
                        <a:effectLst/>
                        <a:latin typeface="Arial" panose="020B0604020202020204" pitchFamily="34" charset="0"/>
                        <a:ea typeface="Times New Roman"/>
                        <a:cs typeface="Arial" panose="020B0604020202020204" pitchFamily="34" charset="0"/>
                      </a:endParaRPr>
                    </a:p>
                  </a:txBody>
                  <a:tcPr marL="65514" marR="65514" marT="0" marB="0"/>
                </a:tc>
                <a:tc>
                  <a:txBody>
                    <a:bodyPr/>
                    <a:lstStyle/>
                    <a:p>
                      <a:pPr algn="just">
                        <a:spcBef>
                          <a:spcPts val="300"/>
                        </a:spcBef>
                        <a:spcAft>
                          <a:spcPts val="0"/>
                        </a:spcAft>
                      </a:pPr>
                      <a:r>
                        <a:rPr lang="en-US" sz="1600">
                          <a:effectLst/>
                          <a:latin typeface="Arial" panose="020B0604020202020204" pitchFamily="34" charset="0"/>
                          <a:cs typeface="Arial" panose="020B0604020202020204" pitchFamily="34" charset="0"/>
                        </a:rPr>
                        <a:t>Xem / In các báo cáo thống kê</a:t>
                      </a:r>
                      <a:endParaRPr lang="vi-VN" sz="1600">
                        <a:effectLst/>
                        <a:latin typeface="Arial" panose="020B0604020202020204" pitchFamily="34" charset="0"/>
                        <a:ea typeface="Times New Roman"/>
                        <a:cs typeface="Arial" panose="020B0604020202020204" pitchFamily="34" charset="0"/>
                      </a:endParaRPr>
                    </a:p>
                  </a:txBody>
                  <a:tcPr marL="65514" marR="65514" marT="0" marB="0"/>
                </a:tc>
                <a:tc>
                  <a:txBody>
                    <a:bodyPr/>
                    <a:lstStyle/>
                    <a:p>
                      <a:pPr algn="just">
                        <a:spcBef>
                          <a:spcPts val="300"/>
                        </a:spcBef>
                        <a:spcAft>
                          <a:spcPts val="0"/>
                        </a:spcAft>
                      </a:pPr>
                      <a:r>
                        <a:rPr lang="en-US" sz="1600" b="0">
                          <a:effectLst/>
                          <a:latin typeface="Arial" panose="020B0604020202020204" pitchFamily="34" charset="0"/>
                          <a:cs typeface="Arial" panose="020B0604020202020204" pitchFamily="34" charset="0"/>
                        </a:rPr>
                        <a:t>Xem, in các cáo báo thống kê theo nhiều tiêu chí</a:t>
                      </a:r>
                      <a:endParaRPr lang="vi-VN" sz="1600" b="0">
                        <a:effectLst/>
                        <a:latin typeface="Arial" panose="020B0604020202020204" pitchFamily="34" charset="0"/>
                        <a:ea typeface="Times New Roman"/>
                        <a:cs typeface="Arial" panose="020B0604020202020204" pitchFamily="34" charset="0"/>
                      </a:endParaRPr>
                    </a:p>
                  </a:txBody>
                  <a:tcPr marL="65514" marR="65514" marT="0" marB="0"/>
                </a:tc>
              </a:tr>
              <a:tr h="642211">
                <a:tc rowSpan="2">
                  <a:txBody>
                    <a:bodyPr/>
                    <a:lstStyle/>
                    <a:p>
                      <a:pPr marL="0" lvl="0" indent="0" algn="just">
                        <a:spcBef>
                          <a:spcPts val="300"/>
                        </a:spcBef>
                        <a:spcAft>
                          <a:spcPts val="300"/>
                        </a:spcAft>
                        <a:buFont typeface="+mj-lt"/>
                        <a:buNone/>
                        <a:tabLst>
                          <a:tab pos="514350" algn="l"/>
                        </a:tabLst>
                      </a:pPr>
                      <a:r>
                        <a:rPr lang="en-US" sz="1600" smtClean="0">
                          <a:effectLst/>
                          <a:latin typeface="Arial" panose="020B0604020202020204" pitchFamily="34" charset="0"/>
                          <a:cs typeface="Arial" panose="020B0604020202020204" pitchFamily="34" charset="0"/>
                        </a:rPr>
                        <a:t>5</a:t>
                      </a:r>
                      <a:r>
                        <a:rPr lang="en-US" sz="1600">
                          <a:effectLst/>
                          <a:latin typeface="Arial" panose="020B0604020202020204" pitchFamily="34" charset="0"/>
                          <a:cs typeface="Arial" panose="020B0604020202020204" pitchFamily="34" charset="0"/>
                        </a:rPr>
                        <a:t> </a:t>
                      </a:r>
                      <a:endParaRPr lang="vi-VN" sz="1600">
                        <a:effectLst/>
                        <a:latin typeface="Arial" panose="020B0604020202020204" pitchFamily="34" charset="0"/>
                        <a:ea typeface="Times New Roman"/>
                        <a:cs typeface="Arial" panose="020B0604020202020204" pitchFamily="34" charset="0"/>
                      </a:endParaRPr>
                    </a:p>
                    <a:p>
                      <a:pPr marL="0" lvl="0" indent="0" algn="just">
                        <a:spcBef>
                          <a:spcPts val="300"/>
                        </a:spcBef>
                        <a:spcAft>
                          <a:spcPts val="300"/>
                        </a:spcAft>
                        <a:buFont typeface="+mj-lt"/>
                        <a:buNone/>
                        <a:tabLst>
                          <a:tab pos="514350" algn="l"/>
                        </a:tabLst>
                      </a:pPr>
                      <a:r>
                        <a:rPr lang="en-US" sz="1600">
                          <a:effectLst/>
                          <a:latin typeface="Arial" panose="020B0604020202020204" pitchFamily="34" charset="0"/>
                          <a:cs typeface="Arial" panose="020B0604020202020204" pitchFamily="34" charset="0"/>
                        </a:rPr>
                        <a:t> </a:t>
                      </a:r>
                      <a:endParaRPr lang="vi-VN" sz="1600">
                        <a:effectLst/>
                        <a:latin typeface="Arial" panose="020B0604020202020204" pitchFamily="34" charset="0"/>
                        <a:ea typeface="Times New Roman"/>
                        <a:cs typeface="Arial" panose="020B0604020202020204" pitchFamily="34" charset="0"/>
                      </a:endParaRPr>
                    </a:p>
                  </a:txBody>
                  <a:tcPr marL="65514" marR="65514" marT="0" marB="0"/>
                </a:tc>
                <a:tc rowSpan="2">
                  <a:txBody>
                    <a:bodyPr/>
                    <a:lstStyle/>
                    <a:p>
                      <a:pPr algn="l">
                        <a:spcBef>
                          <a:spcPts val="300"/>
                        </a:spcBef>
                        <a:spcAft>
                          <a:spcPts val="0"/>
                        </a:spcAft>
                      </a:pPr>
                      <a:r>
                        <a:rPr lang="en-US" sz="1600">
                          <a:effectLst/>
                          <a:latin typeface="Arial" panose="020B0604020202020204" pitchFamily="34" charset="0"/>
                          <a:cs typeface="Arial" panose="020B0604020202020204" pitchFamily="34" charset="0"/>
                        </a:rPr>
                        <a:t>Quản trị hệ thống</a:t>
                      </a:r>
                      <a:endParaRPr lang="vi-VN" sz="1600">
                        <a:effectLst/>
                        <a:latin typeface="Arial" panose="020B0604020202020204" pitchFamily="34" charset="0"/>
                        <a:ea typeface="Times New Roman"/>
                        <a:cs typeface="Arial" panose="020B0604020202020204" pitchFamily="34" charset="0"/>
                      </a:endParaRPr>
                    </a:p>
                  </a:txBody>
                  <a:tcPr marL="65514" marR="65514" marT="0" marB="0" anchor="ctr"/>
                </a:tc>
                <a:tc>
                  <a:txBody>
                    <a:bodyPr/>
                    <a:lstStyle/>
                    <a:p>
                      <a:pPr algn="just">
                        <a:spcBef>
                          <a:spcPts val="300"/>
                        </a:spcBef>
                        <a:spcAft>
                          <a:spcPts val="0"/>
                        </a:spcAft>
                      </a:pPr>
                      <a:r>
                        <a:rPr lang="en-US" sz="1600">
                          <a:effectLst/>
                          <a:latin typeface="Arial" panose="020B0604020202020204" pitchFamily="34" charset="0"/>
                          <a:cs typeface="Arial" panose="020B0604020202020204" pitchFamily="34" charset="0"/>
                        </a:rPr>
                        <a:t>Quản lý các </a:t>
                      </a:r>
                      <a:r>
                        <a:rPr lang="en-US" sz="1600" smtClean="0">
                          <a:effectLst/>
                          <a:latin typeface="Arial" panose="020B0604020202020204" pitchFamily="34" charset="0"/>
                          <a:cs typeface="Arial" panose="020B0604020202020204" pitchFamily="34" charset="0"/>
                        </a:rPr>
                        <a:t>tiêu</a:t>
                      </a:r>
                      <a:r>
                        <a:rPr lang="en-US" sz="1600" baseline="0" smtClean="0">
                          <a:effectLst/>
                          <a:latin typeface="Arial" panose="020B0604020202020204" pitchFamily="34" charset="0"/>
                          <a:cs typeface="Arial" panose="020B0604020202020204" pitchFamily="34" charset="0"/>
                        </a:rPr>
                        <a:t> chí đánh giá</a:t>
                      </a:r>
                      <a:endParaRPr lang="vi-VN" sz="1600">
                        <a:effectLst/>
                        <a:latin typeface="Arial" panose="020B0604020202020204" pitchFamily="34" charset="0"/>
                        <a:ea typeface="Times New Roman"/>
                        <a:cs typeface="Arial" panose="020B0604020202020204" pitchFamily="34" charset="0"/>
                      </a:endParaRPr>
                    </a:p>
                  </a:txBody>
                  <a:tcPr marL="65514" marR="65514" marT="0" marB="0"/>
                </a:tc>
                <a:tc>
                  <a:txBody>
                    <a:bodyPr/>
                    <a:lstStyle/>
                    <a:p>
                      <a:pPr marL="0" marR="0" indent="0" algn="just" defTabSz="914400" rtl="0" eaLnBrk="1" fontAlgn="auto" latinLnBrk="0" hangingPunct="1">
                        <a:lnSpc>
                          <a:spcPct val="100000"/>
                        </a:lnSpc>
                        <a:spcBef>
                          <a:spcPts val="300"/>
                        </a:spcBef>
                        <a:spcAft>
                          <a:spcPts val="0"/>
                        </a:spcAft>
                        <a:buClrTx/>
                        <a:buSzTx/>
                        <a:buFontTx/>
                        <a:buNone/>
                        <a:tabLst/>
                        <a:defRPr/>
                      </a:pPr>
                      <a:r>
                        <a:rPr lang="en-US" sz="1600" b="0">
                          <a:effectLst/>
                          <a:latin typeface="Arial" panose="020B0604020202020204" pitchFamily="34" charset="0"/>
                          <a:cs typeface="Arial" panose="020B0604020202020204" pitchFamily="34" charset="0"/>
                        </a:rPr>
                        <a:t>Cho phép cập nhật </a:t>
                      </a:r>
                      <a:r>
                        <a:rPr lang="en-US" sz="1600" b="0" smtClean="0">
                          <a:effectLst/>
                          <a:latin typeface="Arial" panose="020B0604020202020204" pitchFamily="34" charset="0"/>
                          <a:cs typeface="Arial" panose="020B0604020202020204" pitchFamily="34" charset="0"/>
                        </a:rPr>
                        <a:t>các tiêu</a:t>
                      </a:r>
                      <a:r>
                        <a:rPr lang="en-US" sz="1600" b="0" baseline="0" smtClean="0">
                          <a:effectLst/>
                          <a:latin typeface="Arial" panose="020B0604020202020204" pitchFamily="34" charset="0"/>
                          <a:cs typeface="Arial" panose="020B0604020202020204" pitchFamily="34" charset="0"/>
                        </a:rPr>
                        <a:t> chí đánh giá, các công thức tính điểm số, …</a:t>
                      </a:r>
                      <a:endParaRPr lang="vi-VN" sz="1600" smtClean="0">
                        <a:effectLst/>
                        <a:latin typeface="Arial" panose="020B0604020202020204" pitchFamily="34" charset="0"/>
                        <a:ea typeface="Times New Roman"/>
                        <a:cs typeface="Arial" panose="020B0604020202020204" pitchFamily="34" charset="0"/>
                      </a:endParaRPr>
                    </a:p>
                  </a:txBody>
                  <a:tcPr marL="65514" marR="65514" marT="0" marB="0"/>
                </a:tc>
              </a:tr>
              <a:tr h="880065">
                <a:tc vMerge="1">
                  <a:txBody>
                    <a:bodyPr/>
                    <a:lstStyle/>
                    <a:p>
                      <a:pPr marL="0" lvl="0" indent="0" algn="just">
                        <a:spcBef>
                          <a:spcPts val="300"/>
                        </a:spcBef>
                        <a:spcAft>
                          <a:spcPts val="300"/>
                        </a:spcAft>
                        <a:buFont typeface="+mj-lt"/>
                        <a:buNone/>
                        <a:tabLst>
                          <a:tab pos="514350" algn="l"/>
                        </a:tabLst>
                      </a:pPr>
                      <a:endParaRPr lang="vi-VN" sz="1600">
                        <a:effectLst/>
                        <a:latin typeface="Arial" panose="020B0604020202020204" pitchFamily="34" charset="0"/>
                        <a:ea typeface="Times New Roman"/>
                        <a:cs typeface="Arial" panose="020B0604020202020204" pitchFamily="34" charset="0"/>
                      </a:endParaRPr>
                    </a:p>
                  </a:txBody>
                  <a:tcPr marL="65514" marR="65514" marT="0" marB="0"/>
                </a:tc>
                <a:tc vMerge="1">
                  <a:txBody>
                    <a:bodyPr/>
                    <a:lstStyle/>
                    <a:p>
                      <a:endParaRPr lang="vi-VN"/>
                    </a:p>
                  </a:txBody>
                  <a:tcPr/>
                </a:tc>
                <a:tc>
                  <a:txBody>
                    <a:bodyPr/>
                    <a:lstStyle/>
                    <a:p>
                      <a:pPr algn="just">
                        <a:spcBef>
                          <a:spcPts val="300"/>
                        </a:spcBef>
                        <a:spcAft>
                          <a:spcPts val="0"/>
                        </a:spcAft>
                      </a:pPr>
                      <a:r>
                        <a:rPr lang="en-US" sz="1600">
                          <a:effectLst/>
                          <a:latin typeface="Arial" panose="020B0604020202020204" pitchFamily="34" charset="0"/>
                          <a:cs typeface="Arial" panose="020B0604020202020204" pitchFamily="34" charset="0"/>
                        </a:rPr>
                        <a:t>Quản trị người dùng và hệ thống</a:t>
                      </a:r>
                      <a:endParaRPr lang="vi-VN" sz="1600">
                        <a:effectLst/>
                        <a:latin typeface="Arial" panose="020B0604020202020204" pitchFamily="34" charset="0"/>
                        <a:ea typeface="Times New Roman"/>
                        <a:cs typeface="Arial" panose="020B0604020202020204" pitchFamily="34" charset="0"/>
                      </a:endParaRPr>
                    </a:p>
                  </a:txBody>
                  <a:tcPr marL="65514" marR="65514" marT="0" marB="0"/>
                </a:tc>
                <a:tc>
                  <a:txBody>
                    <a:bodyPr/>
                    <a:lstStyle/>
                    <a:p>
                      <a:pPr algn="just">
                        <a:spcBef>
                          <a:spcPts val="300"/>
                        </a:spcBef>
                        <a:spcAft>
                          <a:spcPts val="0"/>
                        </a:spcAft>
                      </a:pPr>
                      <a:r>
                        <a:rPr lang="en-US" sz="1600" b="0">
                          <a:effectLst/>
                          <a:latin typeface="Arial" panose="020B0604020202020204" pitchFamily="34" charset="0"/>
                          <a:cs typeface="Arial" panose="020B0604020202020204" pitchFamily="34" charset="0"/>
                        </a:rPr>
                        <a:t>- </a:t>
                      </a:r>
                      <a:r>
                        <a:rPr lang="en-US" sz="1600" b="0" smtClean="0">
                          <a:effectLst/>
                          <a:latin typeface="Arial" panose="020B0604020202020204" pitchFamily="34" charset="0"/>
                          <a:cs typeface="Arial" panose="020B0604020202020204" pitchFamily="34" charset="0"/>
                        </a:rPr>
                        <a:t>Quản </a:t>
                      </a:r>
                      <a:r>
                        <a:rPr lang="en-US" sz="1600" b="0">
                          <a:effectLst/>
                          <a:latin typeface="Arial" panose="020B0604020202020204" pitchFamily="34" charset="0"/>
                          <a:cs typeface="Arial" panose="020B0604020202020204" pitchFamily="34" charset="0"/>
                        </a:rPr>
                        <a:t>trị người </a:t>
                      </a:r>
                      <a:r>
                        <a:rPr lang="en-US" sz="1600" b="0" smtClean="0">
                          <a:effectLst/>
                          <a:latin typeface="Arial" panose="020B0604020202020204" pitchFamily="34" charset="0"/>
                          <a:cs typeface="Arial" panose="020B0604020202020204" pitchFamily="34" charset="0"/>
                        </a:rPr>
                        <a:t>dùng, phân </a:t>
                      </a:r>
                      <a:r>
                        <a:rPr lang="en-US" sz="1600" b="0">
                          <a:effectLst/>
                          <a:latin typeface="Arial" panose="020B0604020202020204" pitchFamily="34" charset="0"/>
                          <a:cs typeface="Arial" panose="020B0604020202020204" pitchFamily="34" charset="0"/>
                        </a:rPr>
                        <a:t>quyền truy cập hệ </a:t>
                      </a:r>
                      <a:r>
                        <a:rPr lang="en-US" sz="1600" b="0" smtClean="0">
                          <a:effectLst/>
                          <a:latin typeface="Arial" panose="020B0604020202020204" pitchFamily="34" charset="0"/>
                          <a:cs typeface="Arial" panose="020B0604020202020204" pitchFamily="34" charset="0"/>
                        </a:rPr>
                        <a:t>thống</a:t>
                      </a:r>
                      <a:endParaRPr lang="vi-VN" sz="1600" b="0">
                        <a:effectLst/>
                        <a:latin typeface="Arial" panose="020B0604020202020204" pitchFamily="34" charset="0"/>
                        <a:cs typeface="Arial" panose="020B0604020202020204" pitchFamily="34" charset="0"/>
                      </a:endParaRPr>
                    </a:p>
                    <a:p>
                      <a:pPr algn="just">
                        <a:spcBef>
                          <a:spcPts val="300"/>
                        </a:spcBef>
                        <a:spcAft>
                          <a:spcPts val="0"/>
                        </a:spcAft>
                      </a:pPr>
                      <a:r>
                        <a:rPr lang="en-US" sz="1600" b="0">
                          <a:effectLst/>
                          <a:latin typeface="Arial" panose="020B0604020202020204" pitchFamily="34" charset="0"/>
                          <a:cs typeface="Arial" panose="020B0604020202020204" pitchFamily="34" charset="0"/>
                        </a:rPr>
                        <a:t>- Cho phép thiết lập các thông số hệ thống như thông số kết nối, …</a:t>
                      </a:r>
                      <a:endParaRPr lang="vi-VN" sz="1600" b="0">
                        <a:effectLst/>
                        <a:latin typeface="Arial" panose="020B0604020202020204" pitchFamily="34" charset="0"/>
                        <a:ea typeface="Times New Roman"/>
                        <a:cs typeface="Arial" panose="020B0604020202020204" pitchFamily="34" charset="0"/>
                      </a:endParaRPr>
                    </a:p>
                  </a:txBody>
                  <a:tcPr marL="65514" marR="65514" marT="0" marB="0"/>
                </a:tc>
              </a:tr>
              <a:tr h="1325588">
                <a:tc>
                  <a:txBody>
                    <a:bodyPr/>
                    <a:lstStyle/>
                    <a:p>
                      <a:pPr marL="342900" lvl="0" indent="-342900" algn="just">
                        <a:spcBef>
                          <a:spcPts val="300"/>
                        </a:spcBef>
                        <a:spcAft>
                          <a:spcPts val="300"/>
                        </a:spcAft>
                        <a:buFont typeface="+mj-lt"/>
                        <a:buAutoNum type="arabicPeriod"/>
                        <a:tabLst>
                          <a:tab pos="514350" algn="l"/>
                        </a:tabLst>
                      </a:pPr>
                      <a:endParaRPr lang="vi-VN" sz="1200">
                        <a:effectLst/>
                        <a:latin typeface="Times New Roman"/>
                        <a:ea typeface="Times New Roman"/>
                      </a:endParaRPr>
                    </a:p>
                  </a:txBody>
                  <a:tcPr marL="65514" marR="65514" marT="0" marB="0"/>
                </a:tc>
                <a:tc>
                  <a:txBody>
                    <a:bodyPr/>
                    <a:lstStyle/>
                    <a:p>
                      <a:pPr algn="l">
                        <a:spcBef>
                          <a:spcPts val="300"/>
                        </a:spcBef>
                        <a:spcAft>
                          <a:spcPts val="0"/>
                        </a:spcAft>
                      </a:pPr>
                      <a:endParaRPr lang="vi-VN" sz="1200">
                        <a:effectLst/>
                        <a:latin typeface="Times New Roman"/>
                        <a:ea typeface="Times New Roman"/>
                      </a:endParaRPr>
                    </a:p>
                  </a:txBody>
                  <a:tcPr marL="65514" marR="65514" marT="0" marB="0" anchor="ctr"/>
                </a:tc>
                <a:tc>
                  <a:txBody>
                    <a:bodyPr/>
                    <a:lstStyle/>
                    <a:p>
                      <a:pPr algn="just">
                        <a:spcBef>
                          <a:spcPts val="300"/>
                        </a:spcBef>
                        <a:spcAft>
                          <a:spcPts val="0"/>
                        </a:spcAft>
                      </a:pPr>
                      <a:endParaRPr lang="vi-VN" sz="1200">
                        <a:effectLst/>
                        <a:latin typeface="Times New Roman"/>
                        <a:ea typeface="Times New Roman"/>
                      </a:endParaRPr>
                    </a:p>
                  </a:txBody>
                  <a:tcPr marL="65514" marR="65514" marT="0" marB="0"/>
                </a:tc>
                <a:tc>
                  <a:txBody>
                    <a:bodyPr/>
                    <a:lstStyle/>
                    <a:p>
                      <a:pPr algn="just">
                        <a:spcBef>
                          <a:spcPts val="300"/>
                        </a:spcBef>
                        <a:spcAft>
                          <a:spcPts val="0"/>
                        </a:spcAft>
                      </a:pPr>
                      <a:endParaRPr lang="vi-VN" sz="1200">
                        <a:effectLst/>
                        <a:latin typeface="Times New Roman"/>
                        <a:ea typeface="Times New Roman"/>
                      </a:endParaRPr>
                    </a:p>
                  </a:txBody>
                  <a:tcPr marL="65514" marR="65514" marT="0" marB="0"/>
                </a:tc>
              </a:tr>
            </a:tbl>
          </a:graphicData>
        </a:graphic>
      </p:graphicFrame>
    </p:spTree>
    <p:extLst>
      <p:ext uri="{BB962C8B-B14F-4D97-AF65-F5344CB8AC3E}">
        <p14:creationId xmlns:p14="http://schemas.microsoft.com/office/powerpoint/2010/main" val="48511180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MasterSp="0">
  <p:cSld>
    <p:bg>
      <p:bgPr>
        <a:solidFill>
          <a:schemeClr val="tx1">
            <a:lumMod val="95000"/>
          </a:schemeClr>
        </a:solidFill>
        <a:effectLst/>
      </p:bgPr>
    </p:bg>
    <p:spTree>
      <p:nvGrpSpPr>
        <p:cNvPr id="1" name=""/>
        <p:cNvGrpSpPr/>
        <p:nvPr/>
      </p:nvGrpSpPr>
      <p:grpSpPr>
        <a:xfrm>
          <a:off x="0" y="0"/>
          <a:ext cx="0" cy="0"/>
          <a:chOff x="0" y="0"/>
          <a:chExt cx="0" cy="0"/>
        </a:xfrm>
      </p:grpSpPr>
      <p:sp>
        <p:nvSpPr>
          <p:cNvPr id="4" name="Title 3"/>
          <p:cNvSpPr>
            <a:spLocks noGrp="1"/>
          </p:cNvSpPr>
          <p:nvPr>
            <p:ph type="ctrTitle"/>
          </p:nvPr>
        </p:nvSpPr>
        <p:spPr>
          <a:xfrm>
            <a:off x="179512" y="-243408"/>
            <a:ext cx="8964488" cy="936104"/>
          </a:xfrm>
        </p:spPr>
        <p:txBody>
          <a:bodyPr>
            <a:normAutofit/>
          </a:bodyPr>
          <a:lstStyle/>
          <a:p>
            <a:pPr algn="l"/>
            <a:r>
              <a:rPr lang="en-US" sz="4800" err="1" smtClean="0"/>
              <a:t>Mô</a:t>
            </a:r>
            <a:r>
              <a:rPr lang="en-US" sz="4800" smtClean="0"/>
              <a:t> </a:t>
            </a:r>
            <a:r>
              <a:rPr lang="en-US" sz="4800" err="1" smtClean="0"/>
              <a:t>hình</a:t>
            </a:r>
            <a:r>
              <a:rPr lang="en-US" sz="4800" smtClean="0"/>
              <a:t> </a:t>
            </a:r>
            <a:r>
              <a:rPr lang="en-US" sz="4800" err="1" smtClean="0"/>
              <a:t>triển</a:t>
            </a:r>
            <a:r>
              <a:rPr lang="en-US" sz="4800" smtClean="0"/>
              <a:t> </a:t>
            </a:r>
            <a:r>
              <a:rPr lang="en-US" sz="4800" err="1" smtClean="0"/>
              <a:t>khai</a:t>
            </a:r>
            <a:endParaRPr lang="vi-VN" sz="4800"/>
          </a:p>
        </p:txBody>
      </p:sp>
      <p:sp>
        <p:nvSpPr>
          <p:cNvPr id="5"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2" name="Rectangle 2"/>
          <p:cNvSpPr>
            <a:spLocks noChangeArrowheads="1"/>
          </p:cNvSpPr>
          <p:nvPr/>
        </p:nvSpPr>
        <p:spPr bwMode="auto">
          <a:xfrm>
            <a:off x="323528" y="126876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6" name="Picture 5"/>
          <p:cNvPicPr>
            <a:picLocks noChangeAspect="1"/>
          </p:cNvPicPr>
          <p:nvPr/>
        </p:nvPicPr>
        <p:blipFill>
          <a:blip r:embed="rId2"/>
          <a:stretch>
            <a:fillRect/>
          </a:stretch>
        </p:blipFill>
        <p:spPr>
          <a:xfrm>
            <a:off x="209780" y="-5063"/>
            <a:ext cx="8724440" cy="6868125"/>
          </a:xfrm>
          <a:prstGeom prst="rect">
            <a:avLst/>
          </a:prstGeom>
        </p:spPr>
      </p:pic>
    </p:spTree>
    <p:extLst>
      <p:ext uri="{BB962C8B-B14F-4D97-AF65-F5344CB8AC3E}">
        <p14:creationId xmlns:p14="http://schemas.microsoft.com/office/powerpoint/2010/main" val="414849366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179512" y="692696"/>
            <a:ext cx="8964488" cy="936104"/>
          </a:xfrm>
        </p:spPr>
        <p:txBody>
          <a:bodyPr>
            <a:normAutofit/>
          </a:bodyPr>
          <a:lstStyle/>
          <a:p>
            <a:pPr algn="l"/>
            <a:r>
              <a:rPr lang="en-US" sz="4800" err="1" smtClean="0"/>
              <a:t>Các</a:t>
            </a:r>
            <a:r>
              <a:rPr lang="en-US" sz="4800" smtClean="0"/>
              <a:t> </a:t>
            </a:r>
            <a:r>
              <a:rPr lang="en-US" sz="4800" err="1" smtClean="0"/>
              <a:t>thiết</a:t>
            </a:r>
            <a:r>
              <a:rPr lang="en-US" sz="4800" smtClean="0"/>
              <a:t> </a:t>
            </a:r>
            <a:r>
              <a:rPr lang="en-US" sz="4800" err="1" smtClean="0"/>
              <a:t>bị</a:t>
            </a:r>
            <a:r>
              <a:rPr lang="en-US" sz="4800" smtClean="0"/>
              <a:t> </a:t>
            </a:r>
            <a:r>
              <a:rPr lang="en-US" sz="4800" err="1" smtClean="0"/>
              <a:t>cần</a:t>
            </a:r>
            <a:r>
              <a:rPr lang="en-US" sz="4800" smtClean="0"/>
              <a:t> </a:t>
            </a:r>
            <a:r>
              <a:rPr lang="en-US" sz="4800" err="1" smtClean="0"/>
              <a:t>đầu</a:t>
            </a:r>
            <a:r>
              <a:rPr lang="en-US" sz="4800" smtClean="0"/>
              <a:t> </a:t>
            </a:r>
            <a:r>
              <a:rPr lang="en-US" sz="4800" err="1" smtClean="0"/>
              <a:t>tư</a:t>
            </a:r>
            <a:endParaRPr lang="vi-VN" sz="4800"/>
          </a:p>
        </p:txBody>
      </p:sp>
      <p:sp>
        <p:nvSpPr>
          <p:cNvPr id="5"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Rectangle 2"/>
          <p:cNvSpPr/>
          <p:nvPr/>
        </p:nvSpPr>
        <p:spPr>
          <a:xfrm>
            <a:off x="335029" y="1713582"/>
            <a:ext cx="4572000" cy="400110"/>
          </a:xfrm>
          <a:prstGeom prst="rect">
            <a:avLst/>
          </a:prstGeom>
        </p:spPr>
        <p:txBody>
          <a:bodyPr>
            <a:spAutoFit/>
          </a:bodyPr>
          <a:lstStyle/>
          <a:p>
            <a:r>
              <a:rPr lang="en-US" sz="2000" b="1" err="1" smtClean="0">
                <a:latin typeface="Arial" panose="020B0604020202020204" pitchFamily="34" charset="0"/>
                <a:cs typeface="Arial" panose="020B0604020202020204" pitchFamily="34" charset="0"/>
              </a:rPr>
              <a:t>Có</a:t>
            </a:r>
            <a:r>
              <a:rPr lang="en-US" sz="2000" b="1" smtClean="0">
                <a:latin typeface="Arial" panose="020B0604020202020204" pitchFamily="34" charset="0"/>
                <a:cs typeface="Arial" panose="020B0604020202020204" pitchFamily="34" charset="0"/>
              </a:rPr>
              <a:t> 2 </a:t>
            </a:r>
            <a:r>
              <a:rPr lang="en-US" sz="2000" b="1" err="1" smtClean="0">
                <a:latin typeface="Arial" panose="020B0604020202020204" pitchFamily="34" charset="0"/>
                <a:cs typeface="Arial" panose="020B0604020202020204" pitchFamily="34" charset="0"/>
              </a:rPr>
              <a:t>phương</a:t>
            </a:r>
            <a:r>
              <a:rPr lang="en-US" sz="2000" b="1" smtClean="0">
                <a:latin typeface="Arial" panose="020B0604020202020204" pitchFamily="34" charset="0"/>
                <a:cs typeface="Arial" panose="020B0604020202020204" pitchFamily="34" charset="0"/>
              </a:rPr>
              <a:t> </a:t>
            </a:r>
            <a:r>
              <a:rPr lang="en-US" sz="2000" b="1" err="1" smtClean="0">
                <a:latin typeface="Arial" panose="020B0604020202020204" pitchFamily="34" charset="0"/>
                <a:cs typeface="Arial" panose="020B0604020202020204" pitchFamily="34" charset="0"/>
              </a:rPr>
              <a:t>án</a:t>
            </a:r>
            <a:endParaRPr lang="en-US" sz="2000" b="1">
              <a:latin typeface="Arial" panose="020B0604020202020204" pitchFamily="34" charset="0"/>
              <a:cs typeface="Arial" panose="020B0604020202020204" pitchFamily="34" charset="0"/>
            </a:endParaRPr>
          </a:p>
        </p:txBody>
      </p:sp>
      <p:sp>
        <p:nvSpPr>
          <p:cNvPr id="8" name="Rectangle 7"/>
          <p:cNvSpPr/>
          <p:nvPr/>
        </p:nvSpPr>
        <p:spPr>
          <a:xfrm>
            <a:off x="328936" y="2198474"/>
            <a:ext cx="8419528" cy="707886"/>
          </a:xfrm>
          <a:prstGeom prst="rect">
            <a:avLst/>
          </a:prstGeom>
        </p:spPr>
        <p:txBody>
          <a:bodyPr wrap="square">
            <a:spAutoFit/>
          </a:bodyPr>
          <a:lstStyle/>
          <a:p>
            <a:r>
              <a:rPr lang="en-US" sz="2000" err="1" smtClean="0">
                <a:latin typeface="Arial" panose="020B0604020202020204" pitchFamily="34" charset="0"/>
                <a:cs typeface="Arial" panose="020B0604020202020204" pitchFamily="34" charset="0"/>
              </a:rPr>
              <a:t>Phương</a:t>
            </a:r>
            <a:r>
              <a:rPr lang="en-US" sz="2000" smtClean="0">
                <a:latin typeface="Arial" panose="020B0604020202020204" pitchFamily="34" charset="0"/>
                <a:cs typeface="Arial" panose="020B0604020202020204" pitchFamily="34" charset="0"/>
              </a:rPr>
              <a:t> </a:t>
            </a:r>
            <a:r>
              <a:rPr lang="en-US" sz="2000" err="1" smtClean="0">
                <a:latin typeface="Arial" panose="020B0604020202020204" pitchFamily="34" charset="0"/>
                <a:cs typeface="Arial" panose="020B0604020202020204" pitchFamily="34" charset="0"/>
              </a:rPr>
              <a:t>án</a:t>
            </a:r>
            <a:r>
              <a:rPr lang="en-US" sz="2000" smtClean="0">
                <a:latin typeface="Arial" panose="020B0604020202020204" pitchFamily="34" charset="0"/>
                <a:cs typeface="Arial" panose="020B0604020202020204" pitchFamily="34" charset="0"/>
              </a:rPr>
              <a:t> 1: </a:t>
            </a:r>
            <a:r>
              <a:rPr lang="en-US" sz="2000" err="1" smtClean="0">
                <a:latin typeface="Arial" panose="020B0604020202020204" pitchFamily="34" charset="0"/>
                <a:cs typeface="Arial" panose="020B0604020202020204" pitchFamily="34" charset="0"/>
              </a:rPr>
              <a:t>trang</a:t>
            </a:r>
            <a:r>
              <a:rPr lang="en-US" sz="2000" smtClean="0">
                <a:latin typeface="Arial" panose="020B0604020202020204" pitchFamily="34" charset="0"/>
                <a:cs typeface="Arial" panose="020B0604020202020204" pitchFamily="34" charset="0"/>
              </a:rPr>
              <a:t> </a:t>
            </a:r>
            <a:r>
              <a:rPr lang="en-US" sz="2000" err="1" smtClean="0">
                <a:latin typeface="Arial" panose="020B0604020202020204" pitchFamily="34" charset="0"/>
                <a:cs typeface="Arial" panose="020B0604020202020204" pitchFamily="34" charset="0"/>
              </a:rPr>
              <a:t>bị</a:t>
            </a:r>
            <a:r>
              <a:rPr lang="en-US" sz="2000" smtClean="0">
                <a:latin typeface="Arial" panose="020B0604020202020204" pitchFamily="34" charset="0"/>
                <a:cs typeface="Arial" panose="020B0604020202020204" pitchFamily="34" charset="0"/>
              </a:rPr>
              <a:t> </a:t>
            </a:r>
            <a:r>
              <a:rPr lang="en-US" sz="2000" err="1" smtClean="0">
                <a:latin typeface="Arial" panose="020B0604020202020204" pitchFamily="34" charset="0"/>
                <a:cs typeface="Arial" panose="020B0604020202020204" pitchFamily="34" charset="0"/>
              </a:rPr>
              <a:t>màn</a:t>
            </a:r>
            <a:r>
              <a:rPr lang="en-US" sz="2000" smtClean="0">
                <a:latin typeface="Arial" panose="020B0604020202020204" pitchFamily="34" charset="0"/>
                <a:cs typeface="Arial" panose="020B0604020202020204" pitchFamily="34" charset="0"/>
              </a:rPr>
              <a:t> </a:t>
            </a:r>
            <a:r>
              <a:rPr lang="en-US" sz="2000" err="1" smtClean="0">
                <a:latin typeface="Arial" panose="020B0604020202020204" pitchFamily="34" charset="0"/>
                <a:cs typeface="Arial" panose="020B0604020202020204" pitchFamily="34" charset="0"/>
              </a:rPr>
              <a:t>hình</a:t>
            </a:r>
            <a:r>
              <a:rPr lang="en-US" sz="2000" smtClean="0">
                <a:latin typeface="Arial" panose="020B0604020202020204" pitchFamily="34" charset="0"/>
                <a:cs typeface="Arial" panose="020B0604020202020204" pitchFamily="34" charset="0"/>
              </a:rPr>
              <a:t> touch screen 32 inch, </a:t>
            </a:r>
            <a:r>
              <a:rPr lang="en-US" sz="2000" err="1" smtClean="0">
                <a:latin typeface="Arial" panose="020B0604020202020204" pitchFamily="34" charset="0"/>
                <a:cs typeface="Arial" panose="020B0604020202020204" pitchFamily="34" charset="0"/>
              </a:rPr>
              <a:t>mỗi</a:t>
            </a:r>
            <a:r>
              <a:rPr lang="en-US" sz="2000" smtClean="0">
                <a:latin typeface="Arial" panose="020B0604020202020204" pitchFamily="34" charset="0"/>
                <a:cs typeface="Arial" panose="020B0604020202020204" pitchFamily="34" charset="0"/>
              </a:rPr>
              <a:t> </a:t>
            </a:r>
            <a:r>
              <a:rPr lang="en-US" sz="2000" err="1" smtClean="0">
                <a:latin typeface="Arial" panose="020B0604020202020204" pitchFamily="34" charset="0"/>
                <a:cs typeface="Arial" panose="020B0604020202020204" pitchFamily="34" charset="0"/>
              </a:rPr>
              <a:t>đơn</a:t>
            </a:r>
            <a:r>
              <a:rPr lang="en-US" sz="2000" smtClean="0">
                <a:latin typeface="Arial" panose="020B0604020202020204" pitchFamily="34" charset="0"/>
                <a:cs typeface="Arial" panose="020B0604020202020204" pitchFamily="34" charset="0"/>
              </a:rPr>
              <a:t> </a:t>
            </a:r>
            <a:r>
              <a:rPr lang="en-US" sz="2000" err="1" smtClean="0">
                <a:latin typeface="Arial" panose="020B0604020202020204" pitchFamily="34" charset="0"/>
                <a:cs typeface="Arial" panose="020B0604020202020204" pitchFamily="34" charset="0"/>
              </a:rPr>
              <a:t>vị</a:t>
            </a:r>
            <a:r>
              <a:rPr lang="en-US" sz="2000" smtClean="0">
                <a:latin typeface="Arial" panose="020B0604020202020204" pitchFamily="34" charset="0"/>
                <a:cs typeface="Arial" panose="020B0604020202020204" pitchFamily="34" charset="0"/>
              </a:rPr>
              <a:t> 2 – 3 </a:t>
            </a:r>
            <a:r>
              <a:rPr lang="en-US" sz="2000" err="1" smtClean="0">
                <a:latin typeface="Arial" panose="020B0604020202020204" pitchFamily="34" charset="0"/>
                <a:cs typeface="Arial" panose="020B0604020202020204" pitchFamily="34" charset="0"/>
              </a:rPr>
              <a:t>màn</a:t>
            </a:r>
            <a:r>
              <a:rPr lang="en-US" sz="2000" smtClean="0">
                <a:latin typeface="Arial" panose="020B0604020202020204" pitchFamily="34" charset="0"/>
                <a:cs typeface="Arial" panose="020B0604020202020204" pitchFamily="34" charset="0"/>
              </a:rPr>
              <a:t> </a:t>
            </a:r>
            <a:r>
              <a:rPr lang="en-US" sz="2000" err="1" smtClean="0">
                <a:latin typeface="Arial" panose="020B0604020202020204" pitchFamily="34" charset="0"/>
                <a:cs typeface="Arial" panose="020B0604020202020204" pitchFamily="34" charset="0"/>
              </a:rPr>
              <a:t>hình</a:t>
            </a:r>
            <a:endParaRPr lang="en-US" sz="2000">
              <a:latin typeface="Arial" panose="020B0604020202020204" pitchFamily="34" charset="0"/>
              <a:cs typeface="Arial" panose="020B0604020202020204" pitchFamily="34" charset="0"/>
            </a:endParaRPr>
          </a:p>
        </p:txBody>
      </p:sp>
      <p:sp>
        <p:nvSpPr>
          <p:cNvPr id="9" name="Rectangle 8"/>
          <p:cNvSpPr/>
          <p:nvPr/>
        </p:nvSpPr>
        <p:spPr>
          <a:xfrm>
            <a:off x="328936" y="4333797"/>
            <a:ext cx="8419528" cy="707886"/>
          </a:xfrm>
          <a:prstGeom prst="rect">
            <a:avLst/>
          </a:prstGeom>
        </p:spPr>
        <p:txBody>
          <a:bodyPr wrap="square">
            <a:spAutoFit/>
          </a:bodyPr>
          <a:lstStyle/>
          <a:p>
            <a:r>
              <a:rPr lang="en-US" sz="2000" err="1" smtClean="0">
                <a:latin typeface="Arial" panose="020B0604020202020204" pitchFamily="34" charset="0"/>
                <a:cs typeface="Arial" panose="020B0604020202020204" pitchFamily="34" charset="0"/>
              </a:rPr>
              <a:t>Phương</a:t>
            </a:r>
            <a:r>
              <a:rPr lang="en-US" sz="2000" smtClean="0">
                <a:latin typeface="Arial" panose="020B0604020202020204" pitchFamily="34" charset="0"/>
                <a:cs typeface="Arial" panose="020B0604020202020204" pitchFamily="34" charset="0"/>
              </a:rPr>
              <a:t> </a:t>
            </a:r>
            <a:r>
              <a:rPr lang="en-US" sz="2000" err="1" smtClean="0">
                <a:latin typeface="Arial" panose="020B0604020202020204" pitchFamily="34" charset="0"/>
                <a:cs typeface="Arial" panose="020B0604020202020204" pitchFamily="34" charset="0"/>
              </a:rPr>
              <a:t>án</a:t>
            </a:r>
            <a:r>
              <a:rPr lang="en-US" sz="2000" smtClean="0">
                <a:latin typeface="Arial" panose="020B0604020202020204" pitchFamily="34" charset="0"/>
                <a:cs typeface="Arial" panose="020B0604020202020204" pitchFamily="34" charset="0"/>
              </a:rPr>
              <a:t> 2: </a:t>
            </a:r>
            <a:r>
              <a:rPr lang="en-US" sz="2000" err="1" smtClean="0">
                <a:latin typeface="Arial" panose="020B0604020202020204" pitchFamily="34" charset="0"/>
                <a:cs typeface="Arial" panose="020B0604020202020204" pitchFamily="34" charset="0"/>
              </a:rPr>
              <a:t>trang</a:t>
            </a:r>
            <a:r>
              <a:rPr lang="en-US" sz="2000" smtClean="0">
                <a:latin typeface="Arial" panose="020B0604020202020204" pitchFamily="34" charset="0"/>
                <a:cs typeface="Arial" panose="020B0604020202020204" pitchFamily="34" charset="0"/>
              </a:rPr>
              <a:t> </a:t>
            </a:r>
            <a:r>
              <a:rPr lang="en-US" sz="2000" err="1" smtClean="0">
                <a:latin typeface="Arial" panose="020B0604020202020204" pitchFamily="34" charset="0"/>
                <a:cs typeface="Arial" panose="020B0604020202020204" pitchFamily="34" charset="0"/>
              </a:rPr>
              <a:t>bị</a:t>
            </a:r>
            <a:r>
              <a:rPr lang="en-US" sz="2000" smtClean="0">
                <a:latin typeface="Arial" panose="020B0604020202020204" pitchFamily="34" charset="0"/>
                <a:cs typeface="Arial" panose="020B0604020202020204" pitchFamily="34" charset="0"/>
              </a:rPr>
              <a:t> </a:t>
            </a:r>
            <a:r>
              <a:rPr lang="en-US" sz="2000" err="1" smtClean="0">
                <a:latin typeface="Arial" panose="020B0604020202020204" pitchFamily="34" charset="0"/>
                <a:cs typeface="Arial" panose="020B0604020202020204" pitchFamily="34" charset="0"/>
              </a:rPr>
              <a:t>máy</a:t>
            </a:r>
            <a:r>
              <a:rPr lang="en-US" sz="2000" smtClean="0">
                <a:latin typeface="Arial" panose="020B0604020202020204" pitchFamily="34" charset="0"/>
                <a:cs typeface="Arial" panose="020B0604020202020204" pitchFamily="34" charset="0"/>
              </a:rPr>
              <a:t> </a:t>
            </a:r>
            <a:r>
              <a:rPr lang="en-US" sz="2000" err="1" smtClean="0">
                <a:latin typeface="Arial" panose="020B0604020202020204" pitchFamily="34" charset="0"/>
                <a:cs typeface="Arial" panose="020B0604020202020204" pitchFamily="34" charset="0"/>
              </a:rPr>
              <a:t>tính</a:t>
            </a:r>
            <a:r>
              <a:rPr lang="en-US" sz="2000" smtClean="0">
                <a:latin typeface="Arial" panose="020B0604020202020204" pitchFamily="34" charset="0"/>
                <a:cs typeface="Arial" panose="020B0604020202020204" pitchFamily="34" charset="0"/>
              </a:rPr>
              <a:t> </a:t>
            </a:r>
            <a:r>
              <a:rPr lang="en-US" sz="2000" err="1" smtClean="0">
                <a:latin typeface="Arial" panose="020B0604020202020204" pitchFamily="34" charset="0"/>
                <a:cs typeface="Arial" panose="020B0604020202020204" pitchFamily="34" charset="0"/>
              </a:rPr>
              <a:t>bảng</a:t>
            </a:r>
            <a:r>
              <a:rPr lang="en-US" sz="2000" smtClean="0">
                <a:latin typeface="Arial" panose="020B0604020202020204" pitchFamily="34" charset="0"/>
                <a:cs typeface="Arial" panose="020B0604020202020204" pitchFamily="34" charset="0"/>
              </a:rPr>
              <a:t>, </a:t>
            </a:r>
            <a:r>
              <a:rPr lang="en-US" sz="2000" err="1" smtClean="0">
                <a:latin typeface="Arial" panose="020B0604020202020204" pitchFamily="34" charset="0"/>
                <a:cs typeface="Arial" panose="020B0604020202020204" pitchFamily="34" charset="0"/>
              </a:rPr>
              <a:t>mỗi</a:t>
            </a:r>
            <a:r>
              <a:rPr lang="en-US" sz="2000" smtClean="0">
                <a:latin typeface="Arial" panose="020B0604020202020204" pitchFamily="34" charset="0"/>
                <a:cs typeface="Arial" panose="020B0604020202020204" pitchFamily="34" charset="0"/>
              </a:rPr>
              <a:t> </a:t>
            </a:r>
            <a:r>
              <a:rPr lang="en-US" sz="2000" err="1" smtClean="0">
                <a:latin typeface="Arial" panose="020B0604020202020204" pitchFamily="34" charset="0"/>
                <a:cs typeface="Arial" panose="020B0604020202020204" pitchFamily="34" charset="0"/>
              </a:rPr>
              <a:t>quầy</a:t>
            </a:r>
            <a:r>
              <a:rPr lang="en-US" sz="2000" smtClean="0">
                <a:latin typeface="Arial" panose="020B0604020202020204" pitchFamily="34" charset="0"/>
                <a:cs typeface="Arial" panose="020B0604020202020204" pitchFamily="34" charset="0"/>
              </a:rPr>
              <a:t>/1 </a:t>
            </a:r>
            <a:r>
              <a:rPr lang="en-US" sz="2000" err="1" smtClean="0">
                <a:latin typeface="Arial" panose="020B0604020202020204" pitchFamily="34" charset="0"/>
                <a:cs typeface="Arial" panose="020B0604020202020204" pitchFamily="34" charset="0"/>
              </a:rPr>
              <a:t>máy</a:t>
            </a:r>
            <a:r>
              <a:rPr lang="en-US" sz="2000" smtClean="0">
                <a:latin typeface="Arial" panose="020B0604020202020204" pitchFamily="34" charset="0"/>
                <a:cs typeface="Arial" panose="020B0604020202020204" pitchFamily="34" charset="0"/>
              </a:rPr>
              <a:t>. </a:t>
            </a:r>
            <a:r>
              <a:rPr lang="en-US" sz="2000" err="1" smtClean="0">
                <a:latin typeface="Arial" panose="020B0604020202020204" pitchFamily="34" charset="0"/>
                <a:cs typeface="Arial" panose="020B0604020202020204" pitchFamily="34" charset="0"/>
              </a:rPr>
              <a:t>Số</a:t>
            </a:r>
            <a:r>
              <a:rPr lang="en-US" sz="2000" smtClean="0">
                <a:latin typeface="Arial" panose="020B0604020202020204" pitchFamily="34" charset="0"/>
                <a:cs typeface="Arial" panose="020B0604020202020204" pitchFamily="34" charset="0"/>
              </a:rPr>
              <a:t> </a:t>
            </a:r>
            <a:r>
              <a:rPr lang="en-US" sz="2000" err="1" smtClean="0">
                <a:latin typeface="Arial" panose="020B0604020202020204" pitchFamily="34" charset="0"/>
                <a:cs typeface="Arial" panose="020B0604020202020204" pitchFamily="34" charset="0"/>
              </a:rPr>
              <a:t>lượng</a:t>
            </a:r>
            <a:r>
              <a:rPr lang="en-US" sz="2000" smtClean="0">
                <a:latin typeface="Arial" panose="020B0604020202020204" pitchFamily="34" charset="0"/>
                <a:cs typeface="Arial" panose="020B0604020202020204" pitchFamily="34" charset="0"/>
              </a:rPr>
              <a:t> </a:t>
            </a:r>
            <a:r>
              <a:rPr lang="en-US" sz="2000" err="1" smtClean="0">
                <a:latin typeface="Arial" panose="020B0604020202020204" pitchFamily="34" charset="0"/>
                <a:cs typeface="Arial" panose="020B0604020202020204" pitchFamily="34" charset="0"/>
              </a:rPr>
              <a:t>tùy</a:t>
            </a:r>
            <a:r>
              <a:rPr lang="en-US" sz="2000" smtClean="0">
                <a:latin typeface="Arial" panose="020B0604020202020204" pitchFamily="34" charset="0"/>
                <a:cs typeface="Arial" panose="020B0604020202020204" pitchFamily="34" charset="0"/>
              </a:rPr>
              <a:t> </a:t>
            </a:r>
            <a:r>
              <a:rPr lang="en-US" sz="2000" err="1" smtClean="0">
                <a:latin typeface="Arial" panose="020B0604020202020204" pitchFamily="34" charset="0"/>
                <a:cs typeface="Arial" panose="020B0604020202020204" pitchFamily="34" charset="0"/>
              </a:rPr>
              <a:t>thuộc</a:t>
            </a:r>
            <a:r>
              <a:rPr lang="en-US" sz="2000" smtClean="0">
                <a:latin typeface="Arial" panose="020B0604020202020204" pitchFamily="34" charset="0"/>
                <a:cs typeface="Arial" panose="020B0604020202020204" pitchFamily="34" charset="0"/>
              </a:rPr>
              <a:t> </a:t>
            </a:r>
            <a:r>
              <a:rPr lang="en-US" sz="2000" err="1" smtClean="0">
                <a:latin typeface="Arial" panose="020B0604020202020204" pitchFamily="34" charset="0"/>
                <a:cs typeface="Arial" panose="020B0604020202020204" pitchFamily="34" charset="0"/>
              </a:rPr>
              <a:t>vào</a:t>
            </a:r>
            <a:r>
              <a:rPr lang="en-US" sz="2000" smtClean="0">
                <a:latin typeface="Arial" panose="020B0604020202020204" pitchFamily="34" charset="0"/>
                <a:cs typeface="Arial" panose="020B0604020202020204" pitchFamily="34" charset="0"/>
              </a:rPr>
              <a:t> </a:t>
            </a:r>
            <a:r>
              <a:rPr lang="en-US" sz="2000" err="1" smtClean="0">
                <a:latin typeface="Arial" panose="020B0604020202020204" pitchFamily="34" charset="0"/>
                <a:cs typeface="Arial" panose="020B0604020202020204" pitchFamily="34" charset="0"/>
              </a:rPr>
              <a:t>số</a:t>
            </a:r>
            <a:r>
              <a:rPr lang="en-US" sz="2000" smtClean="0">
                <a:latin typeface="Arial" panose="020B0604020202020204" pitchFamily="34" charset="0"/>
                <a:cs typeface="Arial" panose="020B0604020202020204" pitchFamily="34" charset="0"/>
              </a:rPr>
              <a:t> </a:t>
            </a:r>
            <a:r>
              <a:rPr lang="en-US" sz="2000" err="1" smtClean="0">
                <a:latin typeface="Arial" panose="020B0604020202020204" pitchFamily="34" charset="0"/>
                <a:cs typeface="Arial" panose="020B0604020202020204" pitchFamily="34" charset="0"/>
              </a:rPr>
              <a:t>quầy</a:t>
            </a:r>
            <a:r>
              <a:rPr lang="en-US" sz="2000" smtClean="0">
                <a:latin typeface="Arial" panose="020B0604020202020204" pitchFamily="34" charset="0"/>
                <a:cs typeface="Arial" panose="020B0604020202020204" pitchFamily="34" charset="0"/>
              </a:rPr>
              <a:t> </a:t>
            </a:r>
            <a:r>
              <a:rPr lang="en-US" sz="2000" err="1" smtClean="0">
                <a:latin typeface="Arial" panose="020B0604020202020204" pitchFamily="34" charset="0"/>
                <a:cs typeface="Arial" panose="020B0604020202020204" pitchFamily="34" charset="0"/>
              </a:rPr>
              <a:t>tiếp</a:t>
            </a:r>
            <a:r>
              <a:rPr lang="en-US" sz="2000" smtClean="0">
                <a:latin typeface="Arial" panose="020B0604020202020204" pitchFamily="34" charset="0"/>
                <a:cs typeface="Arial" panose="020B0604020202020204" pitchFamily="34" charset="0"/>
              </a:rPr>
              <a:t> </a:t>
            </a:r>
            <a:r>
              <a:rPr lang="en-US" sz="2000" err="1" smtClean="0">
                <a:latin typeface="Arial" panose="020B0604020202020204" pitchFamily="34" charset="0"/>
                <a:cs typeface="Arial" panose="020B0604020202020204" pitchFamily="34" charset="0"/>
              </a:rPr>
              <a:t>nhận</a:t>
            </a:r>
            <a:r>
              <a:rPr lang="en-US" sz="2000" smtClean="0">
                <a:latin typeface="Arial" panose="020B0604020202020204" pitchFamily="34" charset="0"/>
                <a:cs typeface="Arial" panose="020B0604020202020204" pitchFamily="34" charset="0"/>
              </a:rPr>
              <a:t> </a:t>
            </a:r>
            <a:r>
              <a:rPr lang="en-US" sz="2000" err="1" smtClean="0">
                <a:latin typeface="Arial" panose="020B0604020202020204" pitchFamily="34" charset="0"/>
                <a:cs typeface="Arial" panose="020B0604020202020204" pitchFamily="34" charset="0"/>
              </a:rPr>
              <a:t>của</a:t>
            </a:r>
            <a:r>
              <a:rPr lang="en-US" sz="2000" smtClean="0">
                <a:latin typeface="Arial" panose="020B0604020202020204" pitchFamily="34" charset="0"/>
                <a:cs typeface="Arial" panose="020B0604020202020204" pitchFamily="34" charset="0"/>
              </a:rPr>
              <a:t> </a:t>
            </a:r>
            <a:r>
              <a:rPr lang="en-US" sz="2000" err="1" smtClean="0">
                <a:latin typeface="Arial" panose="020B0604020202020204" pitchFamily="34" charset="0"/>
                <a:cs typeface="Arial" panose="020B0604020202020204" pitchFamily="34" charset="0"/>
              </a:rPr>
              <a:t>đơn</a:t>
            </a:r>
            <a:r>
              <a:rPr lang="en-US" sz="2000" smtClean="0">
                <a:latin typeface="Arial" panose="020B0604020202020204" pitchFamily="34" charset="0"/>
                <a:cs typeface="Arial" panose="020B0604020202020204" pitchFamily="34" charset="0"/>
              </a:rPr>
              <a:t> </a:t>
            </a:r>
            <a:r>
              <a:rPr lang="en-US" sz="2000" err="1" smtClean="0">
                <a:latin typeface="Arial" panose="020B0604020202020204" pitchFamily="34" charset="0"/>
                <a:cs typeface="Arial" panose="020B0604020202020204" pitchFamily="34" charset="0"/>
              </a:rPr>
              <a:t>vị</a:t>
            </a:r>
            <a:endParaRPr lang="en-US" sz="2000">
              <a:latin typeface="Arial" panose="020B0604020202020204" pitchFamily="34" charset="0"/>
              <a:cs typeface="Arial" panose="020B0604020202020204" pitchFamily="34" charset="0"/>
            </a:endParaRPr>
          </a:p>
        </p:txBody>
      </p:sp>
      <p:pic>
        <p:nvPicPr>
          <p:cNvPr id="10" name="Picture 9"/>
          <p:cNvPicPr>
            <a:picLocks noChangeAspect="1"/>
          </p:cNvPicPr>
          <p:nvPr/>
        </p:nvPicPr>
        <p:blipFill rotWithShape="1">
          <a:blip r:embed="rId2">
            <a:extLst>
              <a:ext uri="{28A0092B-C50C-407E-A947-70E740481C1C}">
                <a14:useLocalDpi xmlns:a14="http://schemas.microsoft.com/office/drawing/2010/main" val="0"/>
              </a:ext>
            </a:extLst>
          </a:blip>
          <a:srcRect t="15402" b="14039"/>
          <a:stretch/>
        </p:blipFill>
        <p:spPr>
          <a:xfrm>
            <a:off x="1907704" y="2758632"/>
            <a:ext cx="2143125" cy="1512168"/>
          </a:xfrm>
          <a:prstGeom prst="rect">
            <a:avLst/>
          </a:prstGeom>
        </p:spPr>
      </p:pic>
      <p:pic>
        <p:nvPicPr>
          <p:cNvPr id="11" name="Picture 10"/>
          <p:cNvPicPr>
            <a:picLocks noChangeAspect="1"/>
          </p:cNvPicPr>
          <p:nvPr/>
        </p:nvPicPr>
        <p:blipFill rotWithShape="1">
          <a:blip r:embed="rId3">
            <a:extLst>
              <a:ext uri="{28A0092B-C50C-407E-A947-70E740481C1C}">
                <a14:useLocalDpi xmlns:a14="http://schemas.microsoft.com/office/drawing/2010/main" val="0"/>
              </a:ext>
            </a:extLst>
          </a:blip>
          <a:srcRect l="28000" t="7013" r="8365" b="8494"/>
          <a:stretch/>
        </p:blipFill>
        <p:spPr>
          <a:xfrm>
            <a:off x="5364088" y="5009387"/>
            <a:ext cx="1800200" cy="1368152"/>
          </a:xfrm>
          <a:prstGeom prst="rect">
            <a:avLst/>
          </a:prstGeom>
        </p:spPr>
      </p:pic>
    </p:spTree>
    <p:extLst>
      <p:ext uri="{BB962C8B-B14F-4D97-AF65-F5344CB8AC3E}">
        <p14:creationId xmlns:p14="http://schemas.microsoft.com/office/powerpoint/2010/main" val="247683225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0" y="2636912"/>
            <a:ext cx="9144000" cy="936104"/>
          </a:xfrm>
        </p:spPr>
        <p:txBody>
          <a:bodyPr>
            <a:normAutofit/>
          </a:bodyPr>
          <a:lstStyle/>
          <a:p>
            <a:pPr algn="ctr"/>
            <a:r>
              <a:rPr lang="en-US" sz="4800" err="1" smtClean="0">
                <a:solidFill>
                  <a:srgbClr val="FFFF00"/>
                </a:solidFill>
              </a:rPr>
              <a:t>Một</a:t>
            </a:r>
            <a:r>
              <a:rPr lang="en-US" sz="4800" smtClean="0">
                <a:solidFill>
                  <a:srgbClr val="FFFF00"/>
                </a:solidFill>
              </a:rPr>
              <a:t> </a:t>
            </a:r>
            <a:r>
              <a:rPr lang="en-US" sz="4800" err="1" smtClean="0">
                <a:solidFill>
                  <a:srgbClr val="FFFF00"/>
                </a:solidFill>
              </a:rPr>
              <a:t>số</a:t>
            </a:r>
            <a:r>
              <a:rPr lang="en-US" sz="4800" smtClean="0">
                <a:solidFill>
                  <a:srgbClr val="FFFF00"/>
                </a:solidFill>
              </a:rPr>
              <a:t> </a:t>
            </a:r>
            <a:r>
              <a:rPr lang="en-US" sz="4800" err="1" smtClean="0">
                <a:solidFill>
                  <a:srgbClr val="FFFF00"/>
                </a:solidFill>
              </a:rPr>
              <a:t>màn</a:t>
            </a:r>
            <a:r>
              <a:rPr lang="en-US" sz="4800" smtClean="0">
                <a:solidFill>
                  <a:srgbClr val="FFFF00"/>
                </a:solidFill>
              </a:rPr>
              <a:t> </a:t>
            </a:r>
            <a:r>
              <a:rPr lang="en-US" sz="4800" err="1" smtClean="0">
                <a:solidFill>
                  <a:srgbClr val="FFFF00"/>
                </a:solidFill>
              </a:rPr>
              <a:t>hình</a:t>
            </a:r>
            <a:r>
              <a:rPr lang="en-US" sz="4800" smtClean="0">
                <a:solidFill>
                  <a:srgbClr val="FFFF00"/>
                </a:solidFill>
              </a:rPr>
              <a:t> minh </a:t>
            </a:r>
            <a:r>
              <a:rPr lang="en-US" sz="4800" err="1" smtClean="0">
                <a:solidFill>
                  <a:srgbClr val="FFFF00"/>
                </a:solidFill>
              </a:rPr>
              <a:t>họa</a:t>
            </a:r>
            <a:endParaRPr lang="vi-VN" sz="4800">
              <a:solidFill>
                <a:srgbClr val="FFFF00"/>
              </a:solidFill>
            </a:endParaRPr>
          </a:p>
        </p:txBody>
      </p:sp>
      <p:sp>
        <p:nvSpPr>
          <p:cNvPr id="5"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Tree>
    <p:extLst>
      <p:ext uri="{BB962C8B-B14F-4D97-AF65-F5344CB8AC3E}">
        <p14:creationId xmlns:p14="http://schemas.microsoft.com/office/powerpoint/2010/main" val="59952630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pic>
        <p:nvPicPr>
          <p:cNvPr id="3" name="Picture 2"/>
          <p:cNvPicPr>
            <a:picLocks noChangeAspect="1"/>
          </p:cNvPicPr>
          <p:nvPr/>
        </p:nvPicPr>
        <p:blipFill rotWithShape="1">
          <a:blip r:embed="rId2" cstate="print">
            <a:extLst>
              <a:ext uri="{28A0092B-C50C-407E-A947-70E740481C1C}">
                <a14:useLocalDpi xmlns:a14="http://schemas.microsoft.com/office/drawing/2010/main" val="0"/>
              </a:ext>
            </a:extLst>
          </a:blip>
          <a:srcRect t="9051"/>
          <a:stretch/>
        </p:blipFill>
        <p:spPr>
          <a:xfrm>
            <a:off x="1547664" y="-1"/>
            <a:ext cx="5688632" cy="6898371"/>
          </a:xfrm>
          <a:prstGeom prst="rect">
            <a:avLst/>
          </a:prstGeom>
        </p:spPr>
      </p:pic>
    </p:spTree>
    <p:extLst>
      <p:ext uri="{BB962C8B-B14F-4D97-AF65-F5344CB8AC3E}">
        <p14:creationId xmlns:p14="http://schemas.microsoft.com/office/powerpoint/2010/main" val="67508168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pic>
        <p:nvPicPr>
          <p:cNvPr id="2" name="Picture 1"/>
          <p:cNvPicPr>
            <a:picLocks noChangeAspect="1"/>
          </p:cNvPicPr>
          <p:nvPr/>
        </p:nvPicPr>
        <p:blipFill rotWithShape="1">
          <a:blip r:embed="rId2" cstate="print">
            <a:extLst>
              <a:ext uri="{28A0092B-C50C-407E-A947-70E740481C1C}">
                <a14:useLocalDpi xmlns:a14="http://schemas.microsoft.com/office/drawing/2010/main" val="0"/>
              </a:ext>
            </a:extLst>
          </a:blip>
          <a:srcRect t="10101"/>
          <a:stretch/>
        </p:blipFill>
        <p:spPr>
          <a:xfrm>
            <a:off x="1619672" y="20960"/>
            <a:ext cx="5688632" cy="6818732"/>
          </a:xfrm>
          <a:prstGeom prst="rect">
            <a:avLst/>
          </a:prstGeom>
        </p:spPr>
      </p:pic>
    </p:spTree>
    <p:extLst>
      <p:ext uri="{BB962C8B-B14F-4D97-AF65-F5344CB8AC3E}">
        <p14:creationId xmlns:p14="http://schemas.microsoft.com/office/powerpoint/2010/main" val="203131202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grpSp>
        <p:nvGrpSpPr>
          <p:cNvPr id="4" name="Group 3"/>
          <p:cNvGrpSpPr/>
          <p:nvPr/>
        </p:nvGrpSpPr>
        <p:grpSpPr>
          <a:xfrm>
            <a:off x="0" y="146555"/>
            <a:ext cx="9144000" cy="6450797"/>
            <a:chOff x="539552" y="188640"/>
            <a:chExt cx="7848872" cy="5760640"/>
          </a:xfrm>
        </p:grpSpPr>
        <p:pic>
          <p:nvPicPr>
            <p:cNvPr id="3" name="Picture 2"/>
            <p:cNvPicPr>
              <a:picLocks noChangeAspect="1"/>
            </p:cNvPicPr>
            <p:nvPr/>
          </p:nvPicPr>
          <p:blipFill rotWithShape="1">
            <a:blip r:embed="rId2"/>
            <a:srcRect l="32098" t="13781" r="7578" b="7470"/>
            <a:stretch/>
          </p:blipFill>
          <p:spPr>
            <a:xfrm>
              <a:off x="539552" y="188640"/>
              <a:ext cx="7848872" cy="5760640"/>
            </a:xfrm>
            <a:prstGeom prst="rect">
              <a:avLst/>
            </a:prstGeom>
          </p:spPr>
        </p:pic>
        <p:pic>
          <p:nvPicPr>
            <p:cNvPr id="7" name="Picture 6"/>
            <p:cNvPicPr>
              <a:picLocks noChangeAspect="1"/>
            </p:cNvPicPr>
            <p:nvPr/>
          </p:nvPicPr>
          <p:blipFill rotWithShape="1">
            <a:blip r:embed="rId3" cstate="print">
              <a:extLst>
                <a:ext uri="{28A0092B-C50C-407E-A947-70E740481C1C}">
                  <a14:useLocalDpi xmlns:a14="http://schemas.microsoft.com/office/drawing/2010/main" val="0"/>
                </a:ext>
              </a:extLst>
            </a:blip>
            <a:srcRect t="28627" b="33398"/>
            <a:stretch/>
          </p:blipFill>
          <p:spPr>
            <a:xfrm>
              <a:off x="751735" y="1124744"/>
              <a:ext cx="5171484" cy="2427063"/>
            </a:xfrm>
            <a:prstGeom prst="rect">
              <a:avLst/>
            </a:prstGeom>
          </p:spPr>
        </p:pic>
        <p:pic>
          <p:nvPicPr>
            <p:cNvPr id="16" name="Picture 15"/>
            <p:cNvPicPr>
              <a:picLocks noChangeAspect="1"/>
            </p:cNvPicPr>
            <p:nvPr/>
          </p:nvPicPr>
          <p:blipFill rotWithShape="1">
            <a:blip r:embed="rId3" cstate="print">
              <a:extLst>
                <a:ext uri="{28A0092B-C50C-407E-A947-70E740481C1C}">
                  <a14:useLocalDpi xmlns:a14="http://schemas.microsoft.com/office/drawing/2010/main" val="0"/>
                </a:ext>
              </a:extLst>
            </a:blip>
            <a:srcRect l="93671" t="28627" b="33398"/>
            <a:stretch/>
          </p:blipFill>
          <p:spPr>
            <a:xfrm>
              <a:off x="5923218" y="1124744"/>
              <a:ext cx="2465205" cy="2427063"/>
            </a:xfrm>
            <a:prstGeom prst="rect">
              <a:avLst/>
            </a:prstGeom>
          </p:spPr>
        </p:pic>
      </p:grpSp>
    </p:spTree>
    <p:extLst>
      <p:ext uri="{BB962C8B-B14F-4D97-AF65-F5344CB8AC3E}">
        <p14:creationId xmlns:p14="http://schemas.microsoft.com/office/powerpoint/2010/main" val="284951272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404664"/>
            <a:ext cx="8229600" cy="1143000"/>
          </a:xfrm>
        </p:spPr>
        <p:txBody>
          <a:bodyPr/>
          <a:lstStyle/>
          <a:p>
            <a:r>
              <a:rPr lang="vi-VN" dirty="0" smtClean="0"/>
              <a:t>Các chức năng tổng hợp lại</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370741924"/>
              </p:ext>
            </p:extLst>
          </p:nvPr>
        </p:nvGraphicFramePr>
        <p:xfrm>
          <a:off x="35497" y="1547664"/>
          <a:ext cx="9145015" cy="4394200"/>
        </p:xfrm>
        <a:graphic>
          <a:graphicData uri="http://schemas.openxmlformats.org/drawingml/2006/table">
            <a:tbl>
              <a:tblPr firstRow="1" bandRow="1">
                <a:tableStyleId>{5C22544A-7EE6-4342-B048-85BDC9FD1C3A}</a:tableStyleId>
              </a:tblPr>
              <a:tblGrid>
                <a:gridCol w="663751"/>
                <a:gridCol w="2876255"/>
                <a:gridCol w="5605009"/>
              </a:tblGrid>
              <a:tr h="370840">
                <a:tc>
                  <a:txBody>
                    <a:bodyPr/>
                    <a:lstStyle/>
                    <a:p>
                      <a:r>
                        <a:rPr lang="vi-VN" dirty="0" smtClean="0"/>
                        <a:t>STT</a:t>
                      </a:r>
                      <a:endParaRPr lang="en-US" dirty="0"/>
                    </a:p>
                  </a:txBody>
                  <a:tcPr/>
                </a:tc>
                <a:tc>
                  <a:txBody>
                    <a:bodyPr/>
                    <a:lstStyle/>
                    <a:p>
                      <a:r>
                        <a:rPr lang="vi-VN" dirty="0" smtClean="0"/>
                        <a:t>Tên</a:t>
                      </a:r>
                      <a:r>
                        <a:rPr lang="vi-VN" baseline="0" dirty="0" smtClean="0"/>
                        <a:t> chức năng </a:t>
                      </a:r>
                      <a:endParaRPr lang="en-US" dirty="0"/>
                    </a:p>
                  </a:txBody>
                  <a:tcPr/>
                </a:tc>
                <a:tc>
                  <a:txBody>
                    <a:bodyPr/>
                    <a:lstStyle/>
                    <a:p>
                      <a:r>
                        <a:rPr lang="vi-VN" dirty="0" smtClean="0"/>
                        <a:t>Mô</a:t>
                      </a:r>
                      <a:r>
                        <a:rPr lang="vi-VN" baseline="0" dirty="0" smtClean="0"/>
                        <a:t> tả</a:t>
                      </a:r>
                      <a:endParaRPr lang="en-US" dirty="0"/>
                    </a:p>
                  </a:txBody>
                  <a:tcPr/>
                </a:tc>
              </a:tr>
              <a:tr h="370840">
                <a:tc>
                  <a:txBody>
                    <a:bodyPr/>
                    <a:lstStyle/>
                    <a:p>
                      <a:pPr algn="ctr"/>
                      <a:r>
                        <a:rPr lang="vi-VN" dirty="0" smtClean="0"/>
                        <a:t>1</a:t>
                      </a:r>
                      <a:endParaRPr lang="en-US" dirty="0"/>
                    </a:p>
                  </a:txBody>
                  <a:tcPr/>
                </a:tc>
                <a:tc>
                  <a:txBody>
                    <a:bodyPr/>
                    <a:lstStyle/>
                    <a:p>
                      <a:r>
                        <a:rPr lang="vi-VN" dirty="0" smtClean="0"/>
                        <a:t>Quản</a:t>
                      </a:r>
                      <a:r>
                        <a:rPr lang="vi-VN" baseline="0" dirty="0" smtClean="0"/>
                        <a:t> lý tài khoản quản trị, lãnh đạo, quyền truy cập</a:t>
                      </a:r>
                      <a:endParaRPr lang="en-US" dirty="0"/>
                    </a:p>
                  </a:txBody>
                  <a:tcPr/>
                </a:tc>
                <a:tc>
                  <a:txBody>
                    <a:bodyPr/>
                    <a:lstStyle/>
                    <a:p>
                      <a:r>
                        <a:rPr lang="vi-VN" dirty="0" smtClean="0"/>
                        <a:t>Quản</a:t>
                      </a:r>
                      <a:r>
                        <a:rPr lang="vi-VN" baseline="0" dirty="0" smtClean="0"/>
                        <a:t> trị gồm SAdmin (toàn hệ thống) và Admin (đơn vị), quyền truy cập cho từng admin, lãnh đạo</a:t>
                      </a:r>
                      <a:endParaRPr lang="en-US" dirty="0"/>
                    </a:p>
                  </a:txBody>
                  <a:tcPr/>
                </a:tc>
              </a:tr>
              <a:tr h="370840">
                <a:tc>
                  <a:txBody>
                    <a:bodyPr/>
                    <a:lstStyle/>
                    <a:p>
                      <a:pPr algn="ctr"/>
                      <a:r>
                        <a:rPr lang="vi-VN" dirty="0" smtClean="0"/>
                        <a:t>2</a:t>
                      </a:r>
                      <a:endParaRPr lang="en-US" dirty="0"/>
                    </a:p>
                  </a:txBody>
                  <a:tcPr/>
                </a:tc>
                <a:tc>
                  <a:txBody>
                    <a:bodyPr/>
                    <a:lstStyle/>
                    <a:p>
                      <a:r>
                        <a:rPr lang="vi-VN" dirty="0" smtClean="0"/>
                        <a:t>Quản</a:t>
                      </a:r>
                      <a:r>
                        <a:rPr lang="vi-VN" baseline="0" dirty="0" smtClean="0"/>
                        <a:t> lý danh mục tiêu chí</a:t>
                      </a:r>
                      <a:endParaRPr lang="en-US" dirty="0"/>
                    </a:p>
                  </a:txBody>
                  <a:tcPr/>
                </a:tc>
                <a:tc>
                  <a:txBody>
                    <a:bodyPr/>
                    <a:lstStyle/>
                    <a:p>
                      <a:r>
                        <a:rPr lang="vi-VN" dirty="0" smtClean="0"/>
                        <a:t>-   Các</a:t>
                      </a:r>
                      <a:r>
                        <a:rPr lang="vi-VN" baseline="0" dirty="0" smtClean="0"/>
                        <a:t> tiêu chí đánh giá cố định, thống nhất cho tất cả các đơn vị, có hệ số đánh giá</a:t>
                      </a:r>
                      <a:endParaRPr lang="en-US" dirty="0"/>
                    </a:p>
                  </a:txBody>
                  <a:tcPr/>
                </a:tc>
              </a:tr>
              <a:tr h="370840">
                <a:tc>
                  <a:txBody>
                    <a:bodyPr/>
                    <a:lstStyle/>
                    <a:p>
                      <a:pPr algn="ctr"/>
                      <a:r>
                        <a:rPr lang="vi-VN" dirty="0" smtClean="0"/>
                        <a:t>3</a:t>
                      </a:r>
                      <a:endParaRPr lang="en-US" dirty="0"/>
                    </a:p>
                  </a:txBody>
                  <a:tcPr/>
                </a:tc>
                <a:tc>
                  <a:txBody>
                    <a:bodyPr/>
                    <a:lstStyle/>
                    <a:p>
                      <a:r>
                        <a:rPr lang="vi-VN" dirty="0" smtClean="0"/>
                        <a:t>Thống</a:t>
                      </a:r>
                      <a:r>
                        <a:rPr lang="vi-VN" baseline="0" dirty="0" smtClean="0"/>
                        <a:t> kê </a:t>
                      </a:r>
                      <a:endParaRPr lang="en-US" dirty="0"/>
                    </a:p>
                  </a:txBody>
                  <a:tcPr/>
                </a:tc>
                <a:tc>
                  <a:txBody>
                    <a:bodyPr/>
                    <a:lstStyle/>
                    <a:p>
                      <a:pPr marL="285750" indent="-285750">
                        <a:buFontTx/>
                        <a:buChar char="-"/>
                      </a:pPr>
                      <a:r>
                        <a:rPr lang="vi-VN" dirty="0" smtClean="0"/>
                        <a:t>Thống</a:t>
                      </a:r>
                      <a:r>
                        <a:rPr lang="vi-VN" baseline="0" dirty="0" smtClean="0"/>
                        <a:t> kê theo các biểu mẫu cố định theo đơn vị, theo tiêu chí, theo cán bộ, xuất .doc, .xls, pdf</a:t>
                      </a:r>
                    </a:p>
                    <a:p>
                      <a:pPr marL="285750" indent="-285750">
                        <a:buFontTx/>
                        <a:buChar char="-"/>
                      </a:pPr>
                      <a:r>
                        <a:rPr lang="vi-VN" baseline="0" dirty="0" smtClean="0"/>
                        <a:t>Một số biểu đồ cố định</a:t>
                      </a:r>
                      <a:endParaRPr lang="en-US" dirty="0"/>
                    </a:p>
                  </a:txBody>
                  <a:tcPr/>
                </a:tc>
              </a:tr>
              <a:tr h="370840">
                <a:tc>
                  <a:txBody>
                    <a:bodyPr/>
                    <a:lstStyle/>
                    <a:p>
                      <a:pPr algn="ctr"/>
                      <a:r>
                        <a:rPr lang="vi-VN" dirty="0" smtClean="0"/>
                        <a:t>4</a:t>
                      </a:r>
                      <a:endParaRPr lang="en-US" dirty="0"/>
                    </a:p>
                  </a:txBody>
                  <a:tcPr/>
                </a:tc>
                <a:tc>
                  <a:txBody>
                    <a:bodyPr/>
                    <a:lstStyle/>
                    <a:p>
                      <a:r>
                        <a:rPr lang="vi-VN" dirty="0" smtClean="0"/>
                        <a:t>Chức</a:t>
                      </a:r>
                      <a:r>
                        <a:rPr lang="vi-VN" baseline="0" dirty="0" smtClean="0"/>
                        <a:t> năng đánh giá (có 3 phương án được </a:t>
                      </a:r>
                      <a:r>
                        <a:rPr lang="vi-VN" baseline="0" smtClean="0"/>
                        <a:t>đề xuất</a:t>
                      </a:r>
                      <a:r>
                        <a:rPr lang="vi-VN" baseline="0" dirty="0" smtClean="0"/>
                        <a:t>)</a:t>
                      </a:r>
                      <a:endParaRPr lang="en-US" dirty="0"/>
                    </a:p>
                  </a:txBody>
                  <a:tcPr/>
                </a:tc>
                <a:tc>
                  <a:txBody>
                    <a:bodyPr/>
                    <a:lstStyle/>
                    <a:p>
                      <a:pPr marL="285750" indent="-285750">
                        <a:buFontTx/>
                        <a:buChar char="-"/>
                      </a:pPr>
                      <a:r>
                        <a:rPr lang="vi-VN" dirty="0" smtClean="0"/>
                        <a:t>Người</a:t>
                      </a:r>
                      <a:r>
                        <a:rPr lang="vi-VN" baseline="0" dirty="0" smtClean="0"/>
                        <a:t> dân sẽ đánh giá theo các tiêu chí cố định, mỗi lần đánh giá gắn liền với 1 hồ sơ và cán bộ tiếp nhận</a:t>
                      </a:r>
                      <a:endParaRPr lang="en-US" dirty="0"/>
                    </a:p>
                  </a:txBody>
                  <a:tcPr/>
                </a:tc>
              </a:tr>
              <a:tr h="370840">
                <a:tc>
                  <a:txBody>
                    <a:bodyPr/>
                    <a:lstStyle/>
                    <a:p>
                      <a:pPr algn="ctr"/>
                      <a:r>
                        <a:rPr lang="vi-VN" dirty="0" smtClean="0"/>
                        <a:t>5</a:t>
                      </a:r>
                      <a:endParaRPr lang="en-US" dirty="0"/>
                    </a:p>
                  </a:txBody>
                  <a:tcPr/>
                </a:tc>
                <a:tc>
                  <a:txBody>
                    <a:bodyPr/>
                    <a:lstStyle/>
                    <a:p>
                      <a:r>
                        <a:rPr lang="vi-VN" dirty="0" smtClean="0"/>
                        <a:t>Hệ</a:t>
                      </a:r>
                      <a:r>
                        <a:rPr lang="vi-VN" baseline="0" dirty="0" smtClean="0"/>
                        <a:t> thống gửi email và sms đến người dân</a:t>
                      </a:r>
                      <a:endParaRPr lang="en-US" dirty="0"/>
                    </a:p>
                  </a:txBody>
                  <a:tcPr/>
                </a:tc>
                <a:tc>
                  <a:txBody>
                    <a:bodyPr/>
                    <a:lstStyle/>
                    <a:p>
                      <a:pPr marL="285750" marR="0" indent="-285750" algn="l" defTabSz="914400" rtl="0" eaLnBrk="1" fontAlgn="auto" latinLnBrk="0" hangingPunct="1">
                        <a:lnSpc>
                          <a:spcPct val="100000"/>
                        </a:lnSpc>
                        <a:spcBef>
                          <a:spcPts val="0"/>
                        </a:spcBef>
                        <a:spcAft>
                          <a:spcPts val="0"/>
                        </a:spcAft>
                        <a:buClrTx/>
                        <a:buSzTx/>
                        <a:buFontTx/>
                        <a:buChar char="-"/>
                        <a:tabLst/>
                        <a:defRPr/>
                      </a:pPr>
                      <a:r>
                        <a:rPr lang="vi-VN" baseline="0" dirty="0" smtClean="0"/>
                        <a:t>Nếu hồ sơ chưa được đánh giá, hệ thống định kỳ sẽ gửi thông tin đánh giá qua email và tin nhắn điện thoại của người dân, hướng dẫn truy cập vào trang web đánh giá</a:t>
                      </a:r>
                      <a:endParaRPr lang="en-US" dirty="0" smtClean="0"/>
                    </a:p>
                    <a:p>
                      <a:pPr marL="285750" indent="-285750">
                        <a:buFontTx/>
                        <a:buChar char="-"/>
                      </a:pPr>
                      <a:endParaRPr lang="en-US" dirty="0"/>
                    </a:p>
                  </a:txBody>
                  <a:tcPr/>
                </a:tc>
              </a:tr>
            </a:tbl>
          </a:graphicData>
        </a:graphic>
      </p:graphicFrame>
    </p:spTree>
    <p:extLst>
      <p:ext uri="{BB962C8B-B14F-4D97-AF65-F5344CB8AC3E}">
        <p14:creationId xmlns:p14="http://schemas.microsoft.com/office/powerpoint/2010/main" val="304072629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vi-VN" dirty="0"/>
              <a:t>Các phương án đánh giá cán bộ</a:t>
            </a:r>
            <a:endParaRPr lang="en-US" dirty="0"/>
          </a:p>
        </p:txBody>
      </p:sp>
      <p:sp>
        <p:nvSpPr>
          <p:cNvPr id="3" name="Content Placeholder 2"/>
          <p:cNvSpPr>
            <a:spLocks noGrp="1"/>
          </p:cNvSpPr>
          <p:nvPr>
            <p:ph idx="1"/>
          </p:nvPr>
        </p:nvSpPr>
        <p:spPr/>
        <p:txBody>
          <a:bodyPr>
            <a:normAutofit fontScale="92500" lnSpcReduction="20000"/>
          </a:bodyPr>
          <a:lstStyle/>
          <a:p>
            <a:pPr marL="0" indent="0">
              <a:buNone/>
            </a:pPr>
            <a:r>
              <a:rPr lang="vi-VN" sz="3500" b="1" dirty="0" smtClean="0"/>
              <a:t>Phương án 1:</a:t>
            </a:r>
          </a:p>
          <a:p>
            <a:pPr marL="0" indent="0">
              <a:buNone/>
            </a:pPr>
            <a:r>
              <a:rPr lang="vi-VN" b="1" dirty="0" smtClean="0"/>
              <a:t>Mô tả: </a:t>
            </a:r>
            <a:r>
              <a:rPr lang="vi-VN" dirty="0"/>
              <a:t>Người dân nộp hồ sơ xong sẽ có phiếu biên nhận, đến bất kỳ máy tính nào nhập vào </a:t>
            </a:r>
            <a:r>
              <a:rPr lang="vi-VN" b="1" dirty="0">
                <a:solidFill>
                  <a:srgbClr val="FF0000"/>
                </a:solidFill>
              </a:rPr>
              <a:t>số biên nhận </a:t>
            </a:r>
            <a:r>
              <a:rPr lang="vi-VN" dirty="0"/>
              <a:t>và tiến hành đánh giá</a:t>
            </a:r>
            <a:endParaRPr lang="en-US" dirty="0"/>
          </a:p>
          <a:p>
            <a:pPr marL="0" indent="0">
              <a:buNone/>
            </a:pPr>
            <a:endParaRPr lang="en-US" dirty="0"/>
          </a:p>
          <a:p>
            <a:pPr marL="285750" indent="-285750">
              <a:buFontTx/>
              <a:buChar char="-"/>
            </a:pPr>
            <a:r>
              <a:rPr lang="vi-VN" sz="3000" dirty="0"/>
              <a:t>Ưu điểm: người dân có thể đánh giá chính xác hồ sơ và cán bộ tiếp nhận</a:t>
            </a:r>
          </a:p>
          <a:p>
            <a:pPr marL="285750" indent="-285750">
              <a:buFontTx/>
              <a:buChar char="-"/>
            </a:pPr>
            <a:r>
              <a:rPr lang="vi-VN" sz="3000" dirty="0"/>
              <a:t>Nhược điểm: </a:t>
            </a:r>
          </a:p>
          <a:p>
            <a:pPr marL="742950" lvl="1" indent="-285750">
              <a:buFont typeface="Arial" panose="020B0604020202020204" pitchFamily="34" charset="0"/>
              <a:buChar char="•"/>
            </a:pPr>
            <a:r>
              <a:rPr lang="vi-VN" sz="2600" dirty="0"/>
              <a:t>Nếu người dân không đánh giá, </a:t>
            </a:r>
            <a:r>
              <a:rPr lang="vi-VN" sz="2600" dirty="0">
                <a:solidFill>
                  <a:srgbClr val="FF0000"/>
                </a:solidFill>
              </a:rPr>
              <a:t>bất kỳ cán bộ nào cũng có thể nhập vào </a:t>
            </a:r>
            <a:r>
              <a:rPr lang="vi-VN" sz="2600" b="1" dirty="0">
                <a:solidFill>
                  <a:srgbClr val="FF0000"/>
                </a:solidFill>
              </a:rPr>
              <a:t>số biên nhận </a:t>
            </a:r>
            <a:r>
              <a:rPr lang="vi-VN" sz="2600" dirty="0"/>
              <a:t>và tự đánh giá</a:t>
            </a:r>
          </a:p>
          <a:p>
            <a:pPr marL="742950" lvl="1" indent="-285750">
              <a:buFont typeface="Arial" panose="020B0604020202020204" pitchFamily="34" charset="0"/>
              <a:buChar char="•"/>
            </a:pPr>
            <a:r>
              <a:rPr lang="vi-VN" sz="2600" dirty="0"/>
              <a:t>Người dân phải đợi đến khi hồ sơ được tiếp nhận mới có thể tiến hành đánh </a:t>
            </a:r>
            <a:r>
              <a:rPr lang="vi-VN" sz="2600" dirty="0" smtClean="0"/>
              <a:t>giá: không tiện dụng vì có trường hợp không nộp hồ sơ nhưng vẫn muốn đánh giá</a:t>
            </a:r>
            <a:endParaRPr lang="en-US" sz="2600" dirty="0"/>
          </a:p>
          <a:p>
            <a:endParaRPr lang="en-US" dirty="0"/>
          </a:p>
        </p:txBody>
      </p:sp>
    </p:spTree>
    <p:extLst>
      <p:ext uri="{BB962C8B-B14F-4D97-AF65-F5344CB8AC3E}">
        <p14:creationId xmlns:p14="http://schemas.microsoft.com/office/powerpoint/2010/main" val="272886599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vi-VN" dirty="0"/>
              <a:t>Các phương án đánh giá cán bộ</a:t>
            </a:r>
            <a:endParaRPr lang="en-US" dirty="0"/>
          </a:p>
        </p:txBody>
      </p:sp>
      <p:sp>
        <p:nvSpPr>
          <p:cNvPr id="3" name="Content Placeholder 2"/>
          <p:cNvSpPr>
            <a:spLocks noGrp="1"/>
          </p:cNvSpPr>
          <p:nvPr>
            <p:ph idx="1"/>
          </p:nvPr>
        </p:nvSpPr>
        <p:spPr>
          <a:xfrm>
            <a:off x="457200" y="1935480"/>
            <a:ext cx="8229600" cy="4922520"/>
          </a:xfrm>
        </p:spPr>
        <p:txBody>
          <a:bodyPr>
            <a:normAutofit fontScale="40000" lnSpcReduction="20000"/>
          </a:bodyPr>
          <a:lstStyle/>
          <a:p>
            <a:pPr marL="0" indent="0">
              <a:buNone/>
            </a:pPr>
            <a:r>
              <a:rPr lang="vi-VN" sz="8000" b="1" dirty="0" smtClean="0"/>
              <a:t>Phương án 2:</a:t>
            </a:r>
          </a:p>
          <a:p>
            <a:pPr marL="0" indent="0">
              <a:buNone/>
            </a:pPr>
            <a:r>
              <a:rPr lang="vi-VN" sz="5500" b="1" dirty="0" smtClean="0"/>
              <a:t>Mô tả: </a:t>
            </a:r>
            <a:r>
              <a:rPr lang="vi-VN" sz="5500" dirty="0"/>
              <a:t>Người dân có thể đến bất kỳ máy tính nào để tiến hành đánh giá, chỉ cần nhập </a:t>
            </a:r>
            <a:r>
              <a:rPr lang="vi-VN" sz="5500" b="1" dirty="0">
                <a:solidFill>
                  <a:srgbClr val="FF0000"/>
                </a:solidFill>
              </a:rPr>
              <a:t>mã xác nhận </a:t>
            </a:r>
            <a:r>
              <a:rPr lang="vi-VN" sz="5500" dirty="0"/>
              <a:t>(có thể là số biên nhận, số điện thoại hoặc số CMND</a:t>
            </a:r>
            <a:r>
              <a:rPr lang="vi-VN" sz="5500" dirty="0" smtClean="0"/>
              <a:t>)</a:t>
            </a:r>
          </a:p>
          <a:p>
            <a:pPr marL="0" indent="0">
              <a:buNone/>
            </a:pPr>
            <a:endParaRPr lang="en-US" sz="5500" dirty="0"/>
          </a:p>
          <a:p>
            <a:pPr marL="285750" lvl="1" indent="-285750">
              <a:buClr>
                <a:schemeClr val="accent3"/>
              </a:buClr>
              <a:buSzPct val="95000"/>
              <a:buFontTx/>
              <a:buChar char="-"/>
            </a:pPr>
            <a:r>
              <a:rPr lang="vi-VN" sz="5500" dirty="0"/>
              <a:t>Ưu điểm: </a:t>
            </a:r>
            <a:endParaRPr lang="vi-VN" sz="5500" dirty="0" smtClean="0"/>
          </a:p>
          <a:p>
            <a:pPr marL="845820" lvl="2" indent="-571500">
              <a:buClr>
                <a:schemeClr val="accent3"/>
              </a:buClr>
              <a:buSzPct val="95000"/>
              <a:buFont typeface="Arial" panose="020B0604020202020204" pitchFamily="34" charset="0"/>
              <a:buChar char="•"/>
            </a:pPr>
            <a:r>
              <a:rPr lang="vi-VN" sz="5500" dirty="0" smtClean="0"/>
              <a:t>Người </a:t>
            </a:r>
            <a:r>
              <a:rPr lang="vi-VN" sz="5500" dirty="0"/>
              <a:t>dân có thể đánh giá lúc nào cũng được (trong lúc đang đợi hồ sơ được tiếp </a:t>
            </a:r>
            <a:r>
              <a:rPr lang="vi-VN" sz="5500" dirty="0" smtClean="0"/>
              <a:t>nhận)</a:t>
            </a:r>
          </a:p>
          <a:p>
            <a:pPr marL="845820" lvl="2" indent="-571500">
              <a:buClr>
                <a:schemeClr val="accent3"/>
              </a:buClr>
              <a:buSzPct val="95000"/>
              <a:buFont typeface="Arial" panose="020B0604020202020204" pitchFamily="34" charset="0"/>
              <a:buChar char="•"/>
            </a:pPr>
            <a:r>
              <a:rPr lang="vi-VN" sz="5500" dirty="0" smtClean="0"/>
              <a:t>Có thể thêm </a:t>
            </a:r>
            <a:r>
              <a:rPr lang="vi-VN" sz="5500" dirty="0"/>
              <a:t>hệ thống gửi sms và tin nhắn đến người dân nếu hồ sơ chưa được đánh </a:t>
            </a:r>
            <a:r>
              <a:rPr lang="vi-VN" sz="5500" dirty="0" smtClean="0"/>
              <a:t>giá (định kỳ mỗi tối)</a:t>
            </a:r>
            <a:endParaRPr lang="vi-VN" sz="5500" dirty="0"/>
          </a:p>
          <a:p>
            <a:pPr marL="285750" indent="-285750">
              <a:buFontTx/>
              <a:buChar char="-"/>
            </a:pPr>
            <a:r>
              <a:rPr lang="vi-VN" sz="5500" dirty="0"/>
              <a:t>Nhược điểm: </a:t>
            </a:r>
            <a:endParaRPr lang="vi-VN" sz="5500" dirty="0" smtClean="0"/>
          </a:p>
          <a:p>
            <a:pPr marL="937260" lvl="1" indent="-571500">
              <a:buFont typeface="Arial" panose="020B0604020202020204" pitchFamily="34" charset="0"/>
              <a:buChar char="•"/>
            </a:pPr>
            <a:r>
              <a:rPr lang="vi-VN" sz="5500" dirty="0" smtClean="0"/>
              <a:t>Phải </a:t>
            </a:r>
            <a:r>
              <a:rPr lang="vi-VN" sz="5500" dirty="0"/>
              <a:t>xây dựng hệ thống kiểm tra kết quả đánh giá so khớp </a:t>
            </a:r>
            <a:r>
              <a:rPr lang="vi-VN" sz="5500" b="1" dirty="0">
                <a:solidFill>
                  <a:srgbClr val="FF0000"/>
                </a:solidFill>
              </a:rPr>
              <a:t>mã xác nhận </a:t>
            </a:r>
            <a:r>
              <a:rPr lang="vi-VN" sz="5500" dirty="0"/>
              <a:t>với hồ sơ để xác định hồ sơ và cán bộ được đánh </a:t>
            </a:r>
            <a:r>
              <a:rPr lang="vi-VN" sz="5500" dirty="0" smtClean="0"/>
              <a:t>giá</a:t>
            </a:r>
          </a:p>
          <a:p>
            <a:pPr marL="937260" lvl="1" indent="-571500">
              <a:buFont typeface="Arial" panose="020B0604020202020204" pitchFamily="34" charset="0"/>
              <a:buChar char="•"/>
            </a:pPr>
            <a:r>
              <a:rPr lang="vi-VN" sz="5500" dirty="0" smtClean="0"/>
              <a:t>Có </a:t>
            </a:r>
            <a:r>
              <a:rPr lang="vi-VN" sz="5500" dirty="0"/>
              <a:t>thể dữ liệu đánh giá sẽ bị rác nếu mã xác nhận không khớp được hồ sơ </a:t>
            </a:r>
            <a:r>
              <a:rPr lang="vi-VN" sz="5500" dirty="0" smtClean="0"/>
              <a:t>nào</a:t>
            </a:r>
          </a:p>
          <a:p>
            <a:endParaRPr lang="en-US" dirty="0"/>
          </a:p>
        </p:txBody>
      </p:sp>
    </p:spTree>
    <p:extLst>
      <p:ext uri="{BB962C8B-B14F-4D97-AF65-F5344CB8AC3E}">
        <p14:creationId xmlns:p14="http://schemas.microsoft.com/office/powerpoint/2010/main" val="195404363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vi-VN" dirty="0"/>
              <a:t>Các phương án đánh giá cán bộ</a:t>
            </a:r>
            <a:endParaRPr lang="en-US" dirty="0"/>
          </a:p>
        </p:txBody>
      </p:sp>
      <p:sp>
        <p:nvSpPr>
          <p:cNvPr id="3" name="Content Placeholder 2"/>
          <p:cNvSpPr>
            <a:spLocks noGrp="1"/>
          </p:cNvSpPr>
          <p:nvPr>
            <p:ph idx="1"/>
          </p:nvPr>
        </p:nvSpPr>
        <p:spPr>
          <a:xfrm>
            <a:off x="457200" y="1935480"/>
            <a:ext cx="8229600" cy="4733880"/>
          </a:xfrm>
        </p:spPr>
        <p:txBody>
          <a:bodyPr>
            <a:normAutofit fontScale="62500" lnSpcReduction="20000"/>
          </a:bodyPr>
          <a:lstStyle/>
          <a:p>
            <a:pPr marL="0" indent="0">
              <a:buNone/>
            </a:pPr>
            <a:r>
              <a:rPr lang="vi-VN" sz="4600" b="1" dirty="0" smtClean="0"/>
              <a:t>Phương án 3:</a:t>
            </a:r>
          </a:p>
          <a:p>
            <a:pPr marL="0" indent="0">
              <a:buNone/>
            </a:pPr>
            <a:r>
              <a:rPr lang="vi-VN" sz="3800" b="1" dirty="0" smtClean="0"/>
              <a:t>Mô tả: </a:t>
            </a:r>
            <a:r>
              <a:rPr lang="vi-VN" sz="3800" dirty="0"/>
              <a:t>Người dân nộp hồ sơ xong, hệ thống sẽ gửi </a:t>
            </a:r>
            <a:r>
              <a:rPr lang="vi-VN" sz="3800" b="1" dirty="0">
                <a:solidFill>
                  <a:srgbClr val="FF0000"/>
                </a:solidFill>
              </a:rPr>
              <a:t>mã đánh giá</a:t>
            </a:r>
            <a:r>
              <a:rPr lang="vi-VN" sz="3800" dirty="0"/>
              <a:t> qua email và sms, người dân có thể đến bất kỳ máy tính nào nhập vào mã đánh giá để tiến hành đánh giá</a:t>
            </a:r>
            <a:endParaRPr lang="en-US" sz="3800" dirty="0"/>
          </a:p>
          <a:p>
            <a:pPr marL="0" indent="0">
              <a:buNone/>
            </a:pPr>
            <a:endParaRPr lang="en-US" sz="3400" dirty="0"/>
          </a:p>
          <a:p>
            <a:pPr marL="285750" indent="-285750">
              <a:buFontTx/>
              <a:buChar char="-"/>
            </a:pPr>
            <a:r>
              <a:rPr lang="vi-VN" sz="3800" dirty="0"/>
              <a:t>Ưu điểm: người dân có thể đánh giá chính xác hồ sơ và cán bộ tiếp nhận, </a:t>
            </a:r>
            <a:r>
              <a:rPr lang="vi-VN" sz="3800" dirty="0">
                <a:solidFill>
                  <a:srgbClr val="FF0000"/>
                </a:solidFill>
              </a:rPr>
              <a:t>có thể đánh giá qua mạng </a:t>
            </a:r>
            <a:r>
              <a:rPr lang="vi-VN" sz="3800" dirty="0"/>
              <a:t>không cần trực tiếp tại các máy tính đặt ở nơi tiếp nhận</a:t>
            </a:r>
          </a:p>
          <a:p>
            <a:pPr marL="285750" indent="-285750">
              <a:buFontTx/>
              <a:buChar char="-"/>
            </a:pPr>
            <a:r>
              <a:rPr lang="vi-VN" sz="3800" dirty="0"/>
              <a:t>Nhược điểm: </a:t>
            </a:r>
          </a:p>
          <a:p>
            <a:pPr marL="742950" lvl="1" indent="-285750">
              <a:buFont typeface="Arial" panose="020B0604020202020204" pitchFamily="34" charset="0"/>
              <a:buChar char="•"/>
            </a:pPr>
            <a:r>
              <a:rPr lang="vi-VN" sz="3800" dirty="0"/>
              <a:t>Người dân thường không quan tâm đến dạng sms này cũng không phải ai cũng duyệt mail thường xuyên và có thể email được lọc vào mail rác</a:t>
            </a:r>
          </a:p>
          <a:p>
            <a:pPr marL="742950" lvl="1" indent="-285750">
              <a:buFont typeface="Arial" panose="020B0604020202020204" pitchFamily="34" charset="0"/>
              <a:buChar char="•"/>
            </a:pPr>
            <a:r>
              <a:rPr lang="vi-VN" sz="3800" dirty="0"/>
              <a:t>Can thiệp vào hệ thống một cửa để kích hoạt sự kiện tạo mã đánh giá và gửi đi qua email và sms</a:t>
            </a:r>
            <a:endParaRPr lang="en-US" sz="3800" dirty="0"/>
          </a:p>
          <a:p>
            <a:endParaRPr lang="en-US" dirty="0"/>
          </a:p>
        </p:txBody>
      </p:sp>
    </p:spTree>
    <p:extLst>
      <p:ext uri="{BB962C8B-B14F-4D97-AF65-F5344CB8AC3E}">
        <p14:creationId xmlns:p14="http://schemas.microsoft.com/office/powerpoint/2010/main" val="391757698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250385" y="5948719"/>
            <a:ext cx="6156176" cy="369332"/>
          </a:xfrm>
          <a:prstGeom prst="rect">
            <a:avLst/>
          </a:prstGeom>
          <a:noFill/>
        </p:spPr>
        <p:txBody>
          <a:bodyPr wrap="square" rtlCol="0">
            <a:spAutoFit/>
          </a:bodyPr>
          <a:lstStyle/>
          <a:p>
            <a:r>
              <a:rPr lang="vi-VN" dirty="0" smtClean="0"/>
              <a:t>1. Bảng thống kê sự </a:t>
            </a:r>
            <a:r>
              <a:rPr lang="vi-VN" dirty="0"/>
              <a:t>hài </a:t>
            </a:r>
            <a:r>
              <a:rPr lang="vi-VN" dirty="0" smtClean="0"/>
              <a:t>lòng theo tiêu chí ở tất cả đơn vị</a:t>
            </a:r>
            <a:endParaRPr lang="en-US" dirty="0"/>
          </a:p>
        </p:txBody>
      </p:sp>
      <p:sp>
        <p:nvSpPr>
          <p:cNvPr id="6" name="Title 1"/>
          <p:cNvSpPr>
            <a:spLocks noGrp="1"/>
          </p:cNvSpPr>
          <p:nvPr>
            <p:ph type="title"/>
          </p:nvPr>
        </p:nvSpPr>
        <p:spPr>
          <a:xfrm>
            <a:off x="205680" y="704088"/>
            <a:ext cx="8686800" cy="1143000"/>
          </a:xfrm>
        </p:spPr>
        <p:txBody>
          <a:bodyPr>
            <a:noAutofit/>
          </a:bodyPr>
          <a:lstStyle/>
          <a:p>
            <a:r>
              <a:rPr lang="vi-VN" sz="4000" dirty="0"/>
              <a:t>Một số mẫu thống </a:t>
            </a:r>
            <a:r>
              <a:rPr lang="vi-VN" sz="4000" dirty="0" smtClean="0"/>
              <a:t>kê, </a:t>
            </a:r>
            <a:r>
              <a:rPr lang="vi-VN" sz="4000" dirty="0"/>
              <a:t>biểu đồ </a:t>
            </a:r>
            <a:r>
              <a:rPr lang="vi-VN" sz="4000" dirty="0" smtClean="0"/>
              <a:t>mẫu (tt)</a:t>
            </a:r>
            <a:endParaRPr lang="en-US" sz="4000" dirty="0"/>
          </a:p>
        </p:txBody>
      </p:sp>
      <p:graphicFrame>
        <p:nvGraphicFramePr>
          <p:cNvPr id="11" name="Table 10"/>
          <p:cNvGraphicFramePr>
            <a:graphicFrameLocks noGrp="1"/>
          </p:cNvGraphicFramePr>
          <p:nvPr>
            <p:extLst>
              <p:ext uri="{D42A27DB-BD31-4B8C-83A1-F6EECF244321}">
                <p14:modId xmlns:p14="http://schemas.microsoft.com/office/powerpoint/2010/main" val="2251076757"/>
              </p:ext>
            </p:extLst>
          </p:nvPr>
        </p:nvGraphicFramePr>
        <p:xfrm>
          <a:off x="30735" y="1851499"/>
          <a:ext cx="9077769" cy="3265250"/>
        </p:xfrm>
        <a:graphic>
          <a:graphicData uri="http://schemas.openxmlformats.org/drawingml/2006/table">
            <a:tbl>
              <a:tblPr firstRow="1" firstCol="1" bandRow="1">
                <a:tableStyleId>{5C22544A-7EE6-4342-B048-85BDC9FD1C3A}</a:tableStyleId>
              </a:tblPr>
              <a:tblGrid>
                <a:gridCol w="1228897"/>
                <a:gridCol w="1800200"/>
                <a:gridCol w="648072"/>
                <a:gridCol w="648072"/>
                <a:gridCol w="720080"/>
                <a:gridCol w="648072"/>
                <a:gridCol w="648072"/>
                <a:gridCol w="576064"/>
                <a:gridCol w="2160240"/>
              </a:tblGrid>
              <a:tr h="206574">
                <a:tc rowSpan="2" gridSpan="2">
                  <a:txBody>
                    <a:bodyPr/>
                    <a:lstStyle/>
                    <a:p>
                      <a:pPr marL="0" marR="0" algn="ctr">
                        <a:lnSpc>
                          <a:spcPct val="115000"/>
                        </a:lnSpc>
                        <a:spcBef>
                          <a:spcPts val="0"/>
                        </a:spcBef>
                        <a:spcAft>
                          <a:spcPts val="0"/>
                        </a:spcAft>
                      </a:pPr>
                      <a:r>
                        <a:rPr lang="en-US" sz="1600" dirty="0" err="1">
                          <a:effectLst/>
                        </a:rPr>
                        <a:t>Cơ</a:t>
                      </a:r>
                      <a:r>
                        <a:rPr lang="en-US" sz="1600" dirty="0">
                          <a:effectLst/>
                        </a:rPr>
                        <a:t> </a:t>
                      </a:r>
                      <a:r>
                        <a:rPr lang="en-US" sz="1600" dirty="0" err="1">
                          <a:effectLst/>
                        </a:rPr>
                        <a:t>quan</a:t>
                      </a:r>
                      <a:r>
                        <a:rPr lang="en-US" sz="1600" dirty="0">
                          <a:effectLst/>
                        </a:rPr>
                        <a:t>/</a:t>
                      </a:r>
                      <a:r>
                        <a:rPr lang="en-US" sz="1600" dirty="0" err="1">
                          <a:effectLst/>
                        </a:rPr>
                        <a:t>tổ</a:t>
                      </a:r>
                      <a:r>
                        <a:rPr lang="en-US" sz="1600" dirty="0">
                          <a:effectLst/>
                        </a:rPr>
                        <a:t> </a:t>
                      </a:r>
                      <a:r>
                        <a:rPr lang="en-US" sz="1600" dirty="0" err="1">
                          <a:effectLst/>
                        </a:rPr>
                        <a:t>chức</a:t>
                      </a:r>
                      <a:endParaRPr lang="en-US" sz="1600" dirty="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nchor="ctr"/>
                </a:tc>
                <a:tc rowSpan="2" hMerge="1">
                  <a:txBody>
                    <a:bodyPr/>
                    <a:lstStyle/>
                    <a:p>
                      <a:endParaRPr lang="en-US"/>
                    </a:p>
                  </a:txBody>
                  <a:tcPr/>
                </a:tc>
                <a:tc gridSpan="6">
                  <a:txBody>
                    <a:bodyPr/>
                    <a:lstStyle/>
                    <a:p>
                      <a:pPr marL="0" marR="0" algn="ctr">
                        <a:lnSpc>
                          <a:spcPct val="115000"/>
                        </a:lnSpc>
                        <a:spcBef>
                          <a:spcPts val="0"/>
                        </a:spcBef>
                        <a:spcAft>
                          <a:spcPts val="0"/>
                        </a:spcAft>
                      </a:pPr>
                      <a:r>
                        <a:rPr lang="en-US" sz="1600" dirty="0" err="1">
                          <a:effectLst/>
                        </a:rPr>
                        <a:t>Mức</a:t>
                      </a:r>
                      <a:r>
                        <a:rPr lang="en-US" sz="1600" dirty="0">
                          <a:effectLst/>
                        </a:rPr>
                        <a:t> </a:t>
                      </a:r>
                      <a:r>
                        <a:rPr lang="en-US" sz="1600" dirty="0" err="1">
                          <a:effectLst/>
                        </a:rPr>
                        <a:t>độ</a:t>
                      </a:r>
                      <a:r>
                        <a:rPr lang="en-US" sz="1600" dirty="0">
                          <a:effectLst/>
                        </a:rPr>
                        <a:t> </a:t>
                      </a:r>
                      <a:r>
                        <a:rPr lang="en-US" sz="1600" dirty="0" err="1">
                          <a:effectLst/>
                        </a:rPr>
                        <a:t>hài</a:t>
                      </a:r>
                      <a:r>
                        <a:rPr lang="en-US" sz="1600" dirty="0">
                          <a:effectLst/>
                        </a:rPr>
                        <a:t> </a:t>
                      </a:r>
                      <a:r>
                        <a:rPr lang="en-US" sz="1600" dirty="0" err="1">
                          <a:effectLst/>
                        </a:rPr>
                        <a:t>lòng</a:t>
                      </a:r>
                      <a:r>
                        <a:rPr lang="en-US" sz="1600" dirty="0">
                          <a:effectLst/>
                        </a:rPr>
                        <a:t> </a:t>
                      </a:r>
                      <a:r>
                        <a:rPr lang="en-US" sz="1600" dirty="0" err="1">
                          <a:effectLst/>
                        </a:rPr>
                        <a:t>từng</a:t>
                      </a:r>
                      <a:r>
                        <a:rPr lang="en-US" sz="1600" dirty="0">
                          <a:effectLst/>
                        </a:rPr>
                        <a:t> </a:t>
                      </a:r>
                      <a:r>
                        <a:rPr lang="en-US" sz="1600" dirty="0" err="1">
                          <a:effectLst/>
                        </a:rPr>
                        <a:t>Tiêu</a:t>
                      </a:r>
                      <a:r>
                        <a:rPr lang="en-US" sz="1600" dirty="0">
                          <a:effectLst/>
                        </a:rPr>
                        <a:t> </a:t>
                      </a:r>
                      <a:r>
                        <a:rPr lang="en-US" sz="1600" dirty="0" err="1">
                          <a:effectLst/>
                        </a:rPr>
                        <a:t>chí</a:t>
                      </a:r>
                      <a:r>
                        <a:rPr lang="en-US" sz="1600" dirty="0">
                          <a:effectLst/>
                        </a:rPr>
                        <a:t> </a:t>
                      </a:r>
                      <a:endParaRPr lang="en-US" sz="1600" dirty="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nchor="b"/>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rowSpan="2">
                  <a:txBody>
                    <a:bodyPr/>
                    <a:lstStyle/>
                    <a:p>
                      <a:pPr marL="0" marR="0" algn="ctr">
                        <a:lnSpc>
                          <a:spcPct val="115000"/>
                        </a:lnSpc>
                        <a:spcBef>
                          <a:spcPts val="0"/>
                        </a:spcBef>
                        <a:spcAft>
                          <a:spcPts val="0"/>
                        </a:spcAft>
                      </a:pPr>
                      <a:r>
                        <a:rPr lang="en-US" sz="1600" dirty="0" err="1">
                          <a:effectLst/>
                        </a:rPr>
                        <a:t>Chỉ</a:t>
                      </a:r>
                      <a:r>
                        <a:rPr lang="en-US" sz="1600" dirty="0">
                          <a:effectLst/>
                        </a:rPr>
                        <a:t> </a:t>
                      </a:r>
                      <a:r>
                        <a:rPr lang="en-US" sz="1600" dirty="0" err="1">
                          <a:effectLst/>
                        </a:rPr>
                        <a:t>số</a:t>
                      </a:r>
                      <a:r>
                        <a:rPr lang="en-US" sz="1600" dirty="0">
                          <a:effectLst/>
                        </a:rPr>
                        <a:t> </a:t>
                      </a:r>
                      <a:r>
                        <a:rPr lang="en-US" sz="1600" dirty="0" err="1">
                          <a:effectLst/>
                        </a:rPr>
                        <a:t>hài</a:t>
                      </a:r>
                      <a:r>
                        <a:rPr lang="en-US" sz="1600" dirty="0">
                          <a:effectLst/>
                        </a:rPr>
                        <a:t> </a:t>
                      </a:r>
                      <a:r>
                        <a:rPr lang="en-US" sz="1600" dirty="0" err="1">
                          <a:effectLst/>
                        </a:rPr>
                        <a:t>lòng</a:t>
                      </a:r>
                      <a:r>
                        <a:rPr lang="en-US" sz="1600" dirty="0">
                          <a:effectLst/>
                        </a:rPr>
                        <a:t> (a)%</a:t>
                      </a:r>
                      <a:endParaRPr lang="en-US" sz="1600" dirty="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nchor="ctr"/>
                </a:tc>
              </a:tr>
              <a:tr h="596966">
                <a:tc gridSpan="2" vMerge="1">
                  <a:txBody>
                    <a:bodyPr/>
                    <a:lstStyle/>
                    <a:p>
                      <a:endParaRPr lang="en-US"/>
                    </a:p>
                  </a:txBody>
                  <a:tcPr/>
                </a:tc>
                <a:tc hMerge="1" vMerge="1">
                  <a:txBody>
                    <a:bodyPr/>
                    <a:lstStyle/>
                    <a:p>
                      <a:endParaRPr lang="en-US"/>
                    </a:p>
                  </a:txBody>
                  <a:tcPr/>
                </a:tc>
                <a:tc>
                  <a:txBody>
                    <a:bodyPr/>
                    <a:lstStyle/>
                    <a:p>
                      <a:pPr marL="0" marR="0" algn="ctr">
                        <a:lnSpc>
                          <a:spcPct val="115000"/>
                        </a:lnSpc>
                        <a:spcBef>
                          <a:spcPts val="0"/>
                        </a:spcBef>
                        <a:spcAft>
                          <a:spcPts val="0"/>
                        </a:spcAft>
                      </a:pPr>
                      <a:r>
                        <a:rPr lang="en-US" sz="1600" dirty="0">
                          <a:effectLst/>
                        </a:rPr>
                        <a:t>(1)</a:t>
                      </a:r>
                      <a:endParaRPr lang="en-US" sz="1600" dirty="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nchor="ctr"/>
                </a:tc>
                <a:tc>
                  <a:txBody>
                    <a:bodyPr/>
                    <a:lstStyle/>
                    <a:p>
                      <a:pPr marL="0" marR="0" algn="ctr">
                        <a:lnSpc>
                          <a:spcPct val="115000"/>
                        </a:lnSpc>
                        <a:spcBef>
                          <a:spcPts val="0"/>
                        </a:spcBef>
                        <a:spcAft>
                          <a:spcPts val="0"/>
                        </a:spcAft>
                      </a:pPr>
                      <a:r>
                        <a:rPr lang="en-US" sz="1600">
                          <a:effectLst/>
                        </a:rPr>
                        <a:t>(2)</a:t>
                      </a:r>
                      <a:endParaRPr lang="en-US" sz="160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nchor="ctr"/>
                </a:tc>
                <a:tc>
                  <a:txBody>
                    <a:bodyPr/>
                    <a:lstStyle/>
                    <a:p>
                      <a:pPr marL="0" marR="0" algn="ctr">
                        <a:lnSpc>
                          <a:spcPct val="115000"/>
                        </a:lnSpc>
                        <a:spcBef>
                          <a:spcPts val="0"/>
                        </a:spcBef>
                        <a:spcAft>
                          <a:spcPts val="0"/>
                        </a:spcAft>
                      </a:pPr>
                      <a:r>
                        <a:rPr lang="en-US" sz="1600">
                          <a:effectLst/>
                        </a:rPr>
                        <a:t>(3)</a:t>
                      </a:r>
                      <a:endParaRPr lang="en-US" sz="160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nchor="ctr"/>
                </a:tc>
                <a:tc>
                  <a:txBody>
                    <a:bodyPr/>
                    <a:lstStyle/>
                    <a:p>
                      <a:pPr marL="0" marR="0" algn="ctr">
                        <a:lnSpc>
                          <a:spcPct val="115000"/>
                        </a:lnSpc>
                        <a:spcBef>
                          <a:spcPts val="0"/>
                        </a:spcBef>
                        <a:spcAft>
                          <a:spcPts val="0"/>
                        </a:spcAft>
                      </a:pPr>
                      <a:r>
                        <a:rPr lang="en-US" sz="1600">
                          <a:effectLst/>
                        </a:rPr>
                        <a:t>(4)</a:t>
                      </a:r>
                      <a:endParaRPr lang="en-US" sz="160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nchor="ctr"/>
                </a:tc>
                <a:tc>
                  <a:txBody>
                    <a:bodyPr/>
                    <a:lstStyle/>
                    <a:p>
                      <a:pPr marL="0" marR="0" algn="ctr">
                        <a:lnSpc>
                          <a:spcPct val="115000"/>
                        </a:lnSpc>
                        <a:spcBef>
                          <a:spcPts val="0"/>
                        </a:spcBef>
                        <a:spcAft>
                          <a:spcPts val="0"/>
                        </a:spcAft>
                      </a:pPr>
                      <a:r>
                        <a:rPr lang="en-US" sz="1600">
                          <a:effectLst/>
                        </a:rPr>
                        <a:t>(5)</a:t>
                      </a:r>
                      <a:endParaRPr lang="en-US" sz="160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nchor="ctr"/>
                </a:tc>
                <a:tc>
                  <a:txBody>
                    <a:bodyPr/>
                    <a:lstStyle/>
                    <a:p>
                      <a:pPr marL="0" marR="0" algn="ctr">
                        <a:lnSpc>
                          <a:spcPct val="115000"/>
                        </a:lnSpc>
                        <a:spcBef>
                          <a:spcPts val="0"/>
                        </a:spcBef>
                        <a:spcAft>
                          <a:spcPts val="0"/>
                        </a:spcAft>
                      </a:pPr>
                      <a:r>
                        <a:rPr lang="en-US" sz="1600" dirty="0">
                          <a:effectLst/>
                        </a:rPr>
                        <a:t>(6)</a:t>
                      </a:r>
                      <a:endParaRPr lang="en-US" sz="1600" dirty="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nchor="ctr"/>
                </a:tc>
                <a:tc vMerge="1">
                  <a:txBody>
                    <a:bodyPr/>
                    <a:lstStyle/>
                    <a:p>
                      <a:endParaRPr lang="en-US"/>
                    </a:p>
                  </a:txBody>
                  <a:tcPr/>
                </a:tc>
              </a:tr>
              <a:tr h="397978">
                <a:tc rowSpan="6">
                  <a:txBody>
                    <a:bodyPr/>
                    <a:lstStyle/>
                    <a:p>
                      <a:pPr marL="0" marR="0">
                        <a:lnSpc>
                          <a:spcPct val="115000"/>
                        </a:lnSpc>
                        <a:spcBef>
                          <a:spcPts val="0"/>
                        </a:spcBef>
                        <a:spcAft>
                          <a:spcPts val="0"/>
                        </a:spcAft>
                      </a:pPr>
                      <a:r>
                        <a:rPr lang="en-US" sz="1600" dirty="0">
                          <a:effectLst/>
                        </a:rPr>
                        <a:t> </a:t>
                      </a:r>
                    </a:p>
                    <a:p>
                      <a:pPr marL="0" marR="0">
                        <a:lnSpc>
                          <a:spcPct val="115000"/>
                        </a:lnSpc>
                        <a:spcBef>
                          <a:spcPts val="0"/>
                        </a:spcBef>
                        <a:spcAft>
                          <a:spcPts val="0"/>
                        </a:spcAft>
                      </a:pPr>
                      <a:r>
                        <a:rPr lang="en-US" sz="1600" dirty="0" err="1">
                          <a:effectLst/>
                        </a:rPr>
                        <a:t>Các</a:t>
                      </a:r>
                      <a:r>
                        <a:rPr lang="en-US" sz="1600" dirty="0">
                          <a:effectLst/>
                        </a:rPr>
                        <a:t> </a:t>
                      </a:r>
                      <a:r>
                        <a:rPr lang="en-US" sz="1600" dirty="0" err="1">
                          <a:effectLst/>
                        </a:rPr>
                        <a:t>Sở</a:t>
                      </a:r>
                      <a:endParaRPr lang="en-US" sz="1600" dirty="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nchor="ctr"/>
                </a:tc>
                <a:tc>
                  <a:txBody>
                    <a:bodyPr/>
                    <a:lstStyle/>
                    <a:p>
                      <a:pPr marL="0" marR="0">
                        <a:lnSpc>
                          <a:spcPct val="115000"/>
                        </a:lnSpc>
                        <a:spcBef>
                          <a:spcPts val="0"/>
                        </a:spcBef>
                        <a:spcAft>
                          <a:spcPts val="0"/>
                        </a:spcAft>
                      </a:pPr>
                      <a:r>
                        <a:rPr lang="en-US" sz="1600" dirty="0" err="1">
                          <a:effectLst/>
                        </a:rPr>
                        <a:t>Sở</a:t>
                      </a:r>
                      <a:r>
                        <a:rPr lang="en-US" sz="1600" dirty="0">
                          <a:effectLst/>
                        </a:rPr>
                        <a:t> </a:t>
                      </a:r>
                      <a:r>
                        <a:rPr lang="en-US" sz="1600" dirty="0" err="1">
                          <a:effectLst/>
                        </a:rPr>
                        <a:t>Công</a:t>
                      </a:r>
                      <a:r>
                        <a:rPr lang="en-US" sz="1600" dirty="0">
                          <a:effectLst/>
                        </a:rPr>
                        <a:t> </a:t>
                      </a:r>
                      <a:r>
                        <a:rPr lang="en-US" sz="1600" dirty="0" err="1">
                          <a:effectLst/>
                        </a:rPr>
                        <a:t>Thương</a:t>
                      </a:r>
                      <a:endParaRPr lang="en-US" sz="1600" dirty="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tc>
                <a:tc>
                  <a:txBody>
                    <a:bodyPr/>
                    <a:lstStyle/>
                    <a:p>
                      <a:pPr marL="0" marR="0" algn="ctr">
                        <a:lnSpc>
                          <a:spcPct val="115000"/>
                        </a:lnSpc>
                        <a:spcBef>
                          <a:spcPts val="0"/>
                        </a:spcBef>
                        <a:spcAft>
                          <a:spcPts val="0"/>
                        </a:spcAft>
                      </a:pPr>
                      <a:r>
                        <a:rPr lang="en-US" sz="1600">
                          <a:effectLst/>
                        </a:rPr>
                        <a:t>3.61</a:t>
                      </a:r>
                      <a:endParaRPr lang="en-US" sz="160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nchor="b"/>
                </a:tc>
                <a:tc>
                  <a:txBody>
                    <a:bodyPr/>
                    <a:lstStyle/>
                    <a:p>
                      <a:pPr marL="0" marR="0" algn="ctr">
                        <a:lnSpc>
                          <a:spcPct val="115000"/>
                        </a:lnSpc>
                        <a:spcBef>
                          <a:spcPts val="0"/>
                        </a:spcBef>
                        <a:spcAft>
                          <a:spcPts val="0"/>
                        </a:spcAft>
                      </a:pPr>
                      <a:r>
                        <a:rPr lang="en-US" sz="1600" dirty="0">
                          <a:effectLst/>
                        </a:rPr>
                        <a:t>3.75</a:t>
                      </a:r>
                      <a:endParaRPr lang="en-US" sz="1600" dirty="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nchor="b"/>
                </a:tc>
                <a:tc>
                  <a:txBody>
                    <a:bodyPr/>
                    <a:lstStyle/>
                    <a:p>
                      <a:pPr marL="0" marR="0" algn="ctr">
                        <a:lnSpc>
                          <a:spcPct val="115000"/>
                        </a:lnSpc>
                        <a:spcBef>
                          <a:spcPts val="0"/>
                        </a:spcBef>
                        <a:spcAft>
                          <a:spcPts val="0"/>
                        </a:spcAft>
                      </a:pPr>
                      <a:r>
                        <a:rPr lang="en-US" sz="1600" dirty="0">
                          <a:effectLst/>
                        </a:rPr>
                        <a:t>3.73</a:t>
                      </a:r>
                      <a:endParaRPr lang="en-US" sz="1600" dirty="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nchor="b"/>
                </a:tc>
                <a:tc>
                  <a:txBody>
                    <a:bodyPr/>
                    <a:lstStyle/>
                    <a:p>
                      <a:pPr marL="0" marR="0" algn="ctr">
                        <a:lnSpc>
                          <a:spcPct val="115000"/>
                        </a:lnSpc>
                        <a:spcBef>
                          <a:spcPts val="0"/>
                        </a:spcBef>
                        <a:spcAft>
                          <a:spcPts val="0"/>
                        </a:spcAft>
                      </a:pPr>
                      <a:r>
                        <a:rPr lang="en-US" sz="1600" dirty="0">
                          <a:effectLst/>
                        </a:rPr>
                        <a:t>3.65</a:t>
                      </a:r>
                      <a:endParaRPr lang="en-US" sz="1600" dirty="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nchor="b"/>
                </a:tc>
                <a:tc>
                  <a:txBody>
                    <a:bodyPr/>
                    <a:lstStyle/>
                    <a:p>
                      <a:pPr marL="0" marR="0" algn="ctr">
                        <a:lnSpc>
                          <a:spcPct val="115000"/>
                        </a:lnSpc>
                        <a:spcBef>
                          <a:spcPts val="0"/>
                        </a:spcBef>
                        <a:spcAft>
                          <a:spcPts val="0"/>
                        </a:spcAft>
                      </a:pPr>
                      <a:r>
                        <a:rPr lang="en-US" sz="1600">
                          <a:effectLst/>
                        </a:rPr>
                        <a:t>3.68</a:t>
                      </a:r>
                      <a:endParaRPr lang="en-US" sz="160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nchor="b"/>
                </a:tc>
                <a:tc>
                  <a:txBody>
                    <a:bodyPr/>
                    <a:lstStyle/>
                    <a:p>
                      <a:pPr marL="0" marR="0" algn="ctr">
                        <a:lnSpc>
                          <a:spcPct val="115000"/>
                        </a:lnSpc>
                        <a:spcBef>
                          <a:spcPts val="0"/>
                        </a:spcBef>
                        <a:spcAft>
                          <a:spcPts val="0"/>
                        </a:spcAft>
                      </a:pPr>
                      <a:r>
                        <a:rPr lang="en-US" sz="1600">
                          <a:effectLst/>
                        </a:rPr>
                        <a:t>3.53</a:t>
                      </a:r>
                      <a:endParaRPr lang="en-US" sz="160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nchor="b"/>
                </a:tc>
                <a:tc>
                  <a:txBody>
                    <a:bodyPr/>
                    <a:lstStyle/>
                    <a:p>
                      <a:pPr marL="0" marR="0" algn="ctr">
                        <a:lnSpc>
                          <a:spcPct val="115000"/>
                        </a:lnSpc>
                        <a:spcBef>
                          <a:spcPts val="0"/>
                        </a:spcBef>
                        <a:spcAft>
                          <a:spcPts val="0"/>
                        </a:spcAft>
                      </a:pPr>
                      <a:r>
                        <a:rPr lang="en-US" sz="1600">
                          <a:effectLst/>
                        </a:rPr>
                        <a:t>73.17</a:t>
                      </a:r>
                      <a:endParaRPr lang="en-US" sz="160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nchor="b"/>
                </a:tc>
              </a:tr>
              <a:tr h="397978">
                <a:tc vMerge="1">
                  <a:txBody>
                    <a:bodyPr/>
                    <a:lstStyle/>
                    <a:p>
                      <a:endParaRPr lang="en-US"/>
                    </a:p>
                  </a:txBody>
                  <a:tcPr/>
                </a:tc>
                <a:tc>
                  <a:txBody>
                    <a:bodyPr/>
                    <a:lstStyle/>
                    <a:p>
                      <a:pPr marL="0" marR="0">
                        <a:lnSpc>
                          <a:spcPct val="115000"/>
                        </a:lnSpc>
                        <a:spcBef>
                          <a:spcPts val="0"/>
                        </a:spcBef>
                        <a:spcAft>
                          <a:spcPts val="0"/>
                        </a:spcAft>
                      </a:pPr>
                      <a:r>
                        <a:rPr lang="en-US" sz="1600" dirty="0" err="1">
                          <a:effectLst/>
                        </a:rPr>
                        <a:t>Sở</a:t>
                      </a:r>
                      <a:r>
                        <a:rPr lang="en-US" sz="1600" dirty="0">
                          <a:effectLst/>
                        </a:rPr>
                        <a:t> KH-ĐT</a:t>
                      </a:r>
                      <a:endParaRPr lang="en-US" sz="1600" dirty="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tc>
                <a:tc>
                  <a:txBody>
                    <a:bodyPr/>
                    <a:lstStyle/>
                    <a:p>
                      <a:pPr marL="0" marR="0" algn="ctr">
                        <a:lnSpc>
                          <a:spcPct val="115000"/>
                        </a:lnSpc>
                        <a:spcBef>
                          <a:spcPts val="0"/>
                        </a:spcBef>
                        <a:spcAft>
                          <a:spcPts val="0"/>
                        </a:spcAft>
                      </a:pPr>
                      <a:r>
                        <a:rPr lang="en-US" sz="1600">
                          <a:effectLst/>
                        </a:rPr>
                        <a:t>3.65</a:t>
                      </a:r>
                      <a:endParaRPr lang="en-US" sz="160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nchor="b"/>
                </a:tc>
                <a:tc>
                  <a:txBody>
                    <a:bodyPr/>
                    <a:lstStyle/>
                    <a:p>
                      <a:pPr marL="0" marR="0" algn="ctr">
                        <a:lnSpc>
                          <a:spcPct val="115000"/>
                        </a:lnSpc>
                        <a:spcBef>
                          <a:spcPts val="0"/>
                        </a:spcBef>
                        <a:spcAft>
                          <a:spcPts val="0"/>
                        </a:spcAft>
                      </a:pPr>
                      <a:r>
                        <a:rPr lang="en-US" sz="1600">
                          <a:effectLst/>
                        </a:rPr>
                        <a:t>3.73</a:t>
                      </a:r>
                      <a:endParaRPr lang="en-US" sz="160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nchor="b"/>
                </a:tc>
                <a:tc>
                  <a:txBody>
                    <a:bodyPr/>
                    <a:lstStyle/>
                    <a:p>
                      <a:pPr marL="0" marR="0" algn="ctr">
                        <a:lnSpc>
                          <a:spcPct val="115000"/>
                        </a:lnSpc>
                        <a:spcBef>
                          <a:spcPts val="0"/>
                        </a:spcBef>
                        <a:spcAft>
                          <a:spcPts val="0"/>
                        </a:spcAft>
                      </a:pPr>
                      <a:r>
                        <a:rPr lang="en-US" sz="1600">
                          <a:effectLst/>
                        </a:rPr>
                        <a:t>3.63</a:t>
                      </a:r>
                      <a:endParaRPr lang="en-US" sz="160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nchor="b"/>
                </a:tc>
                <a:tc>
                  <a:txBody>
                    <a:bodyPr/>
                    <a:lstStyle/>
                    <a:p>
                      <a:pPr marL="0" marR="0" algn="ctr">
                        <a:lnSpc>
                          <a:spcPct val="115000"/>
                        </a:lnSpc>
                        <a:spcBef>
                          <a:spcPts val="0"/>
                        </a:spcBef>
                        <a:spcAft>
                          <a:spcPts val="0"/>
                        </a:spcAft>
                      </a:pPr>
                      <a:r>
                        <a:rPr lang="en-US" sz="1600" dirty="0">
                          <a:effectLst/>
                        </a:rPr>
                        <a:t>3.57</a:t>
                      </a:r>
                      <a:endParaRPr lang="en-US" sz="1600" dirty="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nchor="b"/>
                </a:tc>
                <a:tc>
                  <a:txBody>
                    <a:bodyPr/>
                    <a:lstStyle/>
                    <a:p>
                      <a:pPr marL="0" marR="0" algn="ctr">
                        <a:lnSpc>
                          <a:spcPct val="115000"/>
                        </a:lnSpc>
                        <a:spcBef>
                          <a:spcPts val="0"/>
                        </a:spcBef>
                        <a:spcAft>
                          <a:spcPts val="0"/>
                        </a:spcAft>
                      </a:pPr>
                      <a:r>
                        <a:rPr lang="en-US" sz="1600" dirty="0">
                          <a:effectLst/>
                        </a:rPr>
                        <a:t>3.53</a:t>
                      </a:r>
                      <a:endParaRPr lang="en-US" sz="1600" dirty="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nchor="b"/>
                </a:tc>
                <a:tc>
                  <a:txBody>
                    <a:bodyPr/>
                    <a:lstStyle/>
                    <a:p>
                      <a:pPr marL="0" marR="0" algn="ctr">
                        <a:lnSpc>
                          <a:spcPct val="115000"/>
                        </a:lnSpc>
                        <a:spcBef>
                          <a:spcPts val="0"/>
                        </a:spcBef>
                        <a:spcAft>
                          <a:spcPts val="0"/>
                        </a:spcAft>
                      </a:pPr>
                      <a:r>
                        <a:rPr lang="en-US" sz="1600">
                          <a:effectLst/>
                        </a:rPr>
                        <a:t>3.45</a:t>
                      </a:r>
                      <a:endParaRPr lang="en-US" sz="160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nchor="b"/>
                </a:tc>
                <a:tc>
                  <a:txBody>
                    <a:bodyPr/>
                    <a:lstStyle/>
                    <a:p>
                      <a:pPr marL="0" marR="0" algn="ctr">
                        <a:lnSpc>
                          <a:spcPct val="115000"/>
                        </a:lnSpc>
                        <a:spcBef>
                          <a:spcPts val="0"/>
                        </a:spcBef>
                        <a:spcAft>
                          <a:spcPts val="0"/>
                        </a:spcAft>
                      </a:pPr>
                      <a:r>
                        <a:rPr lang="en-US" sz="1600">
                          <a:effectLst/>
                        </a:rPr>
                        <a:t>71.74</a:t>
                      </a:r>
                      <a:endParaRPr lang="en-US" sz="160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nchor="b"/>
                </a:tc>
              </a:tr>
              <a:tr h="397978">
                <a:tc vMerge="1">
                  <a:txBody>
                    <a:bodyPr/>
                    <a:lstStyle/>
                    <a:p>
                      <a:endParaRPr lang="en-US"/>
                    </a:p>
                  </a:txBody>
                  <a:tcPr/>
                </a:tc>
                <a:tc>
                  <a:txBody>
                    <a:bodyPr/>
                    <a:lstStyle/>
                    <a:p>
                      <a:pPr marL="0" marR="0">
                        <a:lnSpc>
                          <a:spcPct val="115000"/>
                        </a:lnSpc>
                        <a:spcBef>
                          <a:spcPts val="0"/>
                        </a:spcBef>
                        <a:spcAft>
                          <a:spcPts val="0"/>
                        </a:spcAft>
                      </a:pPr>
                      <a:r>
                        <a:rPr lang="en-US" sz="1600" dirty="0" err="1">
                          <a:effectLst/>
                        </a:rPr>
                        <a:t>Sở</a:t>
                      </a:r>
                      <a:r>
                        <a:rPr lang="en-US" sz="1600" dirty="0">
                          <a:effectLst/>
                        </a:rPr>
                        <a:t> Lao </a:t>
                      </a:r>
                      <a:r>
                        <a:rPr lang="en-US" sz="1600" dirty="0" err="1">
                          <a:effectLst/>
                        </a:rPr>
                        <a:t>động</a:t>
                      </a:r>
                      <a:endParaRPr lang="en-US" sz="1600" dirty="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tc>
                <a:tc>
                  <a:txBody>
                    <a:bodyPr/>
                    <a:lstStyle/>
                    <a:p>
                      <a:pPr marL="0" marR="0" algn="ctr">
                        <a:lnSpc>
                          <a:spcPct val="115000"/>
                        </a:lnSpc>
                        <a:spcBef>
                          <a:spcPts val="0"/>
                        </a:spcBef>
                        <a:spcAft>
                          <a:spcPts val="0"/>
                        </a:spcAft>
                      </a:pPr>
                      <a:r>
                        <a:rPr lang="en-US" sz="1600">
                          <a:effectLst/>
                        </a:rPr>
                        <a:t>3.40</a:t>
                      </a:r>
                      <a:endParaRPr lang="en-US" sz="160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nchor="b"/>
                </a:tc>
                <a:tc>
                  <a:txBody>
                    <a:bodyPr/>
                    <a:lstStyle/>
                    <a:p>
                      <a:pPr marL="0" marR="0" algn="ctr">
                        <a:lnSpc>
                          <a:spcPct val="115000"/>
                        </a:lnSpc>
                        <a:spcBef>
                          <a:spcPts val="0"/>
                        </a:spcBef>
                        <a:spcAft>
                          <a:spcPts val="0"/>
                        </a:spcAft>
                      </a:pPr>
                      <a:r>
                        <a:rPr lang="en-US" sz="1600">
                          <a:effectLst/>
                        </a:rPr>
                        <a:t>3.63</a:t>
                      </a:r>
                      <a:endParaRPr lang="en-US" sz="160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nchor="b"/>
                </a:tc>
                <a:tc>
                  <a:txBody>
                    <a:bodyPr/>
                    <a:lstStyle/>
                    <a:p>
                      <a:pPr marL="0" marR="0" algn="ctr">
                        <a:lnSpc>
                          <a:spcPct val="115000"/>
                        </a:lnSpc>
                        <a:spcBef>
                          <a:spcPts val="0"/>
                        </a:spcBef>
                        <a:spcAft>
                          <a:spcPts val="0"/>
                        </a:spcAft>
                      </a:pPr>
                      <a:r>
                        <a:rPr lang="en-US" sz="1600">
                          <a:effectLst/>
                        </a:rPr>
                        <a:t>3.55</a:t>
                      </a:r>
                      <a:endParaRPr lang="en-US" sz="160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nchor="b"/>
                </a:tc>
                <a:tc>
                  <a:txBody>
                    <a:bodyPr/>
                    <a:lstStyle/>
                    <a:p>
                      <a:pPr marL="0" marR="0" algn="ctr">
                        <a:lnSpc>
                          <a:spcPct val="115000"/>
                        </a:lnSpc>
                        <a:spcBef>
                          <a:spcPts val="0"/>
                        </a:spcBef>
                        <a:spcAft>
                          <a:spcPts val="0"/>
                        </a:spcAft>
                      </a:pPr>
                      <a:r>
                        <a:rPr lang="en-US" sz="1600">
                          <a:effectLst/>
                        </a:rPr>
                        <a:t>3.38</a:t>
                      </a:r>
                      <a:endParaRPr lang="en-US" sz="160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nchor="b"/>
                </a:tc>
                <a:tc>
                  <a:txBody>
                    <a:bodyPr/>
                    <a:lstStyle/>
                    <a:p>
                      <a:pPr marL="0" marR="0" algn="ctr">
                        <a:lnSpc>
                          <a:spcPct val="115000"/>
                        </a:lnSpc>
                        <a:spcBef>
                          <a:spcPts val="0"/>
                        </a:spcBef>
                        <a:spcAft>
                          <a:spcPts val="0"/>
                        </a:spcAft>
                      </a:pPr>
                      <a:r>
                        <a:rPr lang="en-US" sz="1600" dirty="0">
                          <a:effectLst/>
                        </a:rPr>
                        <a:t>3.66</a:t>
                      </a:r>
                      <a:endParaRPr lang="en-US" sz="1600" dirty="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nchor="b"/>
                </a:tc>
                <a:tc>
                  <a:txBody>
                    <a:bodyPr/>
                    <a:lstStyle/>
                    <a:p>
                      <a:pPr marL="0" marR="0" algn="ctr">
                        <a:lnSpc>
                          <a:spcPct val="115000"/>
                        </a:lnSpc>
                        <a:spcBef>
                          <a:spcPts val="0"/>
                        </a:spcBef>
                        <a:spcAft>
                          <a:spcPts val="0"/>
                        </a:spcAft>
                      </a:pPr>
                      <a:r>
                        <a:rPr lang="en-US" sz="1600" dirty="0">
                          <a:effectLst/>
                        </a:rPr>
                        <a:t>3.44</a:t>
                      </a:r>
                      <a:endParaRPr lang="en-US" sz="1600" dirty="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nchor="b"/>
                </a:tc>
                <a:tc>
                  <a:txBody>
                    <a:bodyPr/>
                    <a:lstStyle/>
                    <a:p>
                      <a:pPr marL="0" marR="0" algn="ctr">
                        <a:lnSpc>
                          <a:spcPct val="115000"/>
                        </a:lnSpc>
                        <a:spcBef>
                          <a:spcPts val="0"/>
                        </a:spcBef>
                        <a:spcAft>
                          <a:spcPts val="0"/>
                        </a:spcAft>
                      </a:pPr>
                      <a:r>
                        <a:rPr lang="en-US" sz="1600" dirty="0">
                          <a:effectLst/>
                        </a:rPr>
                        <a:t>70.16</a:t>
                      </a:r>
                      <a:endParaRPr lang="en-US" sz="1600" dirty="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nchor="b"/>
                </a:tc>
              </a:tr>
              <a:tr h="397978">
                <a:tc vMerge="1">
                  <a:txBody>
                    <a:bodyPr/>
                    <a:lstStyle/>
                    <a:p>
                      <a:endParaRPr lang="en-US"/>
                    </a:p>
                  </a:txBody>
                  <a:tcPr/>
                </a:tc>
                <a:tc>
                  <a:txBody>
                    <a:bodyPr/>
                    <a:lstStyle/>
                    <a:p>
                      <a:pPr marL="0" marR="0">
                        <a:lnSpc>
                          <a:spcPct val="115000"/>
                        </a:lnSpc>
                        <a:spcBef>
                          <a:spcPts val="0"/>
                        </a:spcBef>
                        <a:spcAft>
                          <a:spcPts val="0"/>
                        </a:spcAft>
                      </a:pPr>
                      <a:r>
                        <a:rPr lang="en-US" sz="1600" dirty="0" err="1">
                          <a:effectLst/>
                        </a:rPr>
                        <a:t>Sở</a:t>
                      </a:r>
                      <a:r>
                        <a:rPr lang="en-US" sz="1600" dirty="0">
                          <a:effectLst/>
                        </a:rPr>
                        <a:t> TN-MT</a:t>
                      </a:r>
                      <a:endParaRPr lang="en-US" sz="1600" dirty="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tc>
                <a:tc>
                  <a:txBody>
                    <a:bodyPr/>
                    <a:lstStyle/>
                    <a:p>
                      <a:pPr marL="0" marR="0" algn="ctr">
                        <a:lnSpc>
                          <a:spcPct val="115000"/>
                        </a:lnSpc>
                        <a:spcBef>
                          <a:spcPts val="0"/>
                        </a:spcBef>
                        <a:spcAft>
                          <a:spcPts val="0"/>
                        </a:spcAft>
                      </a:pPr>
                      <a:r>
                        <a:rPr lang="en-US" sz="1600">
                          <a:effectLst/>
                        </a:rPr>
                        <a:t>3.49</a:t>
                      </a:r>
                      <a:endParaRPr lang="en-US" sz="160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nchor="b"/>
                </a:tc>
                <a:tc>
                  <a:txBody>
                    <a:bodyPr/>
                    <a:lstStyle/>
                    <a:p>
                      <a:pPr marL="0" marR="0" algn="ctr">
                        <a:lnSpc>
                          <a:spcPct val="115000"/>
                        </a:lnSpc>
                        <a:spcBef>
                          <a:spcPts val="0"/>
                        </a:spcBef>
                        <a:spcAft>
                          <a:spcPts val="0"/>
                        </a:spcAft>
                      </a:pPr>
                      <a:r>
                        <a:rPr lang="en-US" sz="1600">
                          <a:effectLst/>
                        </a:rPr>
                        <a:t>4.13</a:t>
                      </a:r>
                      <a:endParaRPr lang="en-US" sz="160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nchor="b"/>
                </a:tc>
                <a:tc>
                  <a:txBody>
                    <a:bodyPr/>
                    <a:lstStyle/>
                    <a:p>
                      <a:pPr marL="0" marR="0" algn="ctr">
                        <a:lnSpc>
                          <a:spcPct val="115000"/>
                        </a:lnSpc>
                        <a:spcBef>
                          <a:spcPts val="0"/>
                        </a:spcBef>
                        <a:spcAft>
                          <a:spcPts val="0"/>
                        </a:spcAft>
                      </a:pPr>
                      <a:r>
                        <a:rPr lang="en-US" sz="1600">
                          <a:effectLst/>
                        </a:rPr>
                        <a:t>3.74</a:t>
                      </a:r>
                      <a:endParaRPr lang="en-US" sz="160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nchor="b"/>
                </a:tc>
                <a:tc>
                  <a:txBody>
                    <a:bodyPr/>
                    <a:lstStyle/>
                    <a:p>
                      <a:pPr marL="0" marR="0" algn="ctr">
                        <a:lnSpc>
                          <a:spcPct val="115000"/>
                        </a:lnSpc>
                        <a:spcBef>
                          <a:spcPts val="0"/>
                        </a:spcBef>
                        <a:spcAft>
                          <a:spcPts val="0"/>
                        </a:spcAft>
                      </a:pPr>
                      <a:r>
                        <a:rPr lang="en-US" sz="1600">
                          <a:effectLst/>
                        </a:rPr>
                        <a:t>3.60</a:t>
                      </a:r>
                      <a:endParaRPr lang="en-US" sz="160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nchor="b"/>
                </a:tc>
                <a:tc>
                  <a:txBody>
                    <a:bodyPr/>
                    <a:lstStyle/>
                    <a:p>
                      <a:pPr marL="0" marR="0" algn="ctr">
                        <a:lnSpc>
                          <a:spcPct val="115000"/>
                        </a:lnSpc>
                        <a:spcBef>
                          <a:spcPts val="0"/>
                        </a:spcBef>
                        <a:spcAft>
                          <a:spcPts val="0"/>
                        </a:spcAft>
                      </a:pPr>
                      <a:r>
                        <a:rPr lang="en-US" sz="1600">
                          <a:effectLst/>
                        </a:rPr>
                        <a:t>3.59</a:t>
                      </a:r>
                      <a:endParaRPr lang="en-US" sz="160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nchor="b"/>
                </a:tc>
                <a:tc>
                  <a:txBody>
                    <a:bodyPr/>
                    <a:lstStyle/>
                    <a:p>
                      <a:pPr marL="0" marR="0" algn="ctr">
                        <a:lnSpc>
                          <a:spcPct val="115000"/>
                        </a:lnSpc>
                        <a:spcBef>
                          <a:spcPts val="0"/>
                        </a:spcBef>
                        <a:spcAft>
                          <a:spcPts val="0"/>
                        </a:spcAft>
                      </a:pPr>
                      <a:r>
                        <a:rPr lang="en-US" sz="1600" dirty="0">
                          <a:effectLst/>
                        </a:rPr>
                        <a:t>4.01</a:t>
                      </a:r>
                      <a:endParaRPr lang="en-US" sz="1600" dirty="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nchor="b"/>
                </a:tc>
                <a:tc>
                  <a:txBody>
                    <a:bodyPr/>
                    <a:lstStyle/>
                    <a:p>
                      <a:pPr marL="0" marR="0" algn="ctr">
                        <a:lnSpc>
                          <a:spcPct val="115000"/>
                        </a:lnSpc>
                        <a:spcBef>
                          <a:spcPts val="0"/>
                        </a:spcBef>
                        <a:spcAft>
                          <a:spcPts val="0"/>
                        </a:spcAft>
                      </a:pPr>
                      <a:r>
                        <a:rPr lang="en-US" sz="1600" dirty="0">
                          <a:effectLst/>
                        </a:rPr>
                        <a:t>74.60</a:t>
                      </a:r>
                      <a:endParaRPr lang="en-US" sz="1600" dirty="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nchor="b"/>
                </a:tc>
              </a:tr>
              <a:tr h="397978">
                <a:tc vMerge="1">
                  <a:txBody>
                    <a:bodyPr/>
                    <a:lstStyle/>
                    <a:p>
                      <a:endParaRPr lang="en-US"/>
                    </a:p>
                  </a:txBody>
                  <a:tcPr/>
                </a:tc>
                <a:tc>
                  <a:txBody>
                    <a:bodyPr/>
                    <a:lstStyle/>
                    <a:p>
                      <a:pPr marL="0" marR="0">
                        <a:lnSpc>
                          <a:spcPct val="115000"/>
                        </a:lnSpc>
                        <a:spcBef>
                          <a:spcPts val="0"/>
                        </a:spcBef>
                        <a:spcAft>
                          <a:spcPts val="0"/>
                        </a:spcAft>
                      </a:pPr>
                      <a:r>
                        <a:rPr lang="en-US" sz="1600" dirty="0" err="1">
                          <a:effectLst/>
                        </a:rPr>
                        <a:t>Sở</a:t>
                      </a:r>
                      <a:r>
                        <a:rPr lang="en-US" sz="1600" dirty="0">
                          <a:effectLst/>
                        </a:rPr>
                        <a:t> </a:t>
                      </a:r>
                      <a:r>
                        <a:rPr lang="en-US" sz="1600" dirty="0" err="1">
                          <a:effectLst/>
                        </a:rPr>
                        <a:t>Xây</a:t>
                      </a:r>
                      <a:r>
                        <a:rPr lang="en-US" sz="1600" dirty="0">
                          <a:effectLst/>
                        </a:rPr>
                        <a:t> </a:t>
                      </a:r>
                      <a:r>
                        <a:rPr lang="en-US" sz="1600" dirty="0" err="1">
                          <a:effectLst/>
                        </a:rPr>
                        <a:t>dựng</a:t>
                      </a:r>
                      <a:r>
                        <a:rPr lang="en-US" sz="1600" dirty="0">
                          <a:effectLst/>
                        </a:rPr>
                        <a:t> </a:t>
                      </a:r>
                      <a:endParaRPr lang="en-US" sz="1600" dirty="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tc>
                <a:tc>
                  <a:txBody>
                    <a:bodyPr/>
                    <a:lstStyle/>
                    <a:p>
                      <a:pPr marL="0" marR="0" algn="ctr">
                        <a:lnSpc>
                          <a:spcPct val="115000"/>
                        </a:lnSpc>
                        <a:spcBef>
                          <a:spcPts val="0"/>
                        </a:spcBef>
                        <a:spcAft>
                          <a:spcPts val="0"/>
                        </a:spcAft>
                      </a:pPr>
                      <a:r>
                        <a:rPr lang="en-US" sz="1600">
                          <a:effectLst/>
                        </a:rPr>
                        <a:t>3.64</a:t>
                      </a:r>
                      <a:endParaRPr lang="en-US" sz="160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nchor="b"/>
                </a:tc>
                <a:tc>
                  <a:txBody>
                    <a:bodyPr/>
                    <a:lstStyle/>
                    <a:p>
                      <a:pPr marL="0" marR="0" algn="ctr">
                        <a:lnSpc>
                          <a:spcPct val="115000"/>
                        </a:lnSpc>
                        <a:spcBef>
                          <a:spcPts val="0"/>
                        </a:spcBef>
                        <a:spcAft>
                          <a:spcPts val="0"/>
                        </a:spcAft>
                      </a:pPr>
                      <a:r>
                        <a:rPr lang="en-US" sz="1600">
                          <a:effectLst/>
                        </a:rPr>
                        <a:t>3.96</a:t>
                      </a:r>
                      <a:endParaRPr lang="en-US" sz="160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nchor="b"/>
                </a:tc>
                <a:tc>
                  <a:txBody>
                    <a:bodyPr/>
                    <a:lstStyle/>
                    <a:p>
                      <a:pPr marL="0" marR="0" algn="ctr">
                        <a:lnSpc>
                          <a:spcPct val="115000"/>
                        </a:lnSpc>
                        <a:spcBef>
                          <a:spcPts val="0"/>
                        </a:spcBef>
                        <a:spcAft>
                          <a:spcPts val="0"/>
                        </a:spcAft>
                      </a:pPr>
                      <a:r>
                        <a:rPr lang="en-US" sz="1600">
                          <a:effectLst/>
                        </a:rPr>
                        <a:t>3.82</a:t>
                      </a:r>
                      <a:endParaRPr lang="en-US" sz="160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nchor="b"/>
                </a:tc>
                <a:tc>
                  <a:txBody>
                    <a:bodyPr/>
                    <a:lstStyle/>
                    <a:p>
                      <a:pPr marL="0" marR="0" algn="ctr">
                        <a:lnSpc>
                          <a:spcPct val="115000"/>
                        </a:lnSpc>
                        <a:spcBef>
                          <a:spcPts val="0"/>
                        </a:spcBef>
                        <a:spcAft>
                          <a:spcPts val="0"/>
                        </a:spcAft>
                      </a:pPr>
                      <a:r>
                        <a:rPr lang="en-US" sz="1600">
                          <a:effectLst/>
                        </a:rPr>
                        <a:t>3.56</a:t>
                      </a:r>
                      <a:endParaRPr lang="en-US" sz="160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nchor="b"/>
                </a:tc>
                <a:tc>
                  <a:txBody>
                    <a:bodyPr/>
                    <a:lstStyle/>
                    <a:p>
                      <a:pPr marL="0" marR="0" algn="ctr">
                        <a:lnSpc>
                          <a:spcPct val="115000"/>
                        </a:lnSpc>
                        <a:spcBef>
                          <a:spcPts val="0"/>
                        </a:spcBef>
                        <a:spcAft>
                          <a:spcPts val="0"/>
                        </a:spcAft>
                      </a:pPr>
                      <a:r>
                        <a:rPr lang="en-US" sz="1600">
                          <a:effectLst/>
                        </a:rPr>
                        <a:t>3.70</a:t>
                      </a:r>
                      <a:endParaRPr lang="en-US" sz="160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nchor="b"/>
                </a:tc>
                <a:tc>
                  <a:txBody>
                    <a:bodyPr/>
                    <a:lstStyle/>
                    <a:p>
                      <a:pPr marL="0" marR="0" algn="ctr">
                        <a:lnSpc>
                          <a:spcPct val="115000"/>
                        </a:lnSpc>
                        <a:spcBef>
                          <a:spcPts val="0"/>
                        </a:spcBef>
                        <a:spcAft>
                          <a:spcPts val="0"/>
                        </a:spcAft>
                      </a:pPr>
                      <a:r>
                        <a:rPr lang="en-US" sz="1600">
                          <a:effectLst/>
                        </a:rPr>
                        <a:t>3.76</a:t>
                      </a:r>
                      <a:endParaRPr lang="en-US" sz="160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nchor="b"/>
                </a:tc>
                <a:tc>
                  <a:txBody>
                    <a:bodyPr/>
                    <a:lstStyle/>
                    <a:p>
                      <a:pPr marL="0" marR="0" algn="ctr">
                        <a:lnSpc>
                          <a:spcPct val="115000"/>
                        </a:lnSpc>
                        <a:spcBef>
                          <a:spcPts val="0"/>
                        </a:spcBef>
                        <a:spcAft>
                          <a:spcPts val="0"/>
                        </a:spcAft>
                      </a:pPr>
                      <a:r>
                        <a:rPr lang="en-US" sz="1600" dirty="0">
                          <a:effectLst/>
                        </a:rPr>
                        <a:t>74.52</a:t>
                      </a:r>
                      <a:endParaRPr lang="en-US" sz="1600" dirty="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nchor="b"/>
                </a:tc>
              </a:tr>
              <a:tr h="397978">
                <a:tc vMerge="1">
                  <a:txBody>
                    <a:bodyPr/>
                    <a:lstStyle/>
                    <a:p>
                      <a:endParaRPr lang="en-US"/>
                    </a:p>
                  </a:txBody>
                  <a:tcPr/>
                </a:tc>
                <a:tc>
                  <a:txBody>
                    <a:bodyPr/>
                    <a:lstStyle/>
                    <a:p>
                      <a:pPr marL="0" marR="0">
                        <a:lnSpc>
                          <a:spcPct val="115000"/>
                        </a:lnSpc>
                        <a:spcBef>
                          <a:spcPts val="0"/>
                        </a:spcBef>
                        <a:spcAft>
                          <a:spcPts val="0"/>
                        </a:spcAft>
                      </a:pPr>
                      <a:r>
                        <a:rPr lang="en-US" sz="1600" dirty="0">
                          <a:effectLst/>
                        </a:rPr>
                        <a:t>Trung </a:t>
                      </a:r>
                      <a:r>
                        <a:rPr lang="en-US" sz="1600" dirty="0" err="1">
                          <a:effectLst/>
                        </a:rPr>
                        <a:t>bình</a:t>
                      </a:r>
                      <a:r>
                        <a:rPr lang="en-US" sz="1600" dirty="0">
                          <a:effectLst/>
                        </a:rPr>
                        <a:t> </a:t>
                      </a:r>
                      <a:r>
                        <a:rPr lang="en-US" sz="1600" dirty="0" err="1">
                          <a:effectLst/>
                        </a:rPr>
                        <a:t>chung</a:t>
                      </a:r>
                      <a:endParaRPr lang="en-US" sz="1600" dirty="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tc>
                <a:tc>
                  <a:txBody>
                    <a:bodyPr/>
                    <a:lstStyle/>
                    <a:p>
                      <a:pPr marL="0" marR="0" algn="ctr">
                        <a:lnSpc>
                          <a:spcPct val="115000"/>
                        </a:lnSpc>
                        <a:spcBef>
                          <a:spcPts val="0"/>
                        </a:spcBef>
                        <a:spcAft>
                          <a:spcPts val="0"/>
                        </a:spcAft>
                      </a:pPr>
                      <a:r>
                        <a:rPr lang="en-US" sz="1600">
                          <a:effectLst/>
                        </a:rPr>
                        <a:t>3.59</a:t>
                      </a:r>
                      <a:endParaRPr lang="en-US" sz="160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nchor="b"/>
                </a:tc>
                <a:tc>
                  <a:txBody>
                    <a:bodyPr/>
                    <a:lstStyle/>
                    <a:p>
                      <a:pPr marL="0" marR="0" algn="ctr">
                        <a:lnSpc>
                          <a:spcPct val="115000"/>
                        </a:lnSpc>
                        <a:spcBef>
                          <a:spcPts val="0"/>
                        </a:spcBef>
                        <a:spcAft>
                          <a:spcPts val="0"/>
                        </a:spcAft>
                      </a:pPr>
                      <a:r>
                        <a:rPr lang="en-US" sz="1600">
                          <a:effectLst/>
                        </a:rPr>
                        <a:t>3.83</a:t>
                      </a:r>
                      <a:endParaRPr lang="en-US" sz="160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nchor="b"/>
                </a:tc>
                <a:tc>
                  <a:txBody>
                    <a:bodyPr/>
                    <a:lstStyle/>
                    <a:p>
                      <a:pPr marL="0" marR="0" algn="ctr">
                        <a:lnSpc>
                          <a:spcPct val="115000"/>
                        </a:lnSpc>
                        <a:spcBef>
                          <a:spcPts val="0"/>
                        </a:spcBef>
                        <a:spcAft>
                          <a:spcPts val="0"/>
                        </a:spcAft>
                      </a:pPr>
                      <a:r>
                        <a:rPr lang="en-US" sz="1600">
                          <a:effectLst/>
                        </a:rPr>
                        <a:t>3.71</a:t>
                      </a:r>
                      <a:endParaRPr lang="en-US" sz="160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nchor="b"/>
                </a:tc>
                <a:tc>
                  <a:txBody>
                    <a:bodyPr/>
                    <a:lstStyle/>
                    <a:p>
                      <a:pPr marL="0" marR="0" algn="ctr">
                        <a:lnSpc>
                          <a:spcPct val="115000"/>
                        </a:lnSpc>
                        <a:spcBef>
                          <a:spcPts val="0"/>
                        </a:spcBef>
                        <a:spcAft>
                          <a:spcPts val="0"/>
                        </a:spcAft>
                      </a:pPr>
                      <a:r>
                        <a:rPr lang="en-US" sz="1600">
                          <a:effectLst/>
                        </a:rPr>
                        <a:t>3.59</a:t>
                      </a:r>
                      <a:endParaRPr lang="en-US" sz="160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nchor="b"/>
                </a:tc>
                <a:tc>
                  <a:txBody>
                    <a:bodyPr/>
                    <a:lstStyle/>
                    <a:p>
                      <a:pPr marL="0" marR="0" algn="ctr">
                        <a:lnSpc>
                          <a:spcPct val="115000"/>
                        </a:lnSpc>
                        <a:spcBef>
                          <a:spcPts val="0"/>
                        </a:spcBef>
                        <a:spcAft>
                          <a:spcPts val="0"/>
                        </a:spcAft>
                      </a:pPr>
                      <a:r>
                        <a:rPr lang="en-US" sz="1600">
                          <a:effectLst/>
                        </a:rPr>
                        <a:t>3.65</a:t>
                      </a:r>
                      <a:endParaRPr lang="en-US" sz="160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nchor="b"/>
                </a:tc>
                <a:tc>
                  <a:txBody>
                    <a:bodyPr/>
                    <a:lstStyle/>
                    <a:p>
                      <a:pPr marL="0" marR="0" algn="ctr">
                        <a:lnSpc>
                          <a:spcPct val="115000"/>
                        </a:lnSpc>
                        <a:spcBef>
                          <a:spcPts val="0"/>
                        </a:spcBef>
                        <a:spcAft>
                          <a:spcPts val="0"/>
                        </a:spcAft>
                      </a:pPr>
                      <a:r>
                        <a:rPr lang="en-US" sz="1600">
                          <a:effectLst/>
                        </a:rPr>
                        <a:t>3.63</a:t>
                      </a:r>
                      <a:endParaRPr lang="en-US" sz="160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nchor="b"/>
                </a:tc>
                <a:tc>
                  <a:txBody>
                    <a:bodyPr/>
                    <a:lstStyle/>
                    <a:p>
                      <a:pPr marL="0" marR="0" algn="ctr">
                        <a:lnSpc>
                          <a:spcPct val="115000"/>
                        </a:lnSpc>
                        <a:spcBef>
                          <a:spcPts val="0"/>
                        </a:spcBef>
                        <a:spcAft>
                          <a:spcPts val="0"/>
                        </a:spcAft>
                      </a:pPr>
                      <a:r>
                        <a:rPr lang="en-US" sz="1600" dirty="0">
                          <a:effectLst/>
                        </a:rPr>
                        <a:t>73.14</a:t>
                      </a:r>
                      <a:endParaRPr lang="en-US" sz="1600" dirty="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nchor="b"/>
                </a:tc>
              </a:tr>
            </a:tbl>
          </a:graphicData>
        </a:graphic>
      </p:graphicFrame>
      <p:sp>
        <p:nvSpPr>
          <p:cNvPr id="12" name="Rectangle 4"/>
          <p:cNvSpPr>
            <a:spLocks noChangeArrowheads="1"/>
          </p:cNvSpPr>
          <p:nvPr/>
        </p:nvSpPr>
        <p:spPr bwMode="auto">
          <a:xfrm>
            <a:off x="-1423534" y="1527860"/>
            <a:ext cx="12934497"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smtClean="0">
                <a:ln>
                  <a:noFill/>
                </a:ln>
                <a:solidFill>
                  <a:schemeClr val="tx1"/>
                </a:solidFill>
                <a:effectLst/>
                <a:latin typeface="Arial" panose="020B0604020202020204" pitchFamily="34" charset="0"/>
              </a:rPr>
              <a:t/>
            </a:r>
            <a:br>
              <a:rPr kumimoji="0" lang="en-US" altLang="en-US" sz="1800" b="0" i="0" u="none" strike="noStrike" cap="none" normalizeH="0" baseline="0" smtClean="0">
                <a:ln>
                  <a:noFill/>
                </a:ln>
                <a:solidFill>
                  <a:schemeClr val="tx1"/>
                </a:solidFill>
                <a:effectLst/>
                <a:latin typeface="Arial" panose="020B0604020202020204" pitchFamily="34" charset="0"/>
              </a:rPr>
            </a:b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13" name="Rectangle 5"/>
          <p:cNvSpPr>
            <a:spLocks noChangeArrowheads="1"/>
          </p:cNvSpPr>
          <p:nvPr/>
        </p:nvSpPr>
        <p:spPr bwMode="auto">
          <a:xfrm>
            <a:off x="1115969" y="1851025"/>
            <a:ext cx="4268832" cy="952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
        <p:nvSpPr>
          <p:cNvPr id="14" name="Rectangle 6"/>
          <p:cNvSpPr>
            <a:spLocks noChangeArrowheads="1"/>
          </p:cNvSpPr>
          <p:nvPr/>
        </p:nvSpPr>
        <p:spPr bwMode="auto">
          <a:xfrm>
            <a:off x="0" y="5488100"/>
            <a:ext cx="4366320"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3000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hlinkClick r:id="rId3"/>
              </a:rPr>
              <a:t>[</a:t>
            </a:r>
            <a:r>
              <a:rPr kumimoji="0" lang="en-US" altLang="en-US" sz="1200" b="0" i="0" u="none" strike="noStrike" cap="none" normalizeH="0" baseline="30000" dirty="0" smtClean="0" bmk="">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hlinkClick r:id="rId3"/>
              </a:rPr>
              <a:t>1]</a:t>
            </a:r>
            <a:r>
              <a:rPr kumimoji="0" lang="en-US" altLang="en-US" sz="1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200" b="1" i="0" u="none" strike="noStrike" cap="none" normalizeH="0" baseline="0" dirty="0" err="1" smtClean="0">
                <a:ln>
                  <a:noFill/>
                </a:ln>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Ghi</a:t>
            </a:r>
            <a:r>
              <a:rPr kumimoji="0" lang="en-US" altLang="en-US" sz="1200" b="1" i="0" u="none" strike="noStrike" cap="none" normalizeH="0" baseline="0" dirty="0" smtClean="0">
                <a:ln>
                  <a:noFill/>
                </a:ln>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200" b="1" i="0" u="none" strike="noStrike" cap="none" normalizeH="0" baseline="0" dirty="0" err="1" smtClean="0">
                <a:ln>
                  <a:noFill/>
                </a:ln>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chú</a:t>
            </a:r>
            <a:r>
              <a:rPr kumimoji="0" lang="en-US" altLang="en-US" sz="1200" b="1" i="0" u="none" strike="noStrike" cap="none" normalizeH="0" baseline="0" dirty="0" smtClean="0">
                <a:ln>
                  <a:noFill/>
                </a:ln>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kumimoji="0" lang="en-US" altLang="en-US" sz="8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1" u="none" strike="noStrike" cap="none" normalizeH="0" baseline="0" dirty="0" err="1"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Tiếp</a:t>
            </a:r>
            <a:r>
              <a:rPr kumimoji="0" lang="en-US" altLang="en-US" sz="1200" b="0" i="1"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200" b="0" i="1" u="none" strike="noStrike" cap="none" normalizeH="0" baseline="0" dirty="0" err="1"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cận</a:t>
            </a:r>
            <a:r>
              <a:rPr kumimoji="0" lang="en-US" altLang="en-US" sz="1200" b="0" i="1"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200" b="0" i="1" u="none" strike="noStrike" cap="none" normalizeH="0" baseline="0" dirty="0" err="1"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dịch</a:t>
            </a:r>
            <a:r>
              <a:rPr kumimoji="0" lang="en-US" altLang="en-US" sz="1200" b="0" i="1"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200" b="0" i="1" u="none" strike="noStrike" cap="none" normalizeH="0" baseline="0" dirty="0" err="1"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vụ</a:t>
            </a:r>
            <a:r>
              <a:rPr kumimoji="0" lang="en-US" altLang="en-US" sz="1200" b="0" i="1"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kumimoji="0" lang="en-US" altLang="en-US" sz="8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1" u="none" strike="noStrike" cap="none" normalizeH="0" baseline="0" dirty="0" err="1"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Điều</a:t>
            </a:r>
            <a:r>
              <a:rPr kumimoji="0" lang="en-US" altLang="en-US" sz="1200" b="0" i="1"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200" b="0" i="1" u="none" strike="noStrike" cap="none" normalizeH="0" baseline="0" dirty="0" err="1"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kiện</a:t>
            </a:r>
            <a:r>
              <a:rPr kumimoji="0" lang="en-US" altLang="en-US" sz="1200" b="0" i="1"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200" b="0" i="1" u="none" strike="noStrike" cap="none" normalizeH="0" baseline="0" dirty="0" err="1"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phục</a:t>
            </a:r>
            <a:r>
              <a:rPr kumimoji="0" lang="en-US" altLang="en-US" sz="1200" b="0" i="1"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200" b="0" i="1" u="none" strike="noStrike" cap="none" normalizeH="0" baseline="0" dirty="0" err="1"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vụ</a:t>
            </a:r>
            <a:r>
              <a:rPr kumimoji="0" lang="en-US" altLang="en-US" sz="1200" b="0" i="1"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200" b="0" i="1" u="none" strike="noStrike" cap="none" normalizeH="0" baseline="0" dirty="0" err="1"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tiếp</a:t>
            </a:r>
            <a:r>
              <a:rPr kumimoji="0" lang="en-US" altLang="en-US" sz="1200" b="0" i="1"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200" b="0" i="1" u="none" strike="noStrike" cap="none" normalizeH="0" baseline="0" dirty="0" err="1"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đón</a:t>
            </a:r>
            <a:r>
              <a:rPr kumimoji="0" lang="en-US" altLang="en-US" sz="1200" b="0" i="1"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kumimoji="0" lang="en-US" altLang="en-US" sz="8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1" u="none" strike="noStrike" cap="none" normalizeH="0" baseline="0" dirty="0" err="1"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Thủ</a:t>
            </a:r>
            <a:r>
              <a:rPr kumimoji="0" lang="en-US" altLang="en-US" sz="1200" b="0" i="1"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200" b="0" i="1" u="none" strike="noStrike" cap="none" normalizeH="0" baseline="0" dirty="0" err="1"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tục</a:t>
            </a:r>
            <a:r>
              <a:rPr kumimoji="0" lang="en-US" altLang="en-US" sz="1200" b="0" i="1"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200" b="0" i="1" u="none" strike="noStrike" cap="none" normalizeH="0" baseline="0" dirty="0" err="1"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hành</a:t>
            </a:r>
            <a:r>
              <a:rPr kumimoji="0" lang="en-US" altLang="en-US" sz="1200" b="0" i="1"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200" b="0" i="1" u="none" strike="noStrike" cap="none" normalizeH="0" baseline="0" dirty="0" err="1"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chính</a:t>
            </a:r>
            <a:endParaRPr kumimoji="0" lang="en-US" altLang="en-US" sz="8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1" u="none" strike="noStrike" cap="none" normalizeH="0" baseline="0" dirty="0" err="1"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Sự</a:t>
            </a:r>
            <a:r>
              <a:rPr kumimoji="0" lang="en-US" altLang="en-US" sz="1200" b="0" i="1"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200" b="0" i="1" u="none" strike="noStrike" cap="none" normalizeH="0" baseline="0" dirty="0" err="1"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phục</a:t>
            </a:r>
            <a:r>
              <a:rPr kumimoji="0" lang="en-US" altLang="en-US" sz="1200" b="0" i="1"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200" b="0" i="1" u="none" strike="noStrike" cap="none" normalizeH="0" baseline="0" dirty="0" err="1"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vụ</a:t>
            </a:r>
            <a:r>
              <a:rPr kumimoji="0" lang="en-US" altLang="en-US" sz="1200" b="0" i="1"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200" b="0" i="1" u="none" strike="noStrike" cap="none" normalizeH="0" baseline="0" dirty="0" err="1"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của</a:t>
            </a:r>
            <a:r>
              <a:rPr kumimoji="0" lang="en-US" altLang="en-US" sz="1200" b="0" i="1"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200" b="0" i="1" u="none" strike="noStrike" cap="none" normalizeH="0" baseline="0" dirty="0" err="1"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cán</a:t>
            </a:r>
            <a:r>
              <a:rPr kumimoji="0" lang="en-US" altLang="en-US" sz="1200" b="0" i="1"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200" b="0" i="1" u="none" strike="noStrike" cap="none" normalizeH="0" baseline="0" dirty="0" err="1"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bộ</a:t>
            </a:r>
            <a:r>
              <a:rPr kumimoji="0" lang="en-US" altLang="en-US" sz="1200" b="0" i="1"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200" b="0" i="1" u="none" strike="noStrike" cap="none" normalizeH="0" baseline="0" dirty="0" err="1"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công</a:t>
            </a:r>
            <a:r>
              <a:rPr kumimoji="0" lang="en-US" altLang="en-US" sz="1200" b="0" i="1"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200" b="0" i="1" u="none" strike="noStrike" cap="none" normalizeH="0" baseline="0" dirty="0" err="1"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chức</a:t>
            </a:r>
            <a:endParaRPr kumimoji="0" lang="en-US" altLang="en-US" sz="8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1" u="none" strike="noStrike" cap="none" normalizeH="0" baseline="0" dirty="0" err="1"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Kết</a:t>
            </a:r>
            <a:r>
              <a:rPr kumimoji="0" lang="en-US" altLang="en-US" sz="1200" b="0" i="1"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200" b="0" i="1" u="none" strike="noStrike" cap="none" normalizeH="0" baseline="0" dirty="0" err="1"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quả</a:t>
            </a:r>
            <a:r>
              <a:rPr kumimoji="0" lang="en-US" altLang="en-US" sz="1200" b="0" i="1"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200" b="0" i="1" u="none" strike="noStrike" cap="none" normalizeH="0" baseline="0" dirty="0" err="1"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tiến</a:t>
            </a:r>
            <a:r>
              <a:rPr kumimoji="0" lang="en-US" altLang="en-US" sz="1200" b="0" i="1"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200" b="0" i="1" u="none" strike="noStrike" cap="none" normalizeH="0" baseline="0" dirty="0" err="1"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độ</a:t>
            </a:r>
            <a:r>
              <a:rPr kumimoji="0" lang="en-US" altLang="en-US" sz="1200" b="0" i="1"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200" b="0" i="1" u="none" strike="noStrike" cap="none" normalizeH="0" baseline="0" dirty="0" err="1"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giải</a:t>
            </a:r>
            <a:r>
              <a:rPr kumimoji="0" lang="en-US" altLang="en-US" sz="1200" b="0" i="1"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200" b="0" i="1" u="none" strike="noStrike" cap="none" normalizeH="0" baseline="0" dirty="0" err="1"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quyết</a:t>
            </a:r>
            <a:r>
              <a:rPr kumimoji="0" lang="en-US" altLang="en-US" sz="1200" b="0" i="1"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200" b="0" i="1" u="none" strike="noStrike" cap="none" normalizeH="0" baseline="0" dirty="0" err="1"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công</a:t>
            </a:r>
            <a:r>
              <a:rPr kumimoji="0" lang="en-US" altLang="en-US" sz="1200" b="0" i="1"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200" b="0" i="1" u="none" strike="noStrike" cap="none" normalizeH="0" baseline="0" dirty="0" err="1"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việc</a:t>
            </a:r>
            <a:endParaRPr kumimoji="0" lang="en-US" altLang="en-US" sz="8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1" u="none" strike="noStrike" cap="none" normalizeH="0" baseline="0" dirty="0" err="1"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Tiếp</a:t>
            </a:r>
            <a:r>
              <a:rPr kumimoji="0" lang="en-US" altLang="en-US" sz="1200" b="0" i="1"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200" b="0" i="1" u="none" strike="noStrike" cap="none" normalizeH="0" baseline="0" dirty="0" err="1"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nhận</a:t>
            </a:r>
            <a:r>
              <a:rPr kumimoji="0" lang="en-US" altLang="en-US" sz="1200" b="0" i="1"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200" b="0" i="1" u="none" strike="noStrike" cap="none" normalizeH="0" baseline="0" dirty="0" err="1"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và</a:t>
            </a:r>
            <a:r>
              <a:rPr kumimoji="0" lang="en-US" altLang="en-US" sz="1200" b="0" i="1"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200" b="0" i="1" u="none" strike="noStrike" cap="none" normalizeH="0" baseline="0" dirty="0" err="1"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xử</a:t>
            </a:r>
            <a:r>
              <a:rPr kumimoji="0" lang="en-US" altLang="en-US" sz="1200" b="0" i="1"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200" b="0" i="1" u="none" strike="noStrike" cap="none" normalizeH="0" baseline="0" dirty="0" err="1"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lý</a:t>
            </a:r>
            <a:r>
              <a:rPr kumimoji="0" lang="en-US" altLang="en-US" sz="1200" b="0" i="1"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200" b="0" i="1" u="none" strike="noStrike" cap="none" normalizeH="0" baseline="0" dirty="0" err="1"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thông</a:t>
            </a:r>
            <a:r>
              <a:rPr kumimoji="0" lang="en-US" altLang="en-US" sz="1200" b="0" i="1"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tin </a:t>
            </a:r>
            <a:r>
              <a:rPr kumimoji="0" lang="en-US" altLang="en-US" sz="1200" b="0" i="1" u="none" strike="noStrike" cap="none" normalizeH="0" baseline="0" dirty="0" err="1"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phản</a:t>
            </a:r>
            <a:r>
              <a:rPr kumimoji="0" lang="en-US" altLang="en-US" sz="1200" b="0" i="1"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200" b="0" i="1" u="none" strike="noStrike" cap="none" normalizeH="0" baseline="0" dirty="0" err="1"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hồi</a:t>
            </a:r>
            <a:r>
              <a:rPr kumimoji="0" lang="en-US" altLang="en-US" sz="1200" b="0" i="1"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21559998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250385" y="5948719"/>
            <a:ext cx="6156176" cy="369332"/>
          </a:xfrm>
          <a:prstGeom prst="rect">
            <a:avLst/>
          </a:prstGeom>
          <a:noFill/>
        </p:spPr>
        <p:txBody>
          <a:bodyPr wrap="square" rtlCol="0">
            <a:spAutoFit/>
          </a:bodyPr>
          <a:lstStyle/>
          <a:p>
            <a:r>
              <a:rPr lang="vi-VN" dirty="0" smtClean="0"/>
              <a:t>2. Bảng thống kê sự </a:t>
            </a:r>
            <a:r>
              <a:rPr lang="vi-VN" dirty="0"/>
              <a:t>hài </a:t>
            </a:r>
            <a:r>
              <a:rPr lang="vi-VN" dirty="0" smtClean="0"/>
              <a:t>lòng theo lĩnh vực của một đơn vị</a:t>
            </a:r>
            <a:endParaRPr lang="en-US" dirty="0"/>
          </a:p>
        </p:txBody>
      </p:sp>
      <p:sp>
        <p:nvSpPr>
          <p:cNvPr id="6" name="Title 1"/>
          <p:cNvSpPr>
            <a:spLocks noGrp="1"/>
          </p:cNvSpPr>
          <p:nvPr>
            <p:ph type="title"/>
          </p:nvPr>
        </p:nvSpPr>
        <p:spPr>
          <a:xfrm>
            <a:off x="205680" y="704088"/>
            <a:ext cx="8686800" cy="1143000"/>
          </a:xfrm>
        </p:spPr>
        <p:txBody>
          <a:bodyPr>
            <a:noAutofit/>
          </a:bodyPr>
          <a:lstStyle/>
          <a:p>
            <a:r>
              <a:rPr lang="vi-VN" sz="4000" dirty="0"/>
              <a:t>Một số mẫu thống </a:t>
            </a:r>
            <a:r>
              <a:rPr lang="vi-VN" sz="4000" dirty="0" smtClean="0"/>
              <a:t>kê, </a:t>
            </a:r>
            <a:r>
              <a:rPr lang="vi-VN" sz="4000" dirty="0"/>
              <a:t>biểu đồ </a:t>
            </a:r>
            <a:r>
              <a:rPr lang="vi-VN" sz="4000" dirty="0" smtClean="0"/>
              <a:t>mẫu (tt)</a:t>
            </a:r>
            <a:endParaRPr lang="en-US" sz="4000" dirty="0"/>
          </a:p>
        </p:txBody>
      </p:sp>
      <p:graphicFrame>
        <p:nvGraphicFramePr>
          <p:cNvPr id="11" name="Table 10"/>
          <p:cNvGraphicFramePr>
            <a:graphicFrameLocks noGrp="1"/>
          </p:cNvGraphicFramePr>
          <p:nvPr>
            <p:extLst>
              <p:ext uri="{D42A27DB-BD31-4B8C-83A1-F6EECF244321}">
                <p14:modId xmlns:p14="http://schemas.microsoft.com/office/powerpoint/2010/main" val="851353451"/>
              </p:ext>
            </p:extLst>
          </p:nvPr>
        </p:nvGraphicFramePr>
        <p:xfrm>
          <a:off x="30735" y="1851499"/>
          <a:ext cx="9077769" cy="2469294"/>
        </p:xfrm>
        <a:graphic>
          <a:graphicData uri="http://schemas.openxmlformats.org/drawingml/2006/table">
            <a:tbl>
              <a:tblPr firstRow="1" firstCol="1" bandRow="1">
                <a:tableStyleId>{5C22544A-7EE6-4342-B048-85BDC9FD1C3A}</a:tableStyleId>
              </a:tblPr>
              <a:tblGrid>
                <a:gridCol w="1228897"/>
                <a:gridCol w="1800200"/>
                <a:gridCol w="648072"/>
                <a:gridCol w="648072"/>
                <a:gridCol w="720080"/>
                <a:gridCol w="648072"/>
                <a:gridCol w="648072"/>
                <a:gridCol w="576064"/>
                <a:gridCol w="2160240"/>
              </a:tblGrid>
              <a:tr h="206574">
                <a:tc rowSpan="2" gridSpan="2">
                  <a:txBody>
                    <a:bodyPr/>
                    <a:lstStyle/>
                    <a:p>
                      <a:pPr marL="0" marR="0" algn="ctr">
                        <a:lnSpc>
                          <a:spcPct val="115000"/>
                        </a:lnSpc>
                        <a:spcBef>
                          <a:spcPts val="0"/>
                        </a:spcBef>
                        <a:spcAft>
                          <a:spcPts val="0"/>
                        </a:spcAft>
                      </a:pPr>
                      <a:r>
                        <a:rPr lang="vi-VN" sz="1600" dirty="0" smtClean="0">
                          <a:effectLst/>
                        </a:rPr>
                        <a:t>Sở</a:t>
                      </a:r>
                      <a:r>
                        <a:rPr lang="vi-VN" sz="1600" baseline="0" dirty="0" smtClean="0">
                          <a:effectLst/>
                        </a:rPr>
                        <a:t> KHĐT</a:t>
                      </a:r>
                      <a:endParaRPr lang="en-US" sz="1600" dirty="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nchor="ctr"/>
                </a:tc>
                <a:tc rowSpan="2" hMerge="1">
                  <a:txBody>
                    <a:bodyPr/>
                    <a:lstStyle/>
                    <a:p>
                      <a:endParaRPr lang="en-US"/>
                    </a:p>
                  </a:txBody>
                  <a:tcPr/>
                </a:tc>
                <a:tc gridSpan="6">
                  <a:txBody>
                    <a:bodyPr/>
                    <a:lstStyle/>
                    <a:p>
                      <a:pPr marL="0" marR="0" algn="ctr">
                        <a:lnSpc>
                          <a:spcPct val="115000"/>
                        </a:lnSpc>
                        <a:spcBef>
                          <a:spcPts val="0"/>
                        </a:spcBef>
                        <a:spcAft>
                          <a:spcPts val="0"/>
                        </a:spcAft>
                      </a:pPr>
                      <a:r>
                        <a:rPr lang="en-US" sz="1600" dirty="0" err="1">
                          <a:effectLst/>
                        </a:rPr>
                        <a:t>Mức</a:t>
                      </a:r>
                      <a:r>
                        <a:rPr lang="en-US" sz="1600" dirty="0">
                          <a:effectLst/>
                        </a:rPr>
                        <a:t> </a:t>
                      </a:r>
                      <a:r>
                        <a:rPr lang="en-US" sz="1600" dirty="0" err="1">
                          <a:effectLst/>
                        </a:rPr>
                        <a:t>độ</a:t>
                      </a:r>
                      <a:r>
                        <a:rPr lang="en-US" sz="1600" dirty="0">
                          <a:effectLst/>
                        </a:rPr>
                        <a:t> </a:t>
                      </a:r>
                      <a:r>
                        <a:rPr lang="en-US" sz="1600" dirty="0" err="1">
                          <a:effectLst/>
                        </a:rPr>
                        <a:t>hài</a:t>
                      </a:r>
                      <a:r>
                        <a:rPr lang="en-US" sz="1600" dirty="0">
                          <a:effectLst/>
                        </a:rPr>
                        <a:t> </a:t>
                      </a:r>
                      <a:r>
                        <a:rPr lang="en-US" sz="1600" dirty="0" err="1">
                          <a:effectLst/>
                        </a:rPr>
                        <a:t>lòng</a:t>
                      </a:r>
                      <a:r>
                        <a:rPr lang="en-US" sz="1600" dirty="0">
                          <a:effectLst/>
                        </a:rPr>
                        <a:t> </a:t>
                      </a:r>
                      <a:r>
                        <a:rPr lang="en-US" sz="1600" dirty="0" err="1">
                          <a:effectLst/>
                        </a:rPr>
                        <a:t>từng</a:t>
                      </a:r>
                      <a:r>
                        <a:rPr lang="en-US" sz="1600" dirty="0">
                          <a:effectLst/>
                        </a:rPr>
                        <a:t> </a:t>
                      </a:r>
                      <a:r>
                        <a:rPr lang="en-US" sz="1600" dirty="0" err="1">
                          <a:effectLst/>
                        </a:rPr>
                        <a:t>Tiêu</a:t>
                      </a:r>
                      <a:r>
                        <a:rPr lang="en-US" sz="1600" dirty="0">
                          <a:effectLst/>
                        </a:rPr>
                        <a:t> </a:t>
                      </a:r>
                      <a:r>
                        <a:rPr lang="en-US" sz="1600" dirty="0" err="1">
                          <a:effectLst/>
                        </a:rPr>
                        <a:t>chí</a:t>
                      </a:r>
                      <a:r>
                        <a:rPr lang="en-US" sz="1600" dirty="0">
                          <a:effectLst/>
                        </a:rPr>
                        <a:t> </a:t>
                      </a:r>
                      <a:endParaRPr lang="en-US" sz="1600" dirty="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nchor="b"/>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rowSpan="2">
                  <a:txBody>
                    <a:bodyPr/>
                    <a:lstStyle/>
                    <a:p>
                      <a:pPr marL="0" marR="0" algn="ctr">
                        <a:lnSpc>
                          <a:spcPct val="115000"/>
                        </a:lnSpc>
                        <a:spcBef>
                          <a:spcPts val="0"/>
                        </a:spcBef>
                        <a:spcAft>
                          <a:spcPts val="0"/>
                        </a:spcAft>
                      </a:pPr>
                      <a:r>
                        <a:rPr lang="en-US" sz="1600" dirty="0" err="1">
                          <a:effectLst/>
                        </a:rPr>
                        <a:t>Chỉ</a:t>
                      </a:r>
                      <a:r>
                        <a:rPr lang="en-US" sz="1600" dirty="0">
                          <a:effectLst/>
                        </a:rPr>
                        <a:t> </a:t>
                      </a:r>
                      <a:r>
                        <a:rPr lang="en-US" sz="1600" dirty="0" err="1">
                          <a:effectLst/>
                        </a:rPr>
                        <a:t>số</a:t>
                      </a:r>
                      <a:r>
                        <a:rPr lang="en-US" sz="1600" dirty="0">
                          <a:effectLst/>
                        </a:rPr>
                        <a:t> </a:t>
                      </a:r>
                      <a:r>
                        <a:rPr lang="en-US" sz="1600" dirty="0" err="1">
                          <a:effectLst/>
                        </a:rPr>
                        <a:t>hài</a:t>
                      </a:r>
                      <a:r>
                        <a:rPr lang="en-US" sz="1600" dirty="0">
                          <a:effectLst/>
                        </a:rPr>
                        <a:t> </a:t>
                      </a:r>
                      <a:r>
                        <a:rPr lang="en-US" sz="1600" dirty="0" err="1">
                          <a:effectLst/>
                        </a:rPr>
                        <a:t>lòng</a:t>
                      </a:r>
                      <a:r>
                        <a:rPr lang="en-US" sz="1600" dirty="0">
                          <a:effectLst/>
                        </a:rPr>
                        <a:t> (a)%</a:t>
                      </a:r>
                      <a:endParaRPr lang="en-US" sz="1600" dirty="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nchor="ctr"/>
                </a:tc>
              </a:tr>
              <a:tr h="596966">
                <a:tc gridSpan="2" vMerge="1">
                  <a:txBody>
                    <a:bodyPr/>
                    <a:lstStyle/>
                    <a:p>
                      <a:endParaRPr lang="en-US"/>
                    </a:p>
                  </a:txBody>
                  <a:tcPr/>
                </a:tc>
                <a:tc hMerge="1" vMerge="1">
                  <a:txBody>
                    <a:bodyPr/>
                    <a:lstStyle/>
                    <a:p>
                      <a:endParaRPr lang="en-US"/>
                    </a:p>
                  </a:txBody>
                  <a:tcPr/>
                </a:tc>
                <a:tc>
                  <a:txBody>
                    <a:bodyPr/>
                    <a:lstStyle/>
                    <a:p>
                      <a:pPr marL="0" marR="0" algn="ctr">
                        <a:lnSpc>
                          <a:spcPct val="115000"/>
                        </a:lnSpc>
                        <a:spcBef>
                          <a:spcPts val="0"/>
                        </a:spcBef>
                        <a:spcAft>
                          <a:spcPts val="0"/>
                        </a:spcAft>
                      </a:pPr>
                      <a:r>
                        <a:rPr lang="en-US" sz="1600" dirty="0">
                          <a:effectLst/>
                        </a:rPr>
                        <a:t>(1)</a:t>
                      </a:r>
                      <a:endParaRPr lang="en-US" sz="1600" dirty="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nchor="ctr"/>
                </a:tc>
                <a:tc>
                  <a:txBody>
                    <a:bodyPr/>
                    <a:lstStyle/>
                    <a:p>
                      <a:pPr marL="0" marR="0" algn="ctr">
                        <a:lnSpc>
                          <a:spcPct val="115000"/>
                        </a:lnSpc>
                        <a:spcBef>
                          <a:spcPts val="0"/>
                        </a:spcBef>
                        <a:spcAft>
                          <a:spcPts val="0"/>
                        </a:spcAft>
                      </a:pPr>
                      <a:r>
                        <a:rPr lang="en-US" sz="1600">
                          <a:effectLst/>
                        </a:rPr>
                        <a:t>(2)</a:t>
                      </a:r>
                      <a:endParaRPr lang="en-US" sz="160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nchor="ctr"/>
                </a:tc>
                <a:tc>
                  <a:txBody>
                    <a:bodyPr/>
                    <a:lstStyle/>
                    <a:p>
                      <a:pPr marL="0" marR="0" algn="ctr">
                        <a:lnSpc>
                          <a:spcPct val="115000"/>
                        </a:lnSpc>
                        <a:spcBef>
                          <a:spcPts val="0"/>
                        </a:spcBef>
                        <a:spcAft>
                          <a:spcPts val="0"/>
                        </a:spcAft>
                      </a:pPr>
                      <a:r>
                        <a:rPr lang="en-US" sz="1600">
                          <a:effectLst/>
                        </a:rPr>
                        <a:t>(3)</a:t>
                      </a:r>
                      <a:endParaRPr lang="en-US" sz="160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nchor="ctr"/>
                </a:tc>
                <a:tc>
                  <a:txBody>
                    <a:bodyPr/>
                    <a:lstStyle/>
                    <a:p>
                      <a:pPr marL="0" marR="0" algn="ctr">
                        <a:lnSpc>
                          <a:spcPct val="115000"/>
                        </a:lnSpc>
                        <a:spcBef>
                          <a:spcPts val="0"/>
                        </a:spcBef>
                        <a:spcAft>
                          <a:spcPts val="0"/>
                        </a:spcAft>
                      </a:pPr>
                      <a:r>
                        <a:rPr lang="en-US" sz="1600">
                          <a:effectLst/>
                        </a:rPr>
                        <a:t>(4)</a:t>
                      </a:r>
                      <a:endParaRPr lang="en-US" sz="160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nchor="ctr"/>
                </a:tc>
                <a:tc>
                  <a:txBody>
                    <a:bodyPr/>
                    <a:lstStyle/>
                    <a:p>
                      <a:pPr marL="0" marR="0" algn="ctr">
                        <a:lnSpc>
                          <a:spcPct val="115000"/>
                        </a:lnSpc>
                        <a:spcBef>
                          <a:spcPts val="0"/>
                        </a:spcBef>
                        <a:spcAft>
                          <a:spcPts val="0"/>
                        </a:spcAft>
                      </a:pPr>
                      <a:r>
                        <a:rPr lang="en-US" sz="1600">
                          <a:effectLst/>
                        </a:rPr>
                        <a:t>(5)</a:t>
                      </a:r>
                      <a:endParaRPr lang="en-US" sz="160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nchor="ctr"/>
                </a:tc>
                <a:tc>
                  <a:txBody>
                    <a:bodyPr/>
                    <a:lstStyle/>
                    <a:p>
                      <a:pPr marL="0" marR="0" algn="ctr">
                        <a:lnSpc>
                          <a:spcPct val="115000"/>
                        </a:lnSpc>
                        <a:spcBef>
                          <a:spcPts val="0"/>
                        </a:spcBef>
                        <a:spcAft>
                          <a:spcPts val="0"/>
                        </a:spcAft>
                      </a:pPr>
                      <a:r>
                        <a:rPr lang="en-US" sz="1600" dirty="0">
                          <a:effectLst/>
                        </a:rPr>
                        <a:t>(6)</a:t>
                      </a:r>
                      <a:endParaRPr lang="en-US" sz="1600" dirty="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nchor="ctr"/>
                </a:tc>
                <a:tc vMerge="1">
                  <a:txBody>
                    <a:bodyPr/>
                    <a:lstStyle/>
                    <a:p>
                      <a:endParaRPr lang="en-US"/>
                    </a:p>
                  </a:txBody>
                  <a:tcPr/>
                </a:tc>
              </a:tr>
              <a:tr h="397978">
                <a:tc rowSpan="4">
                  <a:txBody>
                    <a:bodyPr/>
                    <a:lstStyle/>
                    <a:p>
                      <a:pPr marL="0" marR="0">
                        <a:lnSpc>
                          <a:spcPct val="115000"/>
                        </a:lnSpc>
                        <a:spcBef>
                          <a:spcPts val="0"/>
                        </a:spcBef>
                        <a:spcAft>
                          <a:spcPts val="0"/>
                        </a:spcAft>
                      </a:pPr>
                      <a:r>
                        <a:rPr lang="en-US" sz="1600" dirty="0">
                          <a:effectLst/>
                        </a:rPr>
                        <a:t> </a:t>
                      </a:r>
                    </a:p>
                    <a:p>
                      <a:pPr marL="0" marR="0">
                        <a:lnSpc>
                          <a:spcPct val="115000"/>
                        </a:lnSpc>
                        <a:spcBef>
                          <a:spcPts val="0"/>
                        </a:spcBef>
                        <a:spcAft>
                          <a:spcPts val="0"/>
                        </a:spcAft>
                      </a:pPr>
                      <a:r>
                        <a:rPr lang="vi-VN" sz="1600" dirty="0" smtClean="0">
                          <a:effectLst/>
                        </a:rPr>
                        <a:t>Lĩnh</a:t>
                      </a:r>
                      <a:r>
                        <a:rPr lang="vi-VN" sz="1600" baseline="0" dirty="0" smtClean="0">
                          <a:effectLst/>
                        </a:rPr>
                        <a:t> vực</a:t>
                      </a:r>
                      <a:endParaRPr lang="en-US" sz="1600" dirty="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nchor="ctr"/>
                </a:tc>
                <a:tc>
                  <a:txBody>
                    <a:bodyPr/>
                    <a:lstStyle/>
                    <a:p>
                      <a:pPr marL="0" marR="0">
                        <a:lnSpc>
                          <a:spcPct val="115000"/>
                        </a:lnSpc>
                        <a:spcBef>
                          <a:spcPts val="0"/>
                        </a:spcBef>
                        <a:spcAft>
                          <a:spcPts val="0"/>
                        </a:spcAft>
                      </a:pPr>
                      <a:r>
                        <a:rPr lang="vi-VN" sz="1600" dirty="0" smtClean="0">
                          <a:effectLst/>
                        </a:rPr>
                        <a:t>Lao động</a:t>
                      </a:r>
                      <a:endParaRPr lang="en-US" sz="1600" dirty="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tc>
                <a:tc>
                  <a:txBody>
                    <a:bodyPr/>
                    <a:lstStyle/>
                    <a:p>
                      <a:pPr marL="0" marR="0" algn="ctr">
                        <a:lnSpc>
                          <a:spcPct val="115000"/>
                        </a:lnSpc>
                        <a:spcBef>
                          <a:spcPts val="0"/>
                        </a:spcBef>
                        <a:spcAft>
                          <a:spcPts val="0"/>
                        </a:spcAft>
                      </a:pPr>
                      <a:r>
                        <a:rPr lang="en-US" sz="1600">
                          <a:effectLst/>
                        </a:rPr>
                        <a:t>3.61</a:t>
                      </a:r>
                      <a:endParaRPr lang="en-US" sz="160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nchor="b"/>
                </a:tc>
                <a:tc>
                  <a:txBody>
                    <a:bodyPr/>
                    <a:lstStyle/>
                    <a:p>
                      <a:pPr marL="0" marR="0" algn="ctr">
                        <a:lnSpc>
                          <a:spcPct val="115000"/>
                        </a:lnSpc>
                        <a:spcBef>
                          <a:spcPts val="0"/>
                        </a:spcBef>
                        <a:spcAft>
                          <a:spcPts val="0"/>
                        </a:spcAft>
                      </a:pPr>
                      <a:r>
                        <a:rPr lang="en-US" sz="1600" dirty="0">
                          <a:effectLst/>
                        </a:rPr>
                        <a:t>3.75</a:t>
                      </a:r>
                      <a:endParaRPr lang="en-US" sz="1600" dirty="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nchor="b"/>
                </a:tc>
                <a:tc>
                  <a:txBody>
                    <a:bodyPr/>
                    <a:lstStyle/>
                    <a:p>
                      <a:pPr marL="0" marR="0" algn="ctr">
                        <a:lnSpc>
                          <a:spcPct val="115000"/>
                        </a:lnSpc>
                        <a:spcBef>
                          <a:spcPts val="0"/>
                        </a:spcBef>
                        <a:spcAft>
                          <a:spcPts val="0"/>
                        </a:spcAft>
                      </a:pPr>
                      <a:r>
                        <a:rPr lang="en-US" sz="1600" dirty="0">
                          <a:effectLst/>
                        </a:rPr>
                        <a:t>3.73</a:t>
                      </a:r>
                      <a:endParaRPr lang="en-US" sz="1600" dirty="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nchor="b"/>
                </a:tc>
                <a:tc>
                  <a:txBody>
                    <a:bodyPr/>
                    <a:lstStyle/>
                    <a:p>
                      <a:pPr marL="0" marR="0" algn="ctr">
                        <a:lnSpc>
                          <a:spcPct val="115000"/>
                        </a:lnSpc>
                        <a:spcBef>
                          <a:spcPts val="0"/>
                        </a:spcBef>
                        <a:spcAft>
                          <a:spcPts val="0"/>
                        </a:spcAft>
                      </a:pPr>
                      <a:r>
                        <a:rPr lang="en-US" sz="1600" dirty="0">
                          <a:effectLst/>
                        </a:rPr>
                        <a:t>3.65</a:t>
                      </a:r>
                      <a:endParaRPr lang="en-US" sz="1600" dirty="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nchor="b"/>
                </a:tc>
                <a:tc>
                  <a:txBody>
                    <a:bodyPr/>
                    <a:lstStyle/>
                    <a:p>
                      <a:pPr marL="0" marR="0" algn="ctr">
                        <a:lnSpc>
                          <a:spcPct val="115000"/>
                        </a:lnSpc>
                        <a:spcBef>
                          <a:spcPts val="0"/>
                        </a:spcBef>
                        <a:spcAft>
                          <a:spcPts val="0"/>
                        </a:spcAft>
                      </a:pPr>
                      <a:r>
                        <a:rPr lang="en-US" sz="1600">
                          <a:effectLst/>
                        </a:rPr>
                        <a:t>3.68</a:t>
                      </a:r>
                      <a:endParaRPr lang="en-US" sz="160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nchor="b"/>
                </a:tc>
                <a:tc>
                  <a:txBody>
                    <a:bodyPr/>
                    <a:lstStyle/>
                    <a:p>
                      <a:pPr marL="0" marR="0" algn="ctr">
                        <a:lnSpc>
                          <a:spcPct val="115000"/>
                        </a:lnSpc>
                        <a:spcBef>
                          <a:spcPts val="0"/>
                        </a:spcBef>
                        <a:spcAft>
                          <a:spcPts val="0"/>
                        </a:spcAft>
                      </a:pPr>
                      <a:r>
                        <a:rPr lang="en-US" sz="1600">
                          <a:effectLst/>
                        </a:rPr>
                        <a:t>3.53</a:t>
                      </a:r>
                      <a:endParaRPr lang="en-US" sz="160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nchor="b"/>
                </a:tc>
                <a:tc>
                  <a:txBody>
                    <a:bodyPr/>
                    <a:lstStyle/>
                    <a:p>
                      <a:pPr marL="0" marR="0" algn="ctr">
                        <a:lnSpc>
                          <a:spcPct val="115000"/>
                        </a:lnSpc>
                        <a:spcBef>
                          <a:spcPts val="0"/>
                        </a:spcBef>
                        <a:spcAft>
                          <a:spcPts val="0"/>
                        </a:spcAft>
                      </a:pPr>
                      <a:r>
                        <a:rPr lang="en-US" sz="1600">
                          <a:effectLst/>
                        </a:rPr>
                        <a:t>73.17</a:t>
                      </a:r>
                      <a:endParaRPr lang="en-US" sz="160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nchor="b"/>
                </a:tc>
              </a:tr>
              <a:tr h="397978">
                <a:tc vMerge="1">
                  <a:txBody>
                    <a:bodyPr/>
                    <a:lstStyle/>
                    <a:p>
                      <a:endParaRPr lang="en-US"/>
                    </a:p>
                  </a:txBody>
                  <a:tcPr/>
                </a:tc>
                <a:tc>
                  <a:txBody>
                    <a:bodyPr/>
                    <a:lstStyle/>
                    <a:p>
                      <a:pPr marL="0" marR="0">
                        <a:lnSpc>
                          <a:spcPct val="115000"/>
                        </a:lnSpc>
                        <a:spcBef>
                          <a:spcPts val="0"/>
                        </a:spcBef>
                        <a:spcAft>
                          <a:spcPts val="0"/>
                        </a:spcAft>
                      </a:pPr>
                      <a:r>
                        <a:rPr lang="vi-VN" sz="1600" dirty="0" smtClean="0">
                          <a:effectLst/>
                          <a:latin typeface="+mn-lt"/>
                          <a:ea typeface="+mn-ea"/>
                          <a:cs typeface="+mn-cs"/>
                        </a:rPr>
                        <a:t>Đầu</a:t>
                      </a:r>
                      <a:r>
                        <a:rPr lang="vi-VN" sz="1600" baseline="0" dirty="0" smtClean="0">
                          <a:effectLst/>
                          <a:latin typeface="+mn-lt"/>
                          <a:ea typeface="+mn-ea"/>
                          <a:cs typeface="+mn-cs"/>
                        </a:rPr>
                        <a:t> tư</a:t>
                      </a:r>
                      <a:endParaRPr lang="en-US" sz="1600" dirty="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tc>
                <a:tc>
                  <a:txBody>
                    <a:bodyPr/>
                    <a:lstStyle/>
                    <a:p>
                      <a:pPr marL="0" marR="0" algn="ctr">
                        <a:lnSpc>
                          <a:spcPct val="115000"/>
                        </a:lnSpc>
                        <a:spcBef>
                          <a:spcPts val="0"/>
                        </a:spcBef>
                        <a:spcAft>
                          <a:spcPts val="0"/>
                        </a:spcAft>
                      </a:pPr>
                      <a:r>
                        <a:rPr lang="en-US" sz="1600">
                          <a:effectLst/>
                        </a:rPr>
                        <a:t>3.65</a:t>
                      </a:r>
                      <a:endParaRPr lang="en-US" sz="160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nchor="b"/>
                </a:tc>
                <a:tc>
                  <a:txBody>
                    <a:bodyPr/>
                    <a:lstStyle/>
                    <a:p>
                      <a:pPr marL="0" marR="0" algn="ctr">
                        <a:lnSpc>
                          <a:spcPct val="115000"/>
                        </a:lnSpc>
                        <a:spcBef>
                          <a:spcPts val="0"/>
                        </a:spcBef>
                        <a:spcAft>
                          <a:spcPts val="0"/>
                        </a:spcAft>
                      </a:pPr>
                      <a:r>
                        <a:rPr lang="en-US" sz="1600">
                          <a:effectLst/>
                        </a:rPr>
                        <a:t>3.73</a:t>
                      </a:r>
                      <a:endParaRPr lang="en-US" sz="160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nchor="b"/>
                </a:tc>
                <a:tc>
                  <a:txBody>
                    <a:bodyPr/>
                    <a:lstStyle/>
                    <a:p>
                      <a:pPr marL="0" marR="0" algn="ctr">
                        <a:lnSpc>
                          <a:spcPct val="115000"/>
                        </a:lnSpc>
                        <a:spcBef>
                          <a:spcPts val="0"/>
                        </a:spcBef>
                        <a:spcAft>
                          <a:spcPts val="0"/>
                        </a:spcAft>
                      </a:pPr>
                      <a:r>
                        <a:rPr lang="en-US" sz="1600">
                          <a:effectLst/>
                        </a:rPr>
                        <a:t>3.63</a:t>
                      </a:r>
                      <a:endParaRPr lang="en-US" sz="160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nchor="b"/>
                </a:tc>
                <a:tc>
                  <a:txBody>
                    <a:bodyPr/>
                    <a:lstStyle/>
                    <a:p>
                      <a:pPr marL="0" marR="0" algn="ctr">
                        <a:lnSpc>
                          <a:spcPct val="115000"/>
                        </a:lnSpc>
                        <a:spcBef>
                          <a:spcPts val="0"/>
                        </a:spcBef>
                        <a:spcAft>
                          <a:spcPts val="0"/>
                        </a:spcAft>
                      </a:pPr>
                      <a:r>
                        <a:rPr lang="en-US" sz="1600" dirty="0">
                          <a:effectLst/>
                        </a:rPr>
                        <a:t>3.57</a:t>
                      </a:r>
                      <a:endParaRPr lang="en-US" sz="1600" dirty="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nchor="b"/>
                </a:tc>
                <a:tc>
                  <a:txBody>
                    <a:bodyPr/>
                    <a:lstStyle/>
                    <a:p>
                      <a:pPr marL="0" marR="0" algn="ctr">
                        <a:lnSpc>
                          <a:spcPct val="115000"/>
                        </a:lnSpc>
                        <a:spcBef>
                          <a:spcPts val="0"/>
                        </a:spcBef>
                        <a:spcAft>
                          <a:spcPts val="0"/>
                        </a:spcAft>
                      </a:pPr>
                      <a:r>
                        <a:rPr lang="en-US" sz="1600" dirty="0">
                          <a:effectLst/>
                        </a:rPr>
                        <a:t>3.53</a:t>
                      </a:r>
                      <a:endParaRPr lang="en-US" sz="1600" dirty="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nchor="b"/>
                </a:tc>
                <a:tc>
                  <a:txBody>
                    <a:bodyPr/>
                    <a:lstStyle/>
                    <a:p>
                      <a:pPr marL="0" marR="0" algn="ctr">
                        <a:lnSpc>
                          <a:spcPct val="115000"/>
                        </a:lnSpc>
                        <a:spcBef>
                          <a:spcPts val="0"/>
                        </a:spcBef>
                        <a:spcAft>
                          <a:spcPts val="0"/>
                        </a:spcAft>
                      </a:pPr>
                      <a:r>
                        <a:rPr lang="en-US" sz="1600">
                          <a:effectLst/>
                        </a:rPr>
                        <a:t>3.45</a:t>
                      </a:r>
                      <a:endParaRPr lang="en-US" sz="160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nchor="b"/>
                </a:tc>
                <a:tc>
                  <a:txBody>
                    <a:bodyPr/>
                    <a:lstStyle/>
                    <a:p>
                      <a:pPr marL="0" marR="0" algn="ctr">
                        <a:lnSpc>
                          <a:spcPct val="115000"/>
                        </a:lnSpc>
                        <a:spcBef>
                          <a:spcPts val="0"/>
                        </a:spcBef>
                        <a:spcAft>
                          <a:spcPts val="0"/>
                        </a:spcAft>
                      </a:pPr>
                      <a:r>
                        <a:rPr lang="en-US" sz="1600">
                          <a:effectLst/>
                        </a:rPr>
                        <a:t>71.74</a:t>
                      </a:r>
                      <a:endParaRPr lang="en-US" sz="160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nchor="b"/>
                </a:tc>
              </a:tr>
              <a:tr h="397978">
                <a:tc vMerge="1">
                  <a:txBody>
                    <a:bodyPr/>
                    <a:lstStyle/>
                    <a:p>
                      <a:endParaRPr lang="en-US"/>
                    </a:p>
                  </a:txBody>
                  <a:tcPr/>
                </a:tc>
                <a:tc>
                  <a:txBody>
                    <a:bodyPr/>
                    <a:lstStyle/>
                    <a:p>
                      <a:pPr marL="0" marR="0">
                        <a:lnSpc>
                          <a:spcPct val="115000"/>
                        </a:lnSpc>
                        <a:spcBef>
                          <a:spcPts val="0"/>
                        </a:spcBef>
                        <a:spcAft>
                          <a:spcPts val="0"/>
                        </a:spcAft>
                      </a:pPr>
                      <a:r>
                        <a:rPr lang="vi-VN" sz="1600" dirty="0" smtClean="0">
                          <a:effectLst/>
                          <a:latin typeface="+mn-lt"/>
                          <a:ea typeface="+mn-ea"/>
                          <a:cs typeface="+mn-cs"/>
                        </a:rPr>
                        <a:t>Môi</a:t>
                      </a:r>
                      <a:r>
                        <a:rPr lang="vi-VN" sz="1600" baseline="0" dirty="0" smtClean="0">
                          <a:effectLst/>
                          <a:latin typeface="+mn-lt"/>
                          <a:ea typeface="+mn-ea"/>
                          <a:cs typeface="+mn-cs"/>
                        </a:rPr>
                        <a:t> trường</a:t>
                      </a:r>
                      <a:endParaRPr lang="en-US" sz="1600" dirty="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tc>
                <a:tc>
                  <a:txBody>
                    <a:bodyPr/>
                    <a:lstStyle/>
                    <a:p>
                      <a:pPr marL="0" marR="0" algn="ctr">
                        <a:lnSpc>
                          <a:spcPct val="115000"/>
                        </a:lnSpc>
                        <a:spcBef>
                          <a:spcPts val="0"/>
                        </a:spcBef>
                        <a:spcAft>
                          <a:spcPts val="0"/>
                        </a:spcAft>
                      </a:pPr>
                      <a:r>
                        <a:rPr lang="en-US" sz="1600">
                          <a:effectLst/>
                        </a:rPr>
                        <a:t>3.40</a:t>
                      </a:r>
                      <a:endParaRPr lang="en-US" sz="160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nchor="b"/>
                </a:tc>
                <a:tc>
                  <a:txBody>
                    <a:bodyPr/>
                    <a:lstStyle/>
                    <a:p>
                      <a:pPr marL="0" marR="0" algn="ctr">
                        <a:lnSpc>
                          <a:spcPct val="115000"/>
                        </a:lnSpc>
                        <a:spcBef>
                          <a:spcPts val="0"/>
                        </a:spcBef>
                        <a:spcAft>
                          <a:spcPts val="0"/>
                        </a:spcAft>
                      </a:pPr>
                      <a:r>
                        <a:rPr lang="en-US" sz="1600">
                          <a:effectLst/>
                        </a:rPr>
                        <a:t>3.63</a:t>
                      </a:r>
                      <a:endParaRPr lang="en-US" sz="160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nchor="b"/>
                </a:tc>
                <a:tc>
                  <a:txBody>
                    <a:bodyPr/>
                    <a:lstStyle/>
                    <a:p>
                      <a:pPr marL="0" marR="0" algn="ctr">
                        <a:lnSpc>
                          <a:spcPct val="115000"/>
                        </a:lnSpc>
                        <a:spcBef>
                          <a:spcPts val="0"/>
                        </a:spcBef>
                        <a:spcAft>
                          <a:spcPts val="0"/>
                        </a:spcAft>
                      </a:pPr>
                      <a:r>
                        <a:rPr lang="en-US" sz="1600">
                          <a:effectLst/>
                        </a:rPr>
                        <a:t>3.55</a:t>
                      </a:r>
                      <a:endParaRPr lang="en-US" sz="160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nchor="b"/>
                </a:tc>
                <a:tc>
                  <a:txBody>
                    <a:bodyPr/>
                    <a:lstStyle/>
                    <a:p>
                      <a:pPr marL="0" marR="0" algn="ctr">
                        <a:lnSpc>
                          <a:spcPct val="115000"/>
                        </a:lnSpc>
                        <a:spcBef>
                          <a:spcPts val="0"/>
                        </a:spcBef>
                        <a:spcAft>
                          <a:spcPts val="0"/>
                        </a:spcAft>
                      </a:pPr>
                      <a:r>
                        <a:rPr lang="en-US" sz="1600">
                          <a:effectLst/>
                        </a:rPr>
                        <a:t>3.38</a:t>
                      </a:r>
                      <a:endParaRPr lang="en-US" sz="160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nchor="b"/>
                </a:tc>
                <a:tc>
                  <a:txBody>
                    <a:bodyPr/>
                    <a:lstStyle/>
                    <a:p>
                      <a:pPr marL="0" marR="0" algn="ctr">
                        <a:lnSpc>
                          <a:spcPct val="115000"/>
                        </a:lnSpc>
                        <a:spcBef>
                          <a:spcPts val="0"/>
                        </a:spcBef>
                        <a:spcAft>
                          <a:spcPts val="0"/>
                        </a:spcAft>
                      </a:pPr>
                      <a:r>
                        <a:rPr lang="en-US" sz="1600" dirty="0">
                          <a:effectLst/>
                        </a:rPr>
                        <a:t>3.66</a:t>
                      </a:r>
                      <a:endParaRPr lang="en-US" sz="1600" dirty="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nchor="b"/>
                </a:tc>
                <a:tc>
                  <a:txBody>
                    <a:bodyPr/>
                    <a:lstStyle/>
                    <a:p>
                      <a:pPr marL="0" marR="0" algn="ctr">
                        <a:lnSpc>
                          <a:spcPct val="115000"/>
                        </a:lnSpc>
                        <a:spcBef>
                          <a:spcPts val="0"/>
                        </a:spcBef>
                        <a:spcAft>
                          <a:spcPts val="0"/>
                        </a:spcAft>
                      </a:pPr>
                      <a:r>
                        <a:rPr lang="en-US" sz="1600" dirty="0">
                          <a:effectLst/>
                        </a:rPr>
                        <a:t>3.44</a:t>
                      </a:r>
                      <a:endParaRPr lang="en-US" sz="1600" dirty="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nchor="b"/>
                </a:tc>
                <a:tc>
                  <a:txBody>
                    <a:bodyPr/>
                    <a:lstStyle/>
                    <a:p>
                      <a:pPr marL="0" marR="0" algn="ctr">
                        <a:lnSpc>
                          <a:spcPct val="115000"/>
                        </a:lnSpc>
                        <a:spcBef>
                          <a:spcPts val="0"/>
                        </a:spcBef>
                        <a:spcAft>
                          <a:spcPts val="0"/>
                        </a:spcAft>
                      </a:pPr>
                      <a:r>
                        <a:rPr lang="en-US" sz="1600" dirty="0">
                          <a:effectLst/>
                        </a:rPr>
                        <a:t>70.16</a:t>
                      </a:r>
                      <a:endParaRPr lang="en-US" sz="1600" dirty="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nchor="b"/>
                </a:tc>
              </a:tr>
              <a:tr h="397978">
                <a:tc vMerge="1">
                  <a:txBody>
                    <a:bodyPr/>
                    <a:lstStyle/>
                    <a:p>
                      <a:endParaRPr lang="en-US"/>
                    </a:p>
                  </a:txBody>
                  <a:tcPr/>
                </a:tc>
                <a:tc>
                  <a:txBody>
                    <a:bodyPr/>
                    <a:lstStyle/>
                    <a:p>
                      <a:pPr marL="0" marR="0">
                        <a:lnSpc>
                          <a:spcPct val="115000"/>
                        </a:lnSpc>
                        <a:spcBef>
                          <a:spcPts val="0"/>
                        </a:spcBef>
                        <a:spcAft>
                          <a:spcPts val="0"/>
                        </a:spcAft>
                      </a:pPr>
                      <a:r>
                        <a:rPr lang="vi-VN" sz="1600" dirty="0" smtClean="0">
                          <a:effectLst/>
                        </a:rPr>
                        <a:t>Thanh tra</a:t>
                      </a:r>
                      <a:endParaRPr lang="en-US" sz="1600" dirty="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tc>
                <a:tc>
                  <a:txBody>
                    <a:bodyPr/>
                    <a:lstStyle/>
                    <a:p>
                      <a:pPr marL="0" marR="0" algn="ctr">
                        <a:lnSpc>
                          <a:spcPct val="115000"/>
                        </a:lnSpc>
                        <a:spcBef>
                          <a:spcPts val="0"/>
                        </a:spcBef>
                        <a:spcAft>
                          <a:spcPts val="0"/>
                        </a:spcAft>
                      </a:pPr>
                      <a:r>
                        <a:rPr lang="en-US" sz="1600">
                          <a:effectLst/>
                        </a:rPr>
                        <a:t>3.49</a:t>
                      </a:r>
                      <a:endParaRPr lang="en-US" sz="160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nchor="b"/>
                </a:tc>
                <a:tc>
                  <a:txBody>
                    <a:bodyPr/>
                    <a:lstStyle/>
                    <a:p>
                      <a:pPr marL="0" marR="0" algn="ctr">
                        <a:lnSpc>
                          <a:spcPct val="115000"/>
                        </a:lnSpc>
                        <a:spcBef>
                          <a:spcPts val="0"/>
                        </a:spcBef>
                        <a:spcAft>
                          <a:spcPts val="0"/>
                        </a:spcAft>
                      </a:pPr>
                      <a:r>
                        <a:rPr lang="en-US" sz="1600">
                          <a:effectLst/>
                        </a:rPr>
                        <a:t>4.13</a:t>
                      </a:r>
                      <a:endParaRPr lang="en-US" sz="160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nchor="b"/>
                </a:tc>
                <a:tc>
                  <a:txBody>
                    <a:bodyPr/>
                    <a:lstStyle/>
                    <a:p>
                      <a:pPr marL="0" marR="0" algn="ctr">
                        <a:lnSpc>
                          <a:spcPct val="115000"/>
                        </a:lnSpc>
                        <a:spcBef>
                          <a:spcPts val="0"/>
                        </a:spcBef>
                        <a:spcAft>
                          <a:spcPts val="0"/>
                        </a:spcAft>
                      </a:pPr>
                      <a:r>
                        <a:rPr lang="en-US" sz="1600">
                          <a:effectLst/>
                        </a:rPr>
                        <a:t>3.74</a:t>
                      </a:r>
                      <a:endParaRPr lang="en-US" sz="160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nchor="b"/>
                </a:tc>
                <a:tc>
                  <a:txBody>
                    <a:bodyPr/>
                    <a:lstStyle/>
                    <a:p>
                      <a:pPr marL="0" marR="0" algn="ctr">
                        <a:lnSpc>
                          <a:spcPct val="115000"/>
                        </a:lnSpc>
                        <a:spcBef>
                          <a:spcPts val="0"/>
                        </a:spcBef>
                        <a:spcAft>
                          <a:spcPts val="0"/>
                        </a:spcAft>
                      </a:pPr>
                      <a:r>
                        <a:rPr lang="en-US" sz="1600">
                          <a:effectLst/>
                        </a:rPr>
                        <a:t>3.60</a:t>
                      </a:r>
                      <a:endParaRPr lang="en-US" sz="160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nchor="b"/>
                </a:tc>
                <a:tc>
                  <a:txBody>
                    <a:bodyPr/>
                    <a:lstStyle/>
                    <a:p>
                      <a:pPr marL="0" marR="0" algn="ctr">
                        <a:lnSpc>
                          <a:spcPct val="115000"/>
                        </a:lnSpc>
                        <a:spcBef>
                          <a:spcPts val="0"/>
                        </a:spcBef>
                        <a:spcAft>
                          <a:spcPts val="0"/>
                        </a:spcAft>
                      </a:pPr>
                      <a:r>
                        <a:rPr lang="en-US" sz="1600">
                          <a:effectLst/>
                        </a:rPr>
                        <a:t>3.59</a:t>
                      </a:r>
                      <a:endParaRPr lang="en-US" sz="160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nchor="b"/>
                </a:tc>
                <a:tc>
                  <a:txBody>
                    <a:bodyPr/>
                    <a:lstStyle/>
                    <a:p>
                      <a:pPr marL="0" marR="0" algn="ctr">
                        <a:lnSpc>
                          <a:spcPct val="115000"/>
                        </a:lnSpc>
                        <a:spcBef>
                          <a:spcPts val="0"/>
                        </a:spcBef>
                        <a:spcAft>
                          <a:spcPts val="0"/>
                        </a:spcAft>
                      </a:pPr>
                      <a:r>
                        <a:rPr lang="en-US" sz="1600" dirty="0">
                          <a:effectLst/>
                        </a:rPr>
                        <a:t>4.01</a:t>
                      </a:r>
                      <a:endParaRPr lang="en-US" sz="1600" dirty="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nchor="b"/>
                </a:tc>
                <a:tc>
                  <a:txBody>
                    <a:bodyPr/>
                    <a:lstStyle/>
                    <a:p>
                      <a:pPr marL="0" marR="0" algn="ctr">
                        <a:lnSpc>
                          <a:spcPct val="115000"/>
                        </a:lnSpc>
                        <a:spcBef>
                          <a:spcPts val="0"/>
                        </a:spcBef>
                        <a:spcAft>
                          <a:spcPts val="0"/>
                        </a:spcAft>
                      </a:pPr>
                      <a:r>
                        <a:rPr lang="en-US" sz="1600" dirty="0">
                          <a:effectLst/>
                        </a:rPr>
                        <a:t>74.60</a:t>
                      </a:r>
                      <a:endParaRPr lang="en-US" sz="1600" dirty="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nchor="b"/>
                </a:tc>
              </a:tr>
            </a:tbl>
          </a:graphicData>
        </a:graphic>
      </p:graphicFrame>
      <p:sp>
        <p:nvSpPr>
          <p:cNvPr id="12" name="Rectangle 4"/>
          <p:cNvSpPr>
            <a:spLocks noChangeArrowheads="1"/>
          </p:cNvSpPr>
          <p:nvPr/>
        </p:nvSpPr>
        <p:spPr bwMode="auto">
          <a:xfrm>
            <a:off x="-1423534" y="1527860"/>
            <a:ext cx="12934497"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smtClean="0">
                <a:ln>
                  <a:noFill/>
                </a:ln>
                <a:solidFill>
                  <a:schemeClr val="tx1"/>
                </a:solidFill>
                <a:effectLst/>
                <a:latin typeface="Arial" panose="020B0604020202020204" pitchFamily="34" charset="0"/>
              </a:rPr>
              <a:t/>
            </a:r>
            <a:br>
              <a:rPr kumimoji="0" lang="en-US" altLang="en-US" sz="1800" b="0" i="0" u="none" strike="noStrike" cap="none" normalizeH="0" baseline="0" smtClean="0">
                <a:ln>
                  <a:noFill/>
                </a:ln>
                <a:solidFill>
                  <a:schemeClr val="tx1"/>
                </a:solidFill>
                <a:effectLst/>
                <a:latin typeface="Arial" panose="020B0604020202020204" pitchFamily="34" charset="0"/>
              </a:rPr>
            </a:b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13" name="Rectangle 5"/>
          <p:cNvSpPr>
            <a:spLocks noChangeArrowheads="1"/>
          </p:cNvSpPr>
          <p:nvPr/>
        </p:nvSpPr>
        <p:spPr bwMode="auto">
          <a:xfrm>
            <a:off x="1115969" y="1851025"/>
            <a:ext cx="4268832" cy="952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
        <p:nvSpPr>
          <p:cNvPr id="14" name="Rectangle 6"/>
          <p:cNvSpPr>
            <a:spLocks noChangeArrowheads="1"/>
          </p:cNvSpPr>
          <p:nvPr/>
        </p:nvSpPr>
        <p:spPr bwMode="auto">
          <a:xfrm>
            <a:off x="31446" y="5144714"/>
            <a:ext cx="4972602"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3000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hlinkClick r:id="rId3"/>
              </a:rPr>
              <a:t>[</a:t>
            </a:r>
            <a:r>
              <a:rPr kumimoji="0" lang="en-US" altLang="en-US" sz="1200" b="0" i="0" u="none" strike="noStrike" cap="none" normalizeH="0" baseline="30000" dirty="0" smtClean="0" bmk="">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hlinkClick r:id="rId3"/>
              </a:rPr>
              <a:t>1]</a:t>
            </a:r>
            <a:r>
              <a:rPr kumimoji="0" lang="en-US" altLang="en-US" sz="1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200" b="1" i="0" u="none" strike="noStrike" cap="none" normalizeH="0" baseline="0" dirty="0" err="1" smtClean="0">
                <a:ln>
                  <a:noFill/>
                </a:ln>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Ghi</a:t>
            </a:r>
            <a:r>
              <a:rPr kumimoji="0" lang="en-US" altLang="en-US" sz="1200" b="1" i="0" u="none" strike="noStrike" cap="none" normalizeH="0" baseline="0" dirty="0" smtClean="0">
                <a:ln>
                  <a:noFill/>
                </a:ln>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200" b="1" i="0" u="none" strike="noStrike" cap="none" normalizeH="0" baseline="0" dirty="0" err="1" smtClean="0">
                <a:ln>
                  <a:noFill/>
                </a:ln>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chú</a:t>
            </a:r>
            <a:r>
              <a:rPr kumimoji="0" lang="en-US" altLang="en-US" sz="1200" b="1" i="0" u="none" strike="noStrike" cap="none" normalizeH="0" baseline="0" dirty="0" smtClean="0">
                <a:ln>
                  <a:noFill/>
                </a:ln>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kumimoji="0" lang="en-US" altLang="en-US" sz="8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1" u="none" strike="noStrike" cap="none" normalizeH="0" baseline="0" dirty="0" err="1"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Tiếp</a:t>
            </a:r>
            <a:r>
              <a:rPr kumimoji="0" lang="en-US" altLang="en-US" sz="1200" b="0" i="1"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200" b="0" i="1" u="none" strike="noStrike" cap="none" normalizeH="0" baseline="0" dirty="0" err="1"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cận</a:t>
            </a:r>
            <a:r>
              <a:rPr kumimoji="0" lang="en-US" altLang="en-US" sz="1200" b="0" i="1"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200" b="0" i="1" u="none" strike="noStrike" cap="none" normalizeH="0" baseline="0" dirty="0" err="1"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dịch</a:t>
            </a:r>
            <a:r>
              <a:rPr kumimoji="0" lang="en-US" altLang="en-US" sz="1200" b="0" i="1"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200" b="0" i="1" u="none" strike="noStrike" cap="none" normalizeH="0" baseline="0" dirty="0" err="1"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vụ</a:t>
            </a:r>
            <a:r>
              <a:rPr kumimoji="0" lang="en-US" altLang="en-US" sz="1200" b="0" i="1"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kumimoji="0" lang="en-US" altLang="en-US" sz="8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1" u="none" strike="noStrike" cap="none" normalizeH="0" baseline="0" dirty="0" err="1"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Điều</a:t>
            </a:r>
            <a:r>
              <a:rPr kumimoji="0" lang="en-US" altLang="en-US" sz="1200" b="0" i="1"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200" b="0" i="1" u="none" strike="noStrike" cap="none" normalizeH="0" baseline="0" dirty="0" err="1"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kiện</a:t>
            </a:r>
            <a:r>
              <a:rPr kumimoji="0" lang="en-US" altLang="en-US" sz="1200" b="0" i="1"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200" b="0" i="1" u="none" strike="noStrike" cap="none" normalizeH="0" baseline="0" dirty="0" err="1"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phục</a:t>
            </a:r>
            <a:r>
              <a:rPr kumimoji="0" lang="en-US" altLang="en-US" sz="1200" b="0" i="1"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200" b="0" i="1" u="none" strike="noStrike" cap="none" normalizeH="0" baseline="0" dirty="0" err="1"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vụ</a:t>
            </a:r>
            <a:r>
              <a:rPr kumimoji="0" lang="en-US" altLang="en-US" sz="1200" b="0" i="1"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200" b="0" i="1" u="none" strike="noStrike" cap="none" normalizeH="0" baseline="0" dirty="0" err="1"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tiếp</a:t>
            </a:r>
            <a:r>
              <a:rPr kumimoji="0" lang="en-US" altLang="en-US" sz="1200" b="0" i="1"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200" b="0" i="1" u="none" strike="noStrike" cap="none" normalizeH="0" baseline="0" dirty="0" err="1"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đón</a:t>
            </a:r>
            <a:r>
              <a:rPr kumimoji="0" lang="en-US" altLang="en-US" sz="1200" b="0" i="1"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kumimoji="0" lang="en-US" altLang="en-US" sz="8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1" u="none" strike="noStrike" cap="none" normalizeH="0" baseline="0" dirty="0" err="1"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Thủ</a:t>
            </a:r>
            <a:r>
              <a:rPr kumimoji="0" lang="en-US" altLang="en-US" sz="1200" b="0" i="1"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200" b="0" i="1" u="none" strike="noStrike" cap="none" normalizeH="0" baseline="0" dirty="0" err="1"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tục</a:t>
            </a:r>
            <a:r>
              <a:rPr kumimoji="0" lang="en-US" altLang="en-US" sz="1200" b="0" i="1"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200" b="0" i="1" u="none" strike="noStrike" cap="none" normalizeH="0" baseline="0" dirty="0" err="1"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hành</a:t>
            </a:r>
            <a:r>
              <a:rPr kumimoji="0" lang="en-US" altLang="en-US" sz="1200" b="0" i="1"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200" b="0" i="1" u="none" strike="noStrike" cap="none" normalizeH="0" baseline="0" dirty="0" err="1"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chính</a:t>
            </a:r>
            <a:endParaRPr kumimoji="0" lang="en-US" altLang="en-US" sz="8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1" u="none" strike="noStrike" cap="none" normalizeH="0" baseline="0" dirty="0" err="1"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Sự</a:t>
            </a:r>
            <a:r>
              <a:rPr kumimoji="0" lang="en-US" altLang="en-US" sz="1200" b="0" i="1"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200" b="0" i="1" u="none" strike="noStrike" cap="none" normalizeH="0" baseline="0" dirty="0" err="1"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phục</a:t>
            </a:r>
            <a:r>
              <a:rPr kumimoji="0" lang="en-US" altLang="en-US" sz="1200" b="0" i="1"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200" b="0" i="1" u="none" strike="noStrike" cap="none" normalizeH="0" baseline="0" dirty="0" err="1"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vụ</a:t>
            </a:r>
            <a:r>
              <a:rPr kumimoji="0" lang="en-US" altLang="en-US" sz="1200" b="0" i="1"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200" b="0" i="1" u="none" strike="noStrike" cap="none" normalizeH="0" baseline="0" dirty="0" err="1"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của</a:t>
            </a:r>
            <a:r>
              <a:rPr kumimoji="0" lang="en-US" altLang="en-US" sz="1200" b="0" i="1"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200" b="0" i="1" u="none" strike="noStrike" cap="none" normalizeH="0" baseline="0" dirty="0" err="1"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cán</a:t>
            </a:r>
            <a:r>
              <a:rPr kumimoji="0" lang="en-US" altLang="en-US" sz="1200" b="0" i="1"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200" b="0" i="1" u="none" strike="noStrike" cap="none" normalizeH="0" baseline="0" dirty="0" err="1"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bộ</a:t>
            </a:r>
            <a:r>
              <a:rPr kumimoji="0" lang="en-US" altLang="en-US" sz="1200" b="0" i="1"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200" b="0" i="1" u="none" strike="noStrike" cap="none" normalizeH="0" baseline="0" dirty="0" err="1"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công</a:t>
            </a:r>
            <a:r>
              <a:rPr kumimoji="0" lang="en-US" altLang="en-US" sz="1200" b="0" i="1"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200" b="0" i="1" u="none" strike="noStrike" cap="none" normalizeH="0" baseline="0" dirty="0" err="1"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chức</a:t>
            </a:r>
            <a:endParaRPr kumimoji="0" lang="en-US" altLang="en-US" sz="8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1" u="none" strike="noStrike" cap="none" normalizeH="0" baseline="0" dirty="0" err="1"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Kết</a:t>
            </a:r>
            <a:r>
              <a:rPr kumimoji="0" lang="en-US" altLang="en-US" sz="1200" b="0" i="1"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200" b="0" i="1" u="none" strike="noStrike" cap="none" normalizeH="0" baseline="0" dirty="0" err="1"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quả</a:t>
            </a:r>
            <a:r>
              <a:rPr kumimoji="0" lang="en-US" altLang="en-US" sz="1200" b="0" i="1"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200" b="0" i="1" u="none" strike="noStrike" cap="none" normalizeH="0" baseline="0" dirty="0" err="1"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tiến</a:t>
            </a:r>
            <a:r>
              <a:rPr kumimoji="0" lang="en-US" altLang="en-US" sz="1200" b="0" i="1"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200" b="0" i="1" u="none" strike="noStrike" cap="none" normalizeH="0" baseline="0" dirty="0" err="1"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độ</a:t>
            </a:r>
            <a:r>
              <a:rPr kumimoji="0" lang="en-US" altLang="en-US" sz="1200" b="0" i="1"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200" b="0" i="1" u="none" strike="noStrike" cap="none" normalizeH="0" baseline="0" dirty="0" err="1"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giải</a:t>
            </a:r>
            <a:r>
              <a:rPr kumimoji="0" lang="en-US" altLang="en-US" sz="1200" b="0" i="1"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200" b="0" i="1" u="none" strike="noStrike" cap="none" normalizeH="0" baseline="0" dirty="0" err="1"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quyết</a:t>
            </a:r>
            <a:r>
              <a:rPr kumimoji="0" lang="en-US" altLang="en-US" sz="1200" b="0" i="1"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200" b="0" i="1" u="none" strike="noStrike" cap="none" normalizeH="0" baseline="0" dirty="0" err="1"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công</a:t>
            </a:r>
            <a:r>
              <a:rPr kumimoji="0" lang="en-US" altLang="en-US" sz="1200" b="0" i="1"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200" b="0" i="1" u="none" strike="noStrike" cap="none" normalizeH="0" baseline="0" dirty="0" err="1"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việc</a:t>
            </a:r>
            <a:endParaRPr kumimoji="0" lang="en-US" altLang="en-US" sz="8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1" u="none" strike="noStrike" cap="none" normalizeH="0" baseline="0" dirty="0" err="1"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Tiếp</a:t>
            </a:r>
            <a:r>
              <a:rPr kumimoji="0" lang="en-US" altLang="en-US" sz="1200" b="0" i="1"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200" b="0" i="1" u="none" strike="noStrike" cap="none" normalizeH="0" baseline="0" dirty="0" err="1"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nhận</a:t>
            </a:r>
            <a:r>
              <a:rPr kumimoji="0" lang="en-US" altLang="en-US" sz="1200" b="0" i="1"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200" b="0" i="1" u="none" strike="noStrike" cap="none" normalizeH="0" baseline="0" dirty="0" err="1"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và</a:t>
            </a:r>
            <a:r>
              <a:rPr kumimoji="0" lang="en-US" altLang="en-US" sz="1200" b="0" i="1"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200" b="0" i="1" u="none" strike="noStrike" cap="none" normalizeH="0" baseline="0" dirty="0" err="1"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xử</a:t>
            </a:r>
            <a:r>
              <a:rPr kumimoji="0" lang="en-US" altLang="en-US" sz="1200" b="0" i="1"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200" b="0" i="1" u="none" strike="noStrike" cap="none" normalizeH="0" baseline="0" dirty="0" err="1"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lý</a:t>
            </a:r>
            <a:r>
              <a:rPr kumimoji="0" lang="en-US" altLang="en-US" sz="1200" b="0" i="1"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200" b="0" i="1" u="none" strike="noStrike" cap="none" normalizeH="0" baseline="0" dirty="0" err="1"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thông</a:t>
            </a:r>
            <a:r>
              <a:rPr kumimoji="0" lang="en-US" altLang="en-US" sz="1200" b="0" i="1"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tin </a:t>
            </a:r>
            <a:r>
              <a:rPr kumimoji="0" lang="en-US" altLang="en-US" sz="1200" b="0" i="1" u="none" strike="noStrike" cap="none" normalizeH="0" baseline="0" dirty="0" err="1"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phản</a:t>
            </a:r>
            <a:r>
              <a:rPr kumimoji="0" lang="en-US" altLang="en-US" sz="1200" b="0" i="1"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200" b="0" i="1" u="none" strike="noStrike" cap="none" normalizeH="0" baseline="0" dirty="0" err="1"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hồi</a:t>
            </a:r>
            <a:r>
              <a:rPr kumimoji="0" lang="en-US" altLang="en-US" sz="1200" b="0" i="1"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1125332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250385" y="5948719"/>
            <a:ext cx="6156176" cy="646331"/>
          </a:xfrm>
          <a:prstGeom prst="rect">
            <a:avLst/>
          </a:prstGeom>
          <a:noFill/>
        </p:spPr>
        <p:txBody>
          <a:bodyPr wrap="square" rtlCol="0">
            <a:spAutoFit/>
          </a:bodyPr>
          <a:lstStyle/>
          <a:p>
            <a:r>
              <a:rPr lang="vi-VN" dirty="0" smtClean="0"/>
              <a:t>3. Bảng thống kê sự </a:t>
            </a:r>
            <a:r>
              <a:rPr lang="vi-VN" dirty="0"/>
              <a:t>hài </a:t>
            </a:r>
            <a:r>
              <a:rPr lang="vi-VN" dirty="0" smtClean="0"/>
              <a:t>lòng theo thủ tục hành chính của một đơn vị</a:t>
            </a:r>
            <a:endParaRPr lang="en-US" dirty="0"/>
          </a:p>
        </p:txBody>
      </p:sp>
      <p:sp>
        <p:nvSpPr>
          <p:cNvPr id="6" name="Title 1"/>
          <p:cNvSpPr>
            <a:spLocks noGrp="1"/>
          </p:cNvSpPr>
          <p:nvPr>
            <p:ph type="title"/>
          </p:nvPr>
        </p:nvSpPr>
        <p:spPr>
          <a:xfrm>
            <a:off x="205680" y="704088"/>
            <a:ext cx="8686800" cy="1143000"/>
          </a:xfrm>
        </p:spPr>
        <p:txBody>
          <a:bodyPr>
            <a:noAutofit/>
          </a:bodyPr>
          <a:lstStyle/>
          <a:p>
            <a:r>
              <a:rPr lang="vi-VN" sz="4000" dirty="0"/>
              <a:t>Một số mẫu thống </a:t>
            </a:r>
            <a:r>
              <a:rPr lang="vi-VN" sz="4000" dirty="0" smtClean="0"/>
              <a:t>kê, </a:t>
            </a:r>
            <a:r>
              <a:rPr lang="vi-VN" sz="4000" dirty="0"/>
              <a:t>biểu đồ </a:t>
            </a:r>
            <a:r>
              <a:rPr lang="vi-VN" sz="4000" dirty="0" smtClean="0"/>
              <a:t>mẫu (tt)</a:t>
            </a:r>
            <a:endParaRPr lang="en-US" sz="4000" dirty="0"/>
          </a:p>
        </p:txBody>
      </p:sp>
      <p:graphicFrame>
        <p:nvGraphicFramePr>
          <p:cNvPr id="11" name="Table 10"/>
          <p:cNvGraphicFramePr>
            <a:graphicFrameLocks noGrp="1"/>
          </p:cNvGraphicFramePr>
          <p:nvPr>
            <p:extLst>
              <p:ext uri="{D42A27DB-BD31-4B8C-83A1-F6EECF244321}">
                <p14:modId xmlns:p14="http://schemas.microsoft.com/office/powerpoint/2010/main" val="4160806014"/>
              </p:ext>
            </p:extLst>
          </p:nvPr>
        </p:nvGraphicFramePr>
        <p:xfrm>
          <a:off x="30735" y="1851499"/>
          <a:ext cx="9077769" cy="3120710"/>
        </p:xfrm>
        <a:graphic>
          <a:graphicData uri="http://schemas.openxmlformats.org/drawingml/2006/table">
            <a:tbl>
              <a:tblPr firstRow="1" firstCol="1" bandRow="1">
                <a:tableStyleId>{5C22544A-7EE6-4342-B048-85BDC9FD1C3A}</a:tableStyleId>
              </a:tblPr>
              <a:tblGrid>
                <a:gridCol w="796849"/>
                <a:gridCol w="2232248"/>
                <a:gridCol w="648072"/>
                <a:gridCol w="648072"/>
                <a:gridCol w="720080"/>
                <a:gridCol w="648072"/>
                <a:gridCol w="648072"/>
                <a:gridCol w="576064"/>
                <a:gridCol w="2160240"/>
              </a:tblGrid>
              <a:tr h="206574">
                <a:tc rowSpan="2" gridSpan="2">
                  <a:txBody>
                    <a:bodyPr/>
                    <a:lstStyle/>
                    <a:p>
                      <a:pPr marL="0" marR="0" algn="ctr">
                        <a:lnSpc>
                          <a:spcPct val="115000"/>
                        </a:lnSpc>
                        <a:spcBef>
                          <a:spcPts val="0"/>
                        </a:spcBef>
                        <a:spcAft>
                          <a:spcPts val="0"/>
                        </a:spcAft>
                      </a:pPr>
                      <a:r>
                        <a:rPr lang="vi-VN" sz="1600" dirty="0" smtClean="0">
                          <a:effectLst/>
                        </a:rPr>
                        <a:t>Sở</a:t>
                      </a:r>
                      <a:r>
                        <a:rPr lang="vi-VN" sz="1600" baseline="0" dirty="0" smtClean="0">
                          <a:effectLst/>
                        </a:rPr>
                        <a:t> KHĐT</a:t>
                      </a:r>
                      <a:endParaRPr lang="en-US" sz="1600" dirty="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nchor="ctr"/>
                </a:tc>
                <a:tc rowSpan="2" hMerge="1">
                  <a:txBody>
                    <a:bodyPr/>
                    <a:lstStyle/>
                    <a:p>
                      <a:endParaRPr lang="en-US"/>
                    </a:p>
                  </a:txBody>
                  <a:tcPr/>
                </a:tc>
                <a:tc gridSpan="6">
                  <a:txBody>
                    <a:bodyPr/>
                    <a:lstStyle/>
                    <a:p>
                      <a:pPr marL="0" marR="0" algn="ctr">
                        <a:lnSpc>
                          <a:spcPct val="115000"/>
                        </a:lnSpc>
                        <a:spcBef>
                          <a:spcPts val="0"/>
                        </a:spcBef>
                        <a:spcAft>
                          <a:spcPts val="0"/>
                        </a:spcAft>
                      </a:pPr>
                      <a:r>
                        <a:rPr lang="en-US" sz="1600" dirty="0" err="1">
                          <a:effectLst/>
                        </a:rPr>
                        <a:t>Mức</a:t>
                      </a:r>
                      <a:r>
                        <a:rPr lang="en-US" sz="1600" dirty="0">
                          <a:effectLst/>
                        </a:rPr>
                        <a:t> </a:t>
                      </a:r>
                      <a:r>
                        <a:rPr lang="en-US" sz="1600" dirty="0" err="1">
                          <a:effectLst/>
                        </a:rPr>
                        <a:t>độ</a:t>
                      </a:r>
                      <a:r>
                        <a:rPr lang="en-US" sz="1600" dirty="0">
                          <a:effectLst/>
                        </a:rPr>
                        <a:t> </a:t>
                      </a:r>
                      <a:r>
                        <a:rPr lang="en-US" sz="1600" dirty="0" err="1">
                          <a:effectLst/>
                        </a:rPr>
                        <a:t>hài</a:t>
                      </a:r>
                      <a:r>
                        <a:rPr lang="en-US" sz="1600" dirty="0">
                          <a:effectLst/>
                        </a:rPr>
                        <a:t> </a:t>
                      </a:r>
                      <a:r>
                        <a:rPr lang="en-US" sz="1600" dirty="0" err="1">
                          <a:effectLst/>
                        </a:rPr>
                        <a:t>lòng</a:t>
                      </a:r>
                      <a:r>
                        <a:rPr lang="en-US" sz="1600" dirty="0">
                          <a:effectLst/>
                        </a:rPr>
                        <a:t> </a:t>
                      </a:r>
                      <a:r>
                        <a:rPr lang="en-US" sz="1600" dirty="0" err="1">
                          <a:effectLst/>
                        </a:rPr>
                        <a:t>từng</a:t>
                      </a:r>
                      <a:r>
                        <a:rPr lang="en-US" sz="1600" dirty="0">
                          <a:effectLst/>
                        </a:rPr>
                        <a:t> </a:t>
                      </a:r>
                      <a:r>
                        <a:rPr lang="en-US" sz="1600" dirty="0" err="1" smtClean="0">
                          <a:effectLst/>
                        </a:rPr>
                        <a:t>Tiêu</a:t>
                      </a:r>
                      <a:r>
                        <a:rPr lang="en-US" sz="1600" dirty="0" smtClean="0">
                          <a:effectLst/>
                        </a:rPr>
                        <a:t> </a:t>
                      </a:r>
                      <a:r>
                        <a:rPr lang="en-US" sz="1600" dirty="0" err="1" smtClean="0">
                          <a:effectLst/>
                        </a:rPr>
                        <a:t>chí</a:t>
                      </a:r>
                      <a:r>
                        <a:rPr lang="en-US" sz="1600" dirty="0" smtClean="0">
                          <a:effectLst/>
                        </a:rPr>
                        <a:t> </a:t>
                      </a:r>
                      <a:endParaRPr lang="en-US" sz="1600" dirty="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nchor="b"/>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rowSpan="2">
                  <a:txBody>
                    <a:bodyPr/>
                    <a:lstStyle/>
                    <a:p>
                      <a:pPr marL="0" marR="0" algn="ctr">
                        <a:lnSpc>
                          <a:spcPct val="115000"/>
                        </a:lnSpc>
                        <a:spcBef>
                          <a:spcPts val="0"/>
                        </a:spcBef>
                        <a:spcAft>
                          <a:spcPts val="0"/>
                        </a:spcAft>
                      </a:pPr>
                      <a:r>
                        <a:rPr lang="en-US" sz="1600" dirty="0" err="1">
                          <a:effectLst/>
                        </a:rPr>
                        <a:t>Chỉ</a:t>
                      </a:r>
                      <a:r>
                        <a:rPr lang="en-US" sz="1600" dirty="0">
                          <a:effectLst/>
                        </a:rPr>
                        <a:t> </a:t>
                      </a:r>
                      <a:r>
                        <a:rPr lang="en-US" sz="1600" dirty="0" err="1">
                          <a:effectLst/>
                        </a:rPr>
                        <a:t>số</a:t>
                      </a:r>
                      <a:r>
                        <a:rPr lang="en-US" sz="1600" dirty="0">
                          <a:effectLst/>
                        </a:rPr>
                        <a:t> </a:t>
                      </a:r>
                      <a:r>
                        <a:rPr lang="en-US" sz="1600" dirty="0" err="1">
                          <a:effectLst/>
                        </a:rPr>
                        <a:t>hài</a:t>
                      </a:r>
                      <a:r>
                        <a:rPr lang="en-US" sz="1600" dirty="0">
                          <a:effectLst/>
                        </a:rPr>
                        <a:t> </a:t>
                      </a:r>
                      <a:r>
                        <a:rPr lang="en-US" sz="1600" dirty="0" err="1">
                          <a:effectLst/>
                        </a:rPr>
                        <a:t>lòng</a:t>
                      </a:r>
                      <a:r>
                        <a:rPr lang="en-US" sz="1600" dirty="0">
                          <a:effectLst/>
                        </a:rPr>
                        <a:t> (a)%</a:t>
                      </a:r>
                      <a:endParaRPr lang="en-US" sz="1600" dirty="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nchor="ctr"/>
                </a:tc>
              </a:tr>
              <a:tr h="596966">
                <a:tc gridSpan="2" vMerge="1">
                  <a:txBody>
                    <a:bodyPr/>
                    <a:lstStyle/>
                    <a:p>
                      <a:endParaRPr lang="en-US"/>
                    </a:p>
                  </a:txBody>
                  <a:tcPr/>
                </a:tc>
                <a:tc hMerge="1" vMerge="1">
                  <a:txBody>
                    <a:bodyPr/>
                    <a:lstStyle/>
                    <a:p>
                      <a:endParaRPr lang="en-US"/>
                    </a:p>
                  </a:txBody>
                  <a:tcPr/>
                </a:tc>
                <a:tc>
                  <a:txBody>
                    <a:bodyPr/>
                    <a:lstStyle/>
                    <a:p>
                      <a:pPr marL="0" marR="0" algn="ctr">
                        <a:lnSpc>
                          <a:spcPct val="115000"/>
                        </a:lnSpc>
                        <a:spcBef>
                          <a:spcPts val="0"/>
                        </a:spcBef>
                        <a:spcAft>
                          <a:spcPts val="0"/>
                        </a:spcAft>
                      </a:pPr>
                      <a:r>
                        <a:rPr lang="en-US" sz="1600" dirty="0">
                          <a:effectLst/>
                        </a:rPr>
                        <a:t>(1)</a:t>
                      </a:r>
                      <a:endParaRPr lang="en-US" sz="1600" dirty="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nchor="ctr"/>
                </a:tc>
                <a:tc>
                  <a:txBody>
                    <a:bodyPr/>
                    <a:lstStyle/>
                    <a:p>
                      <a:pPr marL="0" marR="0" algn="ctr">
                        <a:lnSpc>
                          <a:spcPct val="115000"/>
                        </a:lnSpc>
                        <a:spcBef>
                          <a:spcPts val="0"/>
                        </a:spcBef>
                        <a:spcAft>
                          <a:spcPts val="0"/>
                        </a:spcAft>
                      </a:pPr>
                      <a:r>
                        <a:rPr lang="en-US" sz="1600">
                          <a:effectLst/>
                        </a:rPr>
                        <a:t>(2)</a:t>
                      </a:r>
                      <a:endParaRPr lang="en-US" sz="160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nchor="ctr"/>
                </a:tc>
                <a:tc>
                  <a:txBody>
                    <a:bodyPr/>
                    <a:lstStyle/>
                    <a:p>
                      <a:pPr marL="0" marR="0" algn="ctr">
                        <a:lnSpc>
                          <a:spcPct val="115000"/>
                        </a:lnSpc>
                        <a:spcBef>
                          <a:spcPts val="0"/>
                        </a:spcBef>
                        <a:spcAft>
                          <a:spcPts val="0"/>
                        </a:spcAft>
                      </a:pPr>
                      <a:r>
                        <a:rPr lang="en-US" sz="1600" dirty="0">
                          <a:effectLst/>
                        </a:rPr>
                        <a:t>(3)</a:t>
                      </a:r>
                      <a:endParaRPr lang="en-US" sz="1600" dirty="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nchor="ctr"/>
                </a:tc>
                <a:tc>
                  <a:txBody>
                    <a:bodyPr/>
                    <a:lstStyle/>
                    <a:p>
                      <a:pPr marL="0" marR="0" algn="ctr">
                        <a:lnSpc>
                          <a:spcPct val="115000"/>
                        </a:lnSpc>
                        <a:spcBef>
                          <a:spcPts val="0"/>
                        </a:spcBef>
                        <a:spcAft>
                          <a:spcPts val="0"/>
                        </a:spcAft>
                      </a:pPr>
                      <a:r>
                        <a:rPr lang="en-US" sz="1600" dirty="0">
                          <a:effectLst/>
                        </a:rPr>
                        <a:t>(4)</a:t>
                      </a:r>
                      <a:endParaRPr lang="en-US" sz="1600" dirty="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nchor="ctr"/>
                </a:tc>
                <a:tc>
                  <a:txBody>
                    <a:bodyPr/>
                    <a:lstStyle/>
                    <a:p>
                      <a:pPr marL="0" marR="0" algn="ctr">
                        <a:lnSpc>
                          <a:spcPct val="115000"/>
                        </a:lnSpc>
                        <a:spcBef>
                          <a:spcPts val="0"/>
                        </a:spcBef>
                        <a:spcAft>
                          <a:spcPts val="0"/>
                        </a:spcAft>
                      </a:pPr>
                      <a:r>
                        <a:rPr lang="en-US" sz="1600">
                          <a:effectLst/>
                        </a:rPr>
                        <a:t>(5)</a:t>
                      </a:r>
                      <a:endParaRPr lang="en-US" sz="160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nchor="ctr"/>
                </a:tc>
                <a:tc>
                  <a:txBody>
                    <a:bodyPr/>
                    <a:lstStyle/>
                    <a:p>
                      <a:pPr marL="0" marR="0" algn="ctr">
                        <a:lnSpc>
                          <a:spcPct val="115000"/>
                        </a:lnSpc>
                        <a:spcBef>
                          <a:spcPts val="0"/>
                        </a:spcBef>
                        <a:spcAft>
                          <a:spcPts val="0"/>
                        </a:spcAft>
                      </a:pPr>
                      <a:r>
                        <a:rPr lang="en-US" sz="1600" dirty="0">
                          <a:effectLst/>
                        </a:rPr>
                        <a:t>(6)</a:t>
                      </a:r>
                      <a:endParaRPr lang="en-US" sz="1600" dirty="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nchor="ctr"/>
                </a:tc>
                <a:tc vMerge="1">
                  <a:txBody>
                    <a:bodyPr/>
                    <a:lstStyle/>
                    <a:p>
                      <a:endParaRPr lang="en-US"/>
                    </a:p>
                  </a:txBody>
                  <a:tcPr/>
                </a:tc>
              </a:tr>
              <a:tr h="397978">
                <a:tc rowSpan="4">
                  <a:txBody>
                    <a:bodyPr/>
                    <a:lstStyle/>
                    <a:p>
                      <a:pPr marL="0" marR="0">
                        <a:lnSpc>
                          <a:spcPct val="115000"/>
                        </a:lnSpc>
                        <a:spcBef>
                          <a:spcPts val="0"/>
                        </a:spcBef>
                        <a:spcAft>
                          <a:spcPts val="0"/>
                        </a:spcAft>
                      </a:pPr>
                      <a:r>
                        <a:rPr lang="en-US" sz="1600" dirty="0">
                          <a:effectLst/>
                        </a:rPr>
                        <a:t> </a:t>
                      </a:r>
                    </a:p>
                    <a:p>
                      <a:pPr marL="0" marR="0">
                        <a:lnSpc>
                          <a:spcPct val="115000"/>
                        </a:lnSpc>
                        <a:spcBef>
                          <a:spcPts val="0"/>
                        </a:spcBef>
                        <a:spcAft>
                          <a:spcPts val="0"/>
                        </a:spcAft>
                      </a:pPr>
                      <a:r>
                        <a:rPr lang="vi-VN" sz="1600" dirty="0" smtClean="0">
                          <a:effectLst/>
                          <a:latin typeface="+mn-lt"/>
                          <a:ea typeface="+mn-ea"/>
                          <a:cs typeface="+mn-cs"/>
                        </a:rPr>
                        <a:t>Đầu</a:t>
                      </a:r>
                      <a:r>
                        <a:rPr lang="vi-VN" sz="1600" baseline="0" dirty="0" smtClean="0">
                          <a:effectLst/>
                          <a:latin typeface="+mn-lt"/>
                          <a:ea typeface="+mn-ea"/>
                          <a:cs typeface="+mn-cs"/>
                        </a:rPr>
                        <a:t> tư</a:t>
                      </a:r>
                      <a:endParaRPr lang="en-US" sz="1600" dirty="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nchor="ctr"/>
                </a:tc>
                <a:tc>
                  <a:txBody>
                    <a:bodyPr/>
                    <a:lstStyle/>
                    <a:p>
                      <a:pPr marL="0" marR="0">
                        <a:lnSpc>
                          <a:spcPct val="115000"/>
                        </a:lnSpc>
                        <a:spcBef>
                          <a:spcPts val="0"/>
                        </a:spcBef>
                        <a:spcAft>
                          <a:spcPts val="0"/>
                        </a:spcAft>
                      </a:pPr>
                      <a:r>
                        <a:rPr lang="vi-VN" sz="1600" dirty="0" smtClean="0">
                          <a:effectLst/>
                        </a:rPr>
                        <a:t>Cấp</a:t>
                      </a:r>
                      <a:r>
                        <a:rPr lang="vi-VN" sz="1600" baseline="0" dirty="0" smtClean="0">
                          <a:effectLst/>
                        </a:rPr>
                        <a:t> giấy CNĐT có thành lập doanh nghiệp</a:t>
                      </a:r>
                      <a:endParaRPr lang="en-US" sz="1600" dirty="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tc>
                <a:tc>
                  <a:txBody>
                    <a:bodyPr/>
                    <a:lstStyle/>
                    <a:p>
                      <a:pPr marL="0" marR="0" algn="ctr">
                        <a:lnSpc>
                          <a:spcPct val="115000"/>
                        </a:lnSpc>
                        <a:spcBef>
                          <a:spcPts val="0"/>
                        </a:spcBef>
                        <a:spcAft>
                          <a:spcPts val="0"/>
                        </a:spcAft>
                      </a:pPr>
                      <a:r>
                        <a:rPr lang="en-US" sz="1600">
                          <a:effectLst/>
                        </a:rPr>
                        <a:t>3.61</a:t>
                      </a:r>
                      <a:endParaRPr lang="en-US" sz="160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nchor="b"/>
                </a:tc>
                <a:tc>
                  <a:txBody>
                    <a:bodyPr/>
                    <a:lstStyle/>
                    <a:p>
                      <a:pPr marL="0" marR="0" algn="ctr">
                        <a:lnSpc>
                          <a:spcPct val="115000"/>
                        </a:lnSpc>
                        <a:spcBef>
                          <a:spcPts val="0"/>
                        </a:spcBef>
                        <a:spcAft>
                          <a:spcPts val="0"/>
                        </a:spcAft>
                      </a:pPr>
                      <a:r>
                        <a:rPr lang="en-US" sz="1600" dirty="0">
                          <a:effectLst/>
                        </a:rPr>
                        <a:t>3.75</a:t>
                      </a:r>
                      <a:endParaRPr lang="en-US" sz="1600" dirty="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nchor="b"/>
                </a:tc>
                <a:tc>
                  <a:txBody>
                    <a:bodyPr/>
                    <a:lstStyle/>
                    <a:p>
                      <a:pPr marL="0" marR="0" algn="ctr">
                        <a:lnSpc>
                          <a:spcPct val="115000"/>
                        </a:lnSpc>
                        <a:spcBef>
                          <a:spcPts val="0"/>
                        </a:spcBef>
                        <a:spcAft>
                          <a:spcPts val="0"/>
                        </a:spcAft>
                      </a:pPr>
                      <a:r>
                        <a:rPr lang="en-US" sz="1600" dirty="0">
                          <a:effectLst/>
                        </a:rPr>
                        <a:t>3.73</a:t>
                      </a:r>
                      <a:endParaRPr lang="en-US" sz="1600" dirty="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nchor="b"/>
                </a:tc>
                <a:tc>
                  <a:txBody>
                    <a:bodyPr/>
                    <a:lstStyle/>
                    <a:p>
                      <a:pPr marL="0" marR="0" algn="ctr">
                        <a:lnSpc>
                          <a:spcPct val="115000"/>
                        </a:lnSpc>
                        <a:spcBef>
                          <a:spcPts val="0"/>
                        </a:spcBef>
                        <a:spcAft>
                          <a:spcPts val="0"/>
                        </a:spcAft>
                      </a:pPr>
                      <a:r>
                        <a:rPr lang="en-US" sz="1600" dirty="0">
                          <a:effectLst/>
                        </a:rPr>
                        <a:t>3.65</a:t>
                      </a:r>
                      <a:endParaRPr lang="en-US" sz="1600" dirty="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nchor="b"/>
                </a:tc>
                <a:tc>
                  <a:txBody>
                    <a:bodyPr/>
                    <a:lstStyle/>
                    <a:p>
                      <a:pPr marL="0" marR="0" algn="ctr">
                        <a:lnSpc>
                          <a:spcPct val="115000"/>
                        </a:lnSpc>
                        <a:spcBef>
                          <a:spcPts val="0"/>
                        </a:spcBef>
                        <a:spcAft>
                          <a:spcPts val="0"/>
                        </a:spcAft>
                      </a:pPr>
                      <a:r>
                        <a:rPr lang="en-US" sz="1600">
                          <a:effectLst/>
                        </a:rPr>
                        <a:t>3.68</a:t>
                      </a:r>
                      <a:endParaRPr lang="en-US" sz="160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nchor="b"/>
                </a:tc>
                <a:tc>
                  <a:txBody>
                    <a:bodyPr/>
                    <a:lstStyle/>
                    <a:p>
                      <a:pPr marL="0" marR="0" algn="ctr">
                        <a:lnSpc>
                          <a:spcPct val="115000"/>
                        </a:lnSpc>
                        <a:spcBef>
                          <a:spcPts val="0"/>
                        </a:spcBef>
                        <a:spcAft>
                          <a:spcPts val="0"/>
                        </a:spcAft>
                      </a:pPr>
                      <a:r>
                        <a:rPr lang="en-US" sz="1600">
                          <a:effectLst/>
                        </a:rPr>
                        <a:t>3.53</a:t>
                      </a:r>
                      <a:endParaRPr lang="en-US" sz="160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nchor="b"/>
                </a:tc>
                <a:tc>
                  <a:txBody>
                    <a:bodyPr/>
                    <a:lstStyle/>
                    <a:p>
                      <a:pPr marL="0" marR="0" algn="ctr">
                        <a:lnSpc>
                          <a:spcPct val="115000"/>
                        </a:lnSpc>
                        <a:spcBef>
                          <a:spcPts val="0"/>
                        </a:spcBef>
                        <a:spcAft>
                          <a:spcPts val="0"/>
                        </a:spcAft>
                      </a:pPr>
                      <a:r>
                        <a:rPr lang="en-US" sz="1600">
                          <a:effectLst/>
                        </a:rPr>
                        <a:t>73.17</a:t>
                      </a:r>
                      <a:endParaRPr lang="en-US" sz="160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nchor="b"/>
                </a:tc>
              </a:tr>
              <a:tr h="397978">
                <a:tc vMerge="1">
                  <a:txBody>
                    <a:bodyPr/>
                    <a:lstStyle/>
                    <a:p>
                      <a:endParaRPr lang="en-US"/>
                    </a:p>
                  </a:txBody>
                  <a:tcPr/>
                </a:tc>
                <a:tc>
                  <a:txBody>
                    <a:bodyPr/>
                    <a:lstStyle/>
                    <a:p>
                      <a:pPr marL="0" marR="0">
                        <a:lnSpc>
                          <a:spcPct val="115000"/>
                        </a:lnSpc>
                        <a:spcBef>
                          <a:spcPts val="0"/>
                        </a:spcBef>
                        <a:spcAft>
                          <a:spcPts val="0"/>
                        </a:spcAft>
                      </a:pPr>
                      <a:r>
                        <a:rPr lang="vi-VN" sz="1600" dirty="0" smtClean="0">
                          <a:effectLst/>
                        </a:rPr>
                        <a:t>Cấp</a:t>
                      </a:r>
                      <a:r>
                        <a:rPr lang="vi-VN" sz="1600" baseline="0" dirty="0" smtClean="0">
                          <a:effectLst/>
                        </a:rPr>
                        <a:t> giấy CNĐT không có thành lập doanh nghiệp</a:t>
                      </a:r>
                      <a:endParaRPr lang="en-US" sz="1600" dirty="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tc>
                <a:tc>
                  <a:txBody>
                    <a:bodyPr/>
                    <a:lstStyle/>
                    <a:p>
                      <a:pPr marL="0" marR="0" algn="ctr">
                        <a:lnSpc>
                          <a:spcPct val="115000"/>
                        </a:lnSpc>
                        <a:spcBef>
                          <a:spcPts val="0"/>
                        </a:spcBef>
                        <a:spcAft>
                          <a:spcPts val="0"/>
                        </a:spcAft>
                      </a:pPr>
                      <a:r>
                        <a:rPr lang="en-US" sz="1600">
                          <a:effectLst/>
                        </a:rPr>
                        <a:t>3.65</a:t>
                      </a:r>
                      <a:endParaRPr lang="en-US" sz="160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nchor="b"/>
                </a:tc>
                <a:tc>
                  <a:txBody>
                    <a:bodyPr/>
                    <a:lstStyle/>
                    <a:p>
                      <a:pPr marL="0" marR="0" algn="ctr">
                        <a:lnSpc>
                          <a:spcPct val="115000"/>
                        </a:lnSpc>
                        <a:spcBef>
                          <a:spcPts val="0"/>
                        </a:spcBef>
                        <a:spcAft>
                          <a:spcPts val="0"/>
                        </a:spcAft>
                      </a:pPr>
                      <a:r>
                        <a:rPr lang="en-US" sz="1600">
                          <a:effectLst/>
                        </a:rPr>
                        <a:t>3.73</a:t>
                      </a:r>
                      <a:endParaRPr lang="en-US" sz="160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nchor="b"/>
                </a:tc>
                <a:tc>
                  <a:txBody>
                    <a:bodyPr/>
                    <a:lstStyle/>
                    <a:p>
                      <a:pPr marL="0" marR="0" algn="ctr">
                        <a:lnSpc>
                          <a:spcPct val="115000"/>
                        </a:lnSpc>
                        <a:spcBef>
                          <a:spcPts val="0"/>
                        </a:spcBef>
                        <a:spcAft>
                          <a:spcPts val="0"/>
                        </a:spcAft>
                      </a:pPr>
                      <a:r>
                        <a:rPr lang="en-US" sz="1600">
                          <a:effectLst/>
                        </a:rPr>
                        <a:t>3.63</a:t>
                      </a:r>
                      <a:endParaRPr lang="en-US" sz="160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nchor="b"/>
                </a:tc>
                <a:tc>
                  <a:txBody>
                    <a:bodyPr/>
                    <a:lstStyle/>
                    <a:p>
                      <a:pPr marL="0" marR="0" algn="ctr">
                        <a:lnSpc>
                          <a:spcPct val="115000"/>
                        </a:lnSpc>
                        <a:spcBef>
                          <a:spcPts val="0"/>
                        </a:spcBef>
                        <a:spcAft>
                          <a:spcPts val="0"/>
                        </a:spcAft>
                      </a:pPr>
                      <a:r>
                        <a:rPr lang="en-US" sz="1600" dirty="0">
                          <a:effectLst/>
                        </a:rPr>
                        <a:t>3.57</a:t>
                      </a:r>
                      <a:endParaRPr lang="en-US" sz="1600" dirty="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nchor="b"/>
                </a:tc>
                <a:tc>
                  <a:txBody>
                    <a:bodyPr/>
                    <a:lstStyle/>
                    <a:p>
                      <a:pPr marL="0" marR="0" algn="ctr">
                        <a:lnSpc>
                          <a:spcPct val="115000"/>
                        </a:lnSpc>
                        <a:spcBef>
                          <a:spcPts val="0"/>
                        </a:spcBef>
                        <a:spcAft>
                          <a:spcPts val="0"/>
                        </a:spcAft>
                      </a:pPr>
                      <a:r>
                        <a:rPr lang="en-US" sz="1600" dirty="0">
                          <a:effectLst/>
                        </a:rPr>
                        <a:t>3.53</a:t>
                      </a:r>
                      <a:endParaRPr lang="en-US" sz="1600" dirty="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nchor="b"/>
                </a:tc>
                <a:tc>
                  <a:txBody>
                    <a:bodyPr/>
                    <a:lstStyle/>
                    <a:p>
                      <a:pPr marL="0" marR="0" algn="ctr">
                        <a:lnSpc>
                          <a:spcPct val="115000"/>
                        </a:lnSpc>
                        <a:spcBef>
                          <a:spcPts val="0"/>
                        </a:spcBef>
                        <a:spcAft>
                          <a:spcPts val="0"/>
                        </a:spcAft>
                      </a:pPr>
                      <a:r>
                        <a:rPr lang="en-US" sz="1600">
                          <a:effectLst/>
                        </a:rPr>
                        <a:t>3.45</a:t>
                      </a:r>
                      <a:endParaRPr lang="en-US" sz="160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nchor="b"/>
                </a:tc>
                <a:tc>
                  <a:txBody>
                    <a:bodyPr/>
                    <a:lstStyle/>
                    <a:p>
                      <a:pPr marL="0" marR="0" algn="ctr">
                        <a:lnSpc>
                          <a:spcPct val="115000"/>
                        </a:lnSpc>
                        <a:spcBef>
                          <a:spcPts val="0"/>
                        </a:spcBef>
                        <a:spcAft>
                          <a:spcPts val="0"/>
                        </a:spcAft>
                      </a:pPr>
                      <a:r>
                        <a:rPr lang="en-US" sz="1600">
                          <a:effectLst/>
                        </a:rPr>
                        <a:t>71.74</a:t>
                      </a:r>
                      <a:endParaRPr lang="en-US" sz="160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nchor="b"/>
                </a:tc>
              </a:tr>
              <a:tr h="397978">
                <a:tc vMerge="1">
                  <a:txBody>
                    <a:bodyPr/>
                    <a:lstStyle/>
                    <a:p>
                      <a:endParaRPr lang="en-US"/>
                    </a:p>
                  </a:txBody>
                  <a:tcPr/>
                </a:tc>
                <a:tc>
                  <a:txBody>
                    <a:bodyPr/>
                    <a:lstStyle/>
                    <a:p>
                      <a:pPr marL="0" marR="0">
                        <a:lnSpc>
                          <a:spcPct val="115000"/>
                        </a:lnSpc>
                        <a:spcBef>
                          <a:spcPts val="0"/>
                        </a:spcBef>
                        <a:spcAft>
                          <a:spcPts val="0"/>
                        </a:spcAft>
                      </a:pPr>
                      <a:r>
                        <a:rPr lang="vi-VN" sz="1600" dirty="0" smtClean="0">
                          <a:effectLst/>
                          <a:latin typeface="+mn-lt"/>
                          <a:ea typeface="+mn-ea"/>
                          <a:cs typeface="+mn-cs"/>
                        </a:rPr>
                        <a:t>Thay đổi</a:t>
                      </a:r>
                      <a:r>
                        <a:rPr lang="vi-VN" sz="1600" baseline="0" dirty="0" smtClean="0">
                          <a:effectLst/>
                          <a:latin typeface="+mn-lt"/>
                          <a:ea typeface="+mn-ea"/>
                          <a:cs typeface="+mn-cs"/>
                        </a:rPr>
                        <a:t> chứng nhận đầu tư</a:t>
                      </a:r>
                      <a:endParaRPr lang="en-US" sz="1600" dirty="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tc>
                <a:tc>
                  <a:txBody>
                    <a:bodyPr/>
                    <a:lstStyle/>
                    <a:p>
                      <a:pPr marL="0" marR="0" algn="ctr">
                        <a:lnSpc>
                          <a:spcPct val="115000"/>
                        </a:lnSpc>
                        <a:spcBef>
                          <a:spcPts val="0"/>
                        </a:spcBef>
                        <a:spcAft>
                          <a:spcPts val="0"/>
                        </a:spcAft>
                      </a:pPr>
                      <a:r>
                        <a:rPr lang="en-US" sz="1600">
                          <a:effectLst/>
                        </a:rPr>
                        <a:t>3.40</a:t>
                      </a:r>
                      <a:endParaRPr lang="en-US" sz="160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nchor="b"/>
                </a:tc>
                <a:tc>
                  <a:txBody>
                    <a:bodyPr/>
                    <a:lstStyle/>
                    <a:p>
                      <a:pPr marL="0" marR="0" algn="ctr">
                        <a:lnSpc>
                          <a:spcPct val="115000"/>
                        </a:lnSpc>
                        <a:spcBef>
                          <a:spcPts val="0"/>
                        </a:spcBef>
                        <a:spcAft>
                          <a:spcPts val="0"/>
                        </a:spcAft>
                      </a:pPr>
                      <a:r>
                        <a:rPr lang="en-US" sz="1600">
                          <a:effectLst/>
                        </a:rPr>
                        <a:t>3.63</a:t>
                      </a:r>
                      <a:endParaRPr lang="en-US" sz="160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nchor="b"/>
                </a:tc>
                <a:tc>
                  <a:txBody>
                    <a:bodyPr/>
                    <a:lstStyle/>
                    <a:p>
                      <a:pPr marL="0" marR="0" algn="ctr">
                        <a:lnSpc>
                          <a:spcPct val="115000"/>
                        </a:lnSpc>
                        <a:spcBef>
                          <a:spcPts val="0"/>
                        </a:spcBef>
                        <a:spcAft>
                          <a:spcPts val="0"/>
                        </a:spcAft>
                      </a:pPr>
                      <a:r>
                        <a:rPr lang="en-US" sz="1600">
                          <a:effectLst/>
                        </a:rPr>
                        <a:t>3.55</a:t>
                      </a:r>
                      <a:endParaRPr lang="en-US" sz="160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nchor="b"/>
                </a:tc>
                <a:tc>
                  <a:txBody>
                    <a:bodyPr/>
                    <a:lstStyle/>
                    <a:p>
                      <a:pPr marL="0" marR="0" algn="ctr">
                        <a:lnSpc>
                          <a:spcPct val="115000"/>
                        </a:lnSpc>
                        <a:spcBef>
                          <a:spcPts val="0"/>
                        </a:spcBef>
                        <a:spcAft>
                          <a:spcPts val="0"/>
                        </a:spcAft>
                      </a:pPr>
                      <a:r>
                        <a:rPr lang="en-US" sz="1600">
                          <a:effectLst/>
                        </a:rPr>
                        <a:t>3.38</a:t>
                      </a:r>
                      <a:endParaRPr lang="en-US" sz="160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nchor="b"/>
                </a:tc>
                <a:tc>
                  <a:txBody>
                    <a:bodyPr/>
                    <a:lstStyle/>
                    <a:p>
                      <a:pPr marL="0" marR="0" algn="ctr">
                        <a:lnSpc>
                          <a:spcPct val="115000"/>
                        </a:lnSpc>
                        <a:spcBef>
                          <a:spcPts val="0"/>
                        </a:spcBef>
                        <a:spcAft>
                          <a:spcPts val="0"/>
                        </a:spcAft>
                      </a:pPr>
                      <a:r>
                        <a:rPr lang="en-US" sz="1600" dirty="0">
                          <a:effectLst/>
                        </a:rPr>
                        <a:t>3.66</a:t>
                      </a:r>
                      <a:endParaRPr lang="en-US" sz="1600" dirty="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nchor="b"/>
                </a:tc>
                <a:tc>
                  <a:txBody>
                    <a:bodyPr/>
                    <a:lstStyle/>
                    <a:p>
                      <a:pPr marL="0" marR="0" algn="ctr">
                        <a:lnSpc>
                          <a:spcPct val="115000"/>
                        </a:lnSpc>
                        <a:spcBef>
                          <a:spcPts val="0"/>
                        </a:spcBef>
                        <a:spcAft>
                          <a:spcPts val="0"/>
                        </a:spcAft>
                      </a:pPr>
                      <a:r>
                        <a:rPr lang="en-US" sz="1600" dirty="0">
                          <a:effectLst/>
                        </a:rPr>
                        <a:t>3.44</a:t>
                      </a:r>
                      <a:endParaRPr lang="en-US" sz="1600" dirty="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nchor="b"/>
                </a:tc>
                <a:tc>
                  <a:txBody>
                    <a:bodyPr/>
                    <a:lstStyle/>
                    <a:p>
                      <a:pPr marL="0" marR="0" algn="ctr">
                        <a:lnSpc>
                          <a:spcPct val="115000"/>
                        </a:lnSpc>
                        <a:spcBef>
                          <a:spcPts val="0"/>
                        </a:spcBef>
                        <a:spcAft>
                          <a:spcPts val="0"/>
                        </a:spcAft>
                      </a:pPr>
                      <a:r>
                        <a:rPr lang="en-US" sz="1600" dirty="0">
                          <a:effectLst/>
                        </a:rPr>
                        <a:t>70.16</a:t>
                      </a:r>
                      <a:endParaRPr lang="en-US" sz="1600" dirty="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nchor="b"/>
                </a:tc>
              </a:tr>
              <a:tr h="397978">
                <a:tc vMerge="1">
                  <a:txBody>
                    <a:bodyPr/>
                    <a:lstStyle/>
                    <a:p>
                      <a:endParaRPr lang="en-US"/>
                    </a:p>
                  </a:txBody>
                  <a:tcPr/>
                </a:tc>
                <a:tc>
                  <a:txBody>
                    <a:bodyPr/>
                    <a:lstStyle/>
                    <a:p>
                      <a:pPr marL="0" marR="0">
                        <a:lnSpc>
                          <a:spcPct val="115000"/>
                        </a:lnSpc>
                        <a:spcBef>
                          <a:spcPts val="0"/>
                        </a:spcBef>
                        <a:spcAft>
                          <a:spcPts val="0"/>
                        </a:spcAft>
                      </a:pPr>
                      <a:r>
                        <a:rPr lang="vi-VN" sz="1600" dirty="0" smtClean="0">
                          <a:effectLst/>
                        </a:rPr>
                        <a:t>Thu hồi</a:t>
                      </a:r>
                      <a:r>
                        <a:rPr lang="vi-VN" sz="1600" baseline="0" dirty="0" smtClean="0">
                          <a:effectLst/>
                        </a:rPr>
                        <a:t> giấy CNĐT, giải thể doanh nghiệp</a:t>
                      </a:r>
                      <a:endParaRPr lang="en-US" sz="1600" dirty="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tc>
                <a:tc>
                  <a:txBody>
                    <a:bodyPr/>
                    <a:lstStyle/>
                    <a:p>
                      <a:pPr marL="0" marR="0" algn="ctr">
                        <a:lnSpc>
                          <a:spcPct val="115000"/>
                        </a:lnSpc>
                        <a:spcBef>
                          <a:spcPts val="0"/>
                        </a:spcBef>
                        <a:spcAft>
                          <a:spcPts val="0"/>
                        </a:spcAft>
                      </a:pPr>
                      <a:r>
                        <a:rPr lang="en-US" sz="1600">
                          <a:effectLst/>
                        </a:rPr>
                        <a:t>3.49</a:t>
                      </a:r>
                      <a:endParaRPr lang="en-US" sz="160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nchor="b"/>
                </a:tc>
                <a:tc>
                  <a:txBody>
                    <a:bodyPr/>
                    <a:lstStyle/>
                    <a:p>
                      <a:pPr marL="0" marR="0" algn="ctr">
                        <a:lnSpc>
                          <a:spcPct val="115000"/>
                        </a:lnSpc>
                        <a:spcBef>
                          <a:spcPts val="0"/>
                        </a:spcBef>
                        <a:spcAft>
                          <a:spcPts val="0"/>
                        </a:spcAft>
                      </a:pPr>
                      <a:r>
                        <a:rPr lang="en-US" sz="1600">
                          <a:effectLst/>
                        </a:rPr>
                        <a:t>4.13</a:t>
                      </a:r>
                      <a:endParaRPr lang="en-US" sz="160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nchor="b"/>
                </a:tc>
                <a:tc>
                  <a:txBody>
                    <a:bodyPr/>
                    <a:lstStyle/>
                    <a:p>
                      <a:pPr marL="0" marR="0" algn="ctr">
                        <a:lnSpc>
                          <a:spcPct val="115000"/>
                        </a:lnSpc>
                        <a:spcBef>
                          <a:spcPts val="0"/>
                        </a:spcBef>
                        <a:spcAft>
                          <a:spcPts val="0"/>
                        </a:spcAft>
                      </a:pPr>
                      <a:r>
                        <a:rPr lang="en-US" sz="1600">
                          <a:effectLst/>
                        </a:rPr>
                        <a:t>3.74</a:t>
                      </a:r>
                      <a:endParaRPr lang="en-US" sz="160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nchor="b"/>
                </a:tc>
                <a:tc>
                  <a:txBody>
                    <a:bodyPr/>
                    <a:lstStyle/>
                    <a:p>
                      <a:pPr marL="0" marR="0" algn="ctr">
                        <a:lnSpc>
                          <a:spcPct val="115000"/>
                        </a:lnSpc>
                        <a:spcBef>
                          <a:spcPts val="0"/>
                        </a:spcBef>
                        <a:spcAft>
                          <a:spcPts val="0"/>
                        </a:spcAft>
                      </a:pPr>
                      <a:r>
                        <a:rPr lang="en-US" sz="1600">
                          <a:effectLst/>
                        </a:rPr>
                        <a:t>3.60</a:t>
                      </a:r>
                      <a:endParaRPr lang="en-US" sz="160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nchor="b"/>
                </a:tc>
                <a:tc>
                  <a:txBody>
                    <a:bodyPr/>
                    <a:lstStyle/>
                    <a:p>
                      <a:pPr marL="0" marR="0" algn="ctr">
                        <a:lnSpc>
                          <a:spcPct val="115000"/>
                        </a:lnSpc>
                        <a:spcBef>
                          <a:spcPts val="0"/>
                        </a:spcBef>
                        <a:spcAft>
                          <a:spcPts val="0"/>
                        </a:spcAft>
                      </a:pPr>
                      <a:r>
                        <a:rPr lang="en-US" sz="1600">
                          <a:effectLst/>
                        </a:rPr>
                        <a:t>3.59</a:t>
                      </a:r>
                      <a:endParaRPr lang="en-US" sz="160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nchor="b"/>
                </a:tc>
                <a:tc>
                  <a:txBody>
                    <a:bodyPr/>
                    <a:lstStyle/>
                    <a:p>
                      <a:pPr marL="0" marR="0" algn="ctr">
                        <a:lnSpc>
                          <a:spcPct val="115000"/>
                        </a:lnSpc>
                        <a:spcBef>
                          <a:spcPts val="0"/>
                        </a:spcBef>
                        <a:spcAft>
                          <a:spcPts val="0"/>
                        </a:spcAft>
                      </a:pPr>
                      <a:r>
                        <a:rPr lang="en-US" sz="1600" dirty="0">
                          <a:effectLst/>
                        </a:rPr>
                        <a:t>4.01</a:t>
                      </a:r>
                      <a:endParaRPr lang="en-US" sz="1600" dirty="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nchor="b"/>
                </a:tc>
                <a:tc>
                  <a:txBody>
                    <a:bodyPr/>
                    <a:lstStyle/>
                    <a:p>
                      <a:pPr marL="0" marR="0" algn="ctr">
                        <a:lnSpc>
                          <a:spcPct val="115000"/>
                        </a:lnSpc>
                        <a:spcBef>
                          <a:spcPts val="0"/>
                        </a:spcBef>
                        <a:spcAft>
                          <a:spcPts val="0"/>
                        </a:spcAft>
                      </a:pPr>
                      <a:r>
                        <a:rPr lang="en-US" sz="1600" dirty="0">
                          <a:effectLst/>
                        </a:rPr>
                        <a:t>74.60</a:t>
                      </a:r>
                      <a:endParaRPr lang="en-US" sz="1600" dirty="0">
                        <a:effectLst/>
                        <a:latin typeface=".VnTime" panose="020B7200000000000000" pitchFamily="34" charset="0"/>
                        <a:ea typeface="Times New Roman" panose="02020603050405020304" pitchFamily="18" charset="0"/>
                        <a:cs typeface="Times New Roman" panose="02020603050405020304" pitchFamily="18" charset="0"/>
                      </a:endParaRPr>
                    </a:p>
                  </a:txBody>
                  <a:tcPr marL="50817" marR="50817" marT="0" marB="0" anchor="b"/>
                </a:tc>
              </a:tr>
            </a:tbl>
          </a:graphicData>
        </a:graphic>
      </p:graphicFrame>
      <p:sp>
        <p:nvSpPr>
          <p:cNvPr id="12" name="Rectangle 4"/>
          <p:cNvSpPr>
            <a:spLocks noChangeArrowheads="1"/>
          </p:cNvSpPr>
          <p:nvPr/>
        </p:nvSpPr>
        <p:spPr bwMode="auto">
          <a:xfrm>
            <a:off x="-1423534" y="1527860"/>
            <a:ext cx="12934497"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smtClean="0">
                <a:ln>
                  <a:noFill/>
                </a:ln>
                <a:solidFill>
                  <a:schemeClr val="tx1"/>
                </a:solidFill>
                <a:effectLst/>
                <a:latin typeface="Arial" panose="020B0604020202020204" pitchFamily="34" charset="0"/>
              </a:rPr>
              <a:t/>
            </a:r>
            <a:br>
              <a:rPr kumimoji="0" lang="en-US" altLang="en-US" sz="1800" b="0" i="0" u="none" strike="noStrike" cap="none" normalizeH="0" baseline="0" smtClean="0">
                <a:ln>
                  <a:noFill/>
                </a:ln>
                <a:solidFill>
                  <a:schemeClr val="tx1"/>
                </a:solidFill>
                <a:effectLst/>
                <a:latin typeface="Arial" panose="020B0604020202020204" pitchFamily="34" charset="0"/>
              </a:rPr>
            </a:b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13" name="Rectangle 5"/>
          <p:cNvSpPr>
            <a:spLocks noChangeArrowheads="1"/>
          </p:cNvSpPr>
          <p:nvPr/>
        </p:nvSpPr>
        <p:spPr bwMode="auto">
          <a:xfrm>
            <a:off x="1115969" y="1851025"/>
            <a:ext cx="4268832" cy="952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
        <p:nvSpPr>
          <p:cNvPr id="14" name="Rectangle 6"/>
          <p:cNvSpPr>
            <a:spLocks noChangeArrowheads="1"/>
          </p:cNvSpPr>
          <p:nvPr/>
        </p:nvSpPr>
        <p:spPr bwMode="auto">
          <a:xfrm>
            <a:off x="31446" y="5144714"/>
            <a:ext cx="4972602"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3000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hlinkClick r:id="rId3"/>
              </a:rPr>
              <a:t>[</a:t>
            </a:r>
            <a:r>
              <a:rPr kumimoji="0" lang="en-US" altLang="en-US" sz="1200" b="0" i="0" u="none" strike="noStrike" cap="none" normalizeH="0" baseline="30000" dirty="0" smtClean="0" bmk="">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hlinkClick r:id="rId3"/>
              </a:rPr>
              <a:t>1]</a:t>
            </a:r>
            <a:r>
              <a:rPr kumimoji="0" lang="en-US" altLang="en-US" sz="12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200" b="1" i="0" u="none" strike="noStrike" cap="none" normalizeH="0" baseline="0" dirty="0" err="1" smtClean="0">
                <a:ln>
                  <a:noFill/>
                </a:ln>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Ghi</a:t>
            </a:r>
            <a:r>
              <a:rPr kumimoji="0" lang="en-US" altLang="en-US" sz="1200" b="1" i="0" u="none" strike="noStrike" cap="none" normalizeH="0" baseline="0" dirty="0" smtClean="0">
                <a:ln>
                  <a:noFill/>
                </a:ln>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200" b="1" i="0" u="none" strike="noStrike" cap="none" normalizeH="0" baseline="0" dirty="0" err="1" smtClean="0">
                <a:ln>
                  <a:noFill/>
                </a:ln>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chú</a:t>
            </a:r>
            <a:r>
              <a:rPr kumimoji="0" lang="en-US" altLang="en-US" sz="1200" b="1" i="0" u="none" strike="noStrike" cap="none" normalizeH="0" baseline="0" dirty="0" smtClean="0">
                <a:ln>
                  <a:noFill/>
                </a:ln>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kumimoji="0" lang="en-US" altLang="en-US" sz="8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1" u="none" strike="noStrike" cap="none" normalizeH="0" baseline="0" dirty="0" err="1"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Tiếp</a:t>
            </a:r>
            <a:r>
              <a:rPr kumimoji="0" lang="en-US" altLang="en-US" sz="1200" b="0" i="1"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200" b="0" i="1" u="none" strike="noStrike" cap="none" normalizeH="0" baseline="0" dirty="0" err="1"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cận</a:t>
            </a:r>
            <a:r>
              <a:rPr kumimoji="0" lang="en-US" altLang="en-US" sz="1200" b="0" i="1"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200" b="0" i="1" u="none" strike="noStrike" cap="none" normalizeH="0" baseline="0" dirty="0" err="1"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dịch</a:t>
            </a:r>
            <a:r>
              <a:rPr kumimoji="0" lang="en-US" altLang="en-US" sz="1200" b="0" i="1"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200" b="0" i="1" u="none" strike="noStrike" cap="none" normalizeH="0" baseline="0" dirty="0" err="1"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vụ</a:t>
            </a:r>
            <a:r>
              <a:rPr kumimoji="0" lang="en-US" altLang="en-US" sz="1200" b="0" i="1"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kumimoji="0" lang="en-US" altLang="en-US" sz="8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1" u="none" strike="noStrike" cap="none" normalizeH="0" baseline="0" dirty="0" err="1"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Điều</a:t>
            </a:r>
            <a:r>
              <a:rPr kumimoji="0" lang="en-US" altLang="en-US" sz="1200" b="0" i="1"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200" b="0" i="1" u="none" strike="noStrike" cap="none" normalizeH="0" baseline="0" dirty="0" err="1"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kiện</a:t>
            </a:r>
            <a:r>
              <a:rPr kumimoji="0" lang="en-US" altLang="en-US" sz="1200" b="0" i="1"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200" b="0" i="1" u="none" strike="noStrike" cap="none" normalizeH="0" baseline="0" dirty="0" err="1"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phục</a:t>
            </a:r>
            <a:r>
              <a:rPr kumimoji="0" lang="en-US" altLang="en-US" sz="1200" b="0" i="1"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200" b="0" i="1" u="none" strike="noStrike" cap="none" normalizeH="0" baseline="0" dirty="0" err="1"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vụ</a:t>
            </a:r>
            <a:r>
              <a:rPr kumimoji="0" lang="en-US" altLang="en-US" sz="1200" b="0" i="1"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200" b="0" i="1" u="none" strike="noStrike" cap="none" normalizeH="0" baseline="0" dirty="0" err="1"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tiếp</a:t>
            </a:r>
            <a:r>
              <a:rPr kumimoji="0" lang="en-US" altLang="en-US" sz="1200" b="0" i="1"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200" b="0" i="1" u="none" strike="noStrike" cap="none" normalizeH="0" baseline="0" dirty="0" err="1"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đón</a:t>
            </a:r>
            <a:r>
              <a:rPr kumimoji="0" lang="en-US" altLang="en-US" sz="1200" b="0" i="1"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kumimoji="0" lang="en-US" altLang="en-US" sz="8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1" u="none" strike="noStrike" cap="none" normalizeH="0" baseline="0" dirty="0" err="1"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Thủ</a:t>
            </a:r>
            <a:r>
              <a:rPr kumimoji="0" lang="en-US" altLang="en-US" sz="1200" b="0" i="1"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200" b="0" i="1" u="none" strike="noStrike" cap="none" normalizeH="0" baseline="0" dirty="0" err="1"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tục</a:t>
            </a:r>
            <a:r>
              <a:rPr kumimoji="0" lang="en-US" altLang="en-US" sz="1200" b="0" i="1"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200" b="0" i="1" u="none" strike="noStrike" cap="none" normalizeH="0" baseline="0" dirty="0" err="1"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hành</a:t>
            </a:r>
            <a:r>
              <a:rPr kumimoji="0" lang="en-US" altLang="en-US" sz="1200" b="0" i="1"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200" b="0" i="1" u="none" strike="noStrike" cap="none" normalizeH="0" baseline="0" dirty="0" err="1"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chính</a:t>
            </a:r>
            <a:endParaRPr kumimoji="0" lang="en-US" altLang="en-US" sz="8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1" u="none" strike="noStrike" cap="none" normalizeH="0" baseline="0" dirty="0" err="1"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Sự</a:t>
            </a:r>
            <a:r>
              <a:rPr kumimoji="0" lang="en-US" altLang="en-US" sz="1200" b="0" i="1"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200" b="0" i="1" u="none" strike="noStrike" cap="none" normalizeH="0" baseline="0" dirty="0" err="1"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phục</a:t>
            </a:r>
            <a:r>
              <a:rPr kumimoji="0" lang="en-US" altLang="en-US" sz="1200" b="0" i="1"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200" b="0" i="1" u="none" strike="noStrike" cap="none" normalizeH="0" baseline="0" dirty="0" err="1"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vụ</a:t>
            </a:r>
            <a:r>
              <a:rPr kumimoji="0" lang="en-US" altLang="en-US" sz="1200" b="0" i="1"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200" b="0" i="1" u="none" strike="noStrike" cap="none" normalizeH="0" baseline="0" dirty="0" err="1"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của</a:t>
            </a:r>
            <a:r>
              <a:rPr kumimoji="0" lang="en-US" altLang="en-US" sz="1200" b="0" i="1"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200" b="0" i="1" u="none" strike="noStrike" cap="none" normalizeH="0" baseline="0" dirty="0" err="1"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cán</a:t>
            </a:r>
            <a:r>
              <a:rPr kumimoji="0" lang="en-US" altLang="en-US" sz="1200" b="0" i="1"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200" b="0" i="1" u="none" strike="noStrike" cap="none" normalizeH="0" baseline="0" dirty="0" err="1"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bộ</a:t>
            </a:r>
            <a:r>
              <a:rPr kumimoji="0" lang="en-US" altLang="en-US" sz="1200" b="0" i="1"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200" b="0" i="1" u="none" strike="noStrike" cap="none" normalizeH="0" baseline="0" dirty="0" err="1"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công</a:t>
            </a:r>
            <a:r>
              <a:rPr kumimoji="0" lang="en-US" altLang="en-US" sz="1200" b="0" i="1"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200" b="0" i="1" u="none" strike="noStrike" cap="none" normalizeH="0" baseline="0" dirty="0" err="1"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chức</a:t>
            </a:r>
            <a:endParaRPr kumimoji="0" lang="en-US" altLang="en-US" sz="8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1" u="none" strike="noStrike" cap="none" normalizeH="0" baseline="0" dirty="0" err="1"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Kết</a:t>
            </a:r>
            <a:r>
              <a:rPr kumimoji="0" lang="en-US" altLang="en-US" sz="1200" b="0" i="1"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200" b="0" i="1" u="none" strike="noStrike" cap="none" normalizeH="0" baseline="0" dirty="0" err="1"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quả</a:t>
            </a:r>
            <a:r>
              <a:rPr kumimoji="0" lang="en-US" altLang="en-US" sz="1200" b="0" i="1"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200" b="0" i="1" u="none" strike="noStrike" cap="none" normalizeH="0" baseline="0" dirty="0" err="1"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tiến</a:t>
            </a:r>
            <a:r>
              <a:rPr kumimoji="0" lang="en-US" altLang="en-US" sz="1200" b="0" i="1"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200" b="0" i="1" u="none" strike="noStrike" cap="none" normalizeH="0" baseline="0" dirty="0" err="1"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độ</a:t>
            </a:r>
            <a:r>
              <a:rPr kumimoji="0" lang="en-US" altLang="en-US" sz="1200" b="0" i="1"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200" b="0" i="1" u="none" strike="noStrike" cap="none" normalizeH="0" baseline="0" dirty="0" err="1"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giải</a:t>
            </a:r>
            <a:r>
              <a:rPr kumimoji="0" lang="en-US" altLang="en-US" sz="1200" b="0" i="1"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200" b="0" i="1" u="none" strike="noStrike" cap="none" normalizeH="0" baseline="0" dirty="0" err="1"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quyết</a:t>
            </a:r>
            <a:r>
              <a:rPr kumimoji="0" lang="en-US" altLang="en-US" sz="1200" b="0" i="1"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200" b="0" i="1" u="none" strike="noStrike" cap="none" normalizeH="0" baseline="0" dirty="0" err="1"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công</a:t>
            </a:r>
            <a:r>
              <a:rPr kumimoji="0" lang="en-US" altLang="en-US" sz="1200" b="0" i="1"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200" b="0" i="1" u="none" strike="noStrike" cap="none" normalizeH="0" baseline="0" dirty="0" err="1"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việc</a:t>
            </a:r>
            <a:endParaRPr kumimoji="0" lang="en-US" altLang="en-US" sz="8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1" u="none" strike="noStrike" cap="none" normalizeH="0" baseline="0" dirty="0" err="1"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Tiếp</a:t>
            </a:r>
            <a:r>
              <a:rPr kumimoji="0" lang="en-US" altLang="en-US" sz="1200" b="0" i="1"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200" b="0" i="1" u="none" strike="noStrike" cap="none" normalizeH="0" baseline="0" dirty="0" err="1"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nhận</a:t>
            </a:r>
            <a:r>
              <a:rPr kumimoji="0" lang="en-US" altLang="en-US" sz="1200" b="0" i="1"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200" b="0" i="1" u="none" strike="noStrike" cap="none" normalizeH="0" baseline="0" dirty="0" err="1"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và</a:t>
            </a:r>
            <a:r>
              <a:rPr kumimoji="0" lang="en-US" altLang="en-US" sz="1200" b="0" i="1"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200" b="0" i="1" u="none" strike="noStrike" cap="none" normalizeH="0" baseline="0" dirty="0" err="1"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xử</a:t>
            </a:r>
            <a:r>
              <a:rPr kumimoji="0" lang="en-US" altLang="en-US" sz="1200" b="0" i="1"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200" b="0" i="1" u="none" strike="noStrike" cap="none" normalizeH="0" baseline="0" dirty="0" err="1"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lý</a:t>
            </a:r>
            <a:r>
              <a:rPr kumimoji="0" lang="en-US" altLang="en-US" sz="1200" b="0" i="1"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200" b="0" i="1" u="none" strike="noStrike" cap="none" normalizeH="0" baseline="0" dirty="0" err="1"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thông</a:t>
            </a:r>
            <a:r>
              <a:rPr kumimoji="0" lang="en-US" altLang="en-US" sz="1200" b="0" i="1"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tin </a:t>
            </a:r>
            <a:r>
              <a:rPr kumimoji="0" lang="en-US" altLang="en-US" sz="1200" b="0" i="1" u="none" strike="noStrike" cap="none" normalizeH="0" baseline="0" dirty="0" err="1"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phản</a:t>
            </a:r>
            <a:r>
              <a:rPr kumimoji="0" lang="en-US" altLang="en-US" sz="1200" b="0" i="1"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200" b="0" i="1" u="none" strike="noStrike" cap="none" normalizeH="0" baseline="0" dirty="0" err="1"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hồi</a:t>
            </a:r>
            <a:r>
              <a:rPr kumimoji="0" lang="en-US" altLang="en-US" sz="1200" b="0" i="1"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17264660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2011" y="704088"/>
            <a:ext cx="9060509" cy="1143000"/>
          </a:xfrm>
        </p:spPr>
        <p:txBody>
          <a:bodyPr>
            <a:normAutofit/>
          </a:bodyPr>
          <a:lstStyle/>
          <a:p>
            <a:r>
              <a:rPr lang="vi-VN" sz="4000" dirty="0" smtClean="0"/>
              <a:t>Một số mẫu thống kê, biểu đồ mẫu</a:t>
            </a:r>
            <a:endParaRPr lang="en-US" sz="4000" dirty="0"/>
          </a:p>
        </p:txBody>
      </p:sp>
      <p:pic>
        <p:nvPicPr>
          <p:cNvPr id="1026" name="Picture 2" descr="http://www.ninhthuan.gov.vn/chinhquyen/sonv/Admin/cchc/Nam%202014/0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491" y="1974206"/>
            <a:ext cx="8736981" cy="4407121"/>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2267744" y="6381327"/>
            <a:ext cx="5025735" cy="369332"/>
          </a:xfrm>
          <a:prstGeom prst="rect">
            <a:avLst/>
          </a:prstGeom>
          <a:noFill/>
        </p:spPr>
        <p:txBody>
          <a:bodyPr wrap="none" rtlCol="0">
            <a:spAutoFit/>
          </a:bodyPr>
          <a:lstStyle/>
          <a:p>
            <a:r>
              <a:rPr lang="vi-VN" dirty="0" smtClean="0"/>
              <a:t>4. </a:t>
            </a:r>
            <a:r>
              <a:rPr lang="vi-VN" dirty="0"/>
              <a:t>Biểu đồ </a:t>
            </a:r>
            <a:r>
              <a:rPr lang="vi-VN" dirty="0" smtClean="0"/>
              <a:t>về </a:t>
            </a:r>
            <a:r>
              <a:rPr lang="vi-VN" dirty="0"/>
              <a:t>thái độ ứng xử của cán bộ theo đơn </a:t>
            </a:r>
            <a:r>
              <a:rPr lang="vi-VN" dirty="0" smtClean="0"/>
              <a:t>vị </a:t>
            </a:r>
            <a:endParaRPr lang="en-US" dirty="0"/>
          </a:p>
        </p:txBody>
      </p:sp>
    </p:spTree>
    <p:extLst>
      <p:ext uri="{BB962C8B-B14F-4D97-AF65-F5344CB8AC3E}">
        <p14:creationId xmlns:p14="http://schemas.microsoft.com/office/powerpoint/2010/main" val="7681485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5680" y="704088"/>
            <a:ext cx="8686800" cy="1143000"/>
          </a:xfrm>
        </p:spPr>
        <p:txBody>
          <a:bodyPr>
            <a:noAutofit/>
          </a:bodyPr>
          <a:lstStyle/>
          <a:p>
            <a:r>
              <a:rPr lang="vi-VN" sz="4000" dirty="0"/>
              <a:t>Một số mẫu thống </a:t>
            </a:r>
            <a:r>
              <a:rPr lang="vi-VN" sz="4000" dirty="0" smtClean="0"/>
              <a:t>kê, </a:t>
            </a:r>
            <a:r>
              <a:rPr lang="vi-VN" sz="4000" dirty="0"/>
              <a:t>biểu đồ </a:t>
            </a:r>
            <a:r>
              <a:rPr lang="vi-VN" sz="4000" dirty="0" smtClean="0"/>
              <a:t>mẫu (tt)</a:t>
            </a:r>
            <a:endParaRPr lang="en-US" sz="4000" dirty="0"/>
          </a:p>
        </p:txBody>
      </p:sp>
      <p:sp>
        <p:nvSpPr>
          <p:cNvPr id="4" name="TextBox 3"/>
          <p:cNvSpPr txBox="1"/>
          <p:nvPr/>
        </p:nvSpPr>
        <p:spPr>
          <a:xfrm>
            <a:off x="2267744" y="6361856"/>
            <a:ext cx="5480225" cy="646331"/>
          </a:xfrm>
          <a:prstGeom prst="rect">
            <a:avLst/>
          </a:prstGeom>
          <a:noFill/>
        </p:spPr>
        <p:txBody>
          <a:bodyPr wrap="square" rtlCol="0">
            <a:spAutoFit/>
          </a:bodyPr>
          <a:lstStyle/>
          <a:p>
            <a:r>
              <a:rPr lang="vi-VN" dirty="0" smtClean="0"/>
              <a:t>5. </a:t>
            </a:r>
            <a:r>
              <a:rPr lang="vi-VN" dirty="0"/>
              <a:t>Biểu đồ </a:t>
            </a:r>
            <a:r>
              <a:rPr lang="vi-VN" dirty="0" smtClean="0"/>
              <a:t>về </a:t>
            </a:r>
            <a:r>
              <a:rPr lang="vi-VN" dirty="0"/>
              <a:t>việc hướng dẫn của cán </a:t>
            </a:r>
            <a:r>
              <a:rPr lang="vi-VN" dirty="0" smtClean="0"/>
              <a:t>bộ </a:t>
            </a:r>
            <a:r>
              <a:rPr lang="vi-VN" dirty="0"/>
              <a:t>theo đơn vị</a:t>
            </a:r>
            <a:endParaRPr lang="en-US" dirty="0"/>
          </a:p>
          <a:p>
            <a:endParaRPr lang="en-US" dirty="0"/>
          </a:p>
        </p:txBody>
      </p:sp>
      <p:pic>
        <p:nvPicPr>
          <p:cNvPr id="2052" name="Picture 4" descr="http://www.ninhthuan.gov.vn/chinhquyen/sonv/Admin/cchc/Nam%202014/03.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2967" y="1847088"/>
            <a:ext cx="9154460" cy="45342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785555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http://www.ninhthuan.gov.vn/chinhquyen/sonv/Admin/cchc/Nam%202014/05.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7591" y="1881012"/>
            <a:ext cx="11414614" cy="4976988"/>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1907704" y="6415252"/>
            <a:ext cx="6192688" cy="369332"/>
          </a:xfrm>
          <a:prstGeom prst="rect">
            <a:avLst/>
          </a:prstGeom>
          <a:noFill/>
        </p:spPr>
        <p:txBody>
          <a:bodyPr wrap="square" rtlCol="0">
            <a:spAutoFit/>
          </a:bodyPr>
          <a:lstStyle/>
          <a:p>
            <a:r>
              <a:rPr lang="vi-VN" dirty="0" smtClean="0"/>
              <a:t>6. </a:t>
            </a:r>
            <a:r>
              <a:rPr lang="vi-VN" dirty="0"/>
              <a:t>Biểu đồ </a:t>
            </a:r>
            <a:r>
              <a:rPr lang="vi-VN" dirty="0" smtClean="0"/>
              <a:t>sự </a:t>
            </a:r>
            <a:r>
              <a:rPr lang="vi-VN" dirty="0"/>
              <a:t>hài lòng về sự phục vụ của cán </a:t>
            </a:r>
            <a:r>
              <a:rPr lang="vi-VN" dirty="0" smtClean="0"/>
              <a:t>bộ theo đơn vị</a:t>
            </a:r>
            <a:endParaRPr lang="en-US" dirty="0"/>
          </a:p>
        </p:txBody>
      </p:sp>
      <p:sp>
        <p:nvSpPr>
          <p:cNvPr id="7" name="Title 1"/>
          <p:cNvSpPr txBox="1">
            <a:spLocks/>
          </p:cNvSpPr>
          <p:nvPr/>
        </p:nvSpPr>
        <p:spPr>
          <a:xfrm>
            <a:off x="205680" y="704088"/>
            <a:ext cx="8686800" cy="1143000"/>
          </a:xfrm>
          <a:prstGeom prst="rect">
            <a:avLst/>
          </a:prstGeom>
        </p:spPr>
        <p:txBody>
          <a:bodyPr vert="horz" lIns="0" rIns="0" bIns="0" anchor="b">
            <a:noAutofit/>
          </a:bodyPr>
          <a:lstStyle>
            <a:lvl1pPr algn="l" rtl="0" eaLnBrk="1" latinLnBrk="0" hangingPunct="1">
              <a:spcBef>
                <a:spcPct val="0"/>
              </a:spcBef>
              <a:buNone/>
              <a:defRPr kumimoji="0" sz="5000" b="0" kern="1200">
                <a:ln>
                  <a:noFill/>
                </a:ln>
                <a:solidFill>
                  <a:schemeClr val="tx2"/>
                </a:solidFill>
                <a:effectLst/>
                <a:latin typeface="+mj-lt"/>
                <a:ea typeface="+mj-ea"/>
                <a:cs typeface="+mj-cs"/>
              </a:defRPr>
            </a:lvl1pPr>
          </a:lstStyle>
          <a:p>
            <a:r>
              <a:rPr lang="vi-VN" sz="4000" dirty="0" smtClean="0"/>
              <a:t>Một số mẫu thống kê, biểu đồ mẫu (tt)</a:t>
            </a:r>
            <a:endParaRPr lang="en-US" sz="4000" dirty="0"/>
          </a:p>
        </p:txBody>
      </p:sp>
    </p:spTree>
    <p:extLst>
      <p:ext uri="{BB962C8B-B14F-4D97-AF65-F5344CB8AC3E}">
        <p14:creationId xmlns:p14="http://schemas.microsoft.com/office/powerpoint/2010/main" val="177826827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907704" y="6415252"/>
            <a:ext cx="6192688" cy="369332"/>
          </a:xfrm>
          <a:prstGeom prst="rect">
            <a:avLst/>
          </a:prstGeom>
          <a:noFill/>
        </p:spPr>
        <p:txBody>
          <a:bodyPr wrap="square" rtlCol="0">
            <a:spAutoFit/>
          </a:bodyPr>
          <a:lstStyle/>
          <a:p>
            <a:r>
              <a:rPr lang="vi-VN" dirty="0" smtClean="0"/>
              <a:t>7. </a:t>
            </a:r>
            <a:r>
              <a:rPr lang="en-US" dirty="0" err="1"/>
              <a:t>Tinh</a:t>
            </a:r>
            <a:r>
              <a:rPr lang="en-US" dirty="0"/>
              <a:t> </a:t>
            </a:r>
            <a:r>
              <a:rPr lang="en-US" dirty="0" err="1"/>
              <a:t>thần</a:t>
            </a:r>
            <a:r>
              <a:rPr lang="en-US" dirty="0"/>
              <a:t> </a:t>
            </a:r>
            <a:r>
              <a:rPr lang="en-US" dirty="0" err="1"/>
              <a:t>trách</a:t>
            </a:r>
            <a:r>
              <a:rPr lang="en-US" dirty="0"/>
              <a:t> </a:t>
            </a:r>
            <a:r>
              <a:rPr lang="en-US" dirty="0" err="1"/>
              <a:t>nhiệm</a:t>
            </a:r>
            <a:r>
              <a:rPr lang="en-US" dirty="0"/>
              <a:t> </a:t>
            </a:r>
            <a:r>
              <a:rPr lang="en-US" dirty="0" err="1"/>
              <a:t>của</a:t>
            </a:r>
            <a:r>
              <a:rPr lang="en-US" dirty="0"/>
              <a:t> </a:t>
            </a:r>
            <a:r>
              <a:rPr lang="en-US" dirty="0" err="1"/>
              <a:t>cán</a:t>
            </a:r>
            <a:r>
              <a:rPr lang="en-US" dirty="0"/>
              <a:t> </a:t>
            </a:r>
            <a:r>
              <a:rPr lang="en-US" dirty="0" err="1"/>
              <a:t>bộ</a:t>
            </a:r>
            <a:r>
              <a:rPr lang="en-US" dirty="0"/>
              <a:t>, </a:t>
            </a:r>
            <a:r>
              <a:rPr lang="en-US" dirty="0" err="1"/>
              <a:t>công</a:t>
            </a:r>
            <a:r>
              <a:rPr lang="en-US" dirty="0"/>
              <a:t> </a:t>
            </a:r>
            <a:r>
              <a:rPr lang="en-US" dirty="0" err="1"/>
              <a:t>chức</a:t>
            </a:r>
            <a:r>
              <a:rPr lang="en-US" dirty="0"/>
              <a:t>, </a:t>
            </a:r>
            <a:r>
              <a:rPr lang="en-US" dirty="0" err="1"/>
              <a:t>viên</a:t>
            </a:r>
            <a:r>
              <a:rPr lang="en-US" dirty="0"/>
              <a:t> </a:t>
            </a:r>
            <a:r>
              <a:rPr lang="en-US" dirty="0" err="1"/>
              <a:t>chức</a:t>
            </a:r>
            <a:endParaRPr lang="en-US" dirty="0"/>
          </a:p>
        </p:txBody>
      </p:sp>
      <p:sp>
        <p:nvSpPr>
          <p:cNvPr id="7" name="Title 1"/>
          <p:cNvSpPr txBox="1">
            <a:spLocks/>
          </p:cNvSpPr>
          <p:nvPr/>
        </p:nvSpPr>
        <p:spPr>
          <a:xfrm>
            <a:off x="205680" y="704088"/>
            <a:ext cx="8686800" cy="1143000"/>
          </a:xfrm>
          <a:prstGeom prst="rect">
            <a:avLst/>
          </a:prstGeom>
        </p:spPr>
        <p:txBody>
          <a:bodyPr vert="horz" lIns="0" rIns="0" bIns="0" anchor="b">
            <a:noAutofit/>
          </a:bodyPr>
          <a:lstStyle>
            <a:lvl1pPr algn="l" rtl="0" eaLnBrk="1" latinLnBrk="0" hangingPunct="1">
              <a:spcBef>
                <a:spcPct val="0"/>
              </a:spcBef>
              <a:buNone/>
              <a:defRPr kumimoji="0" sz="5000" b="0" kern="1200">
                <a:ln>
                  <a:noFill/>
                </a:ln>
                <a:solidFill>
                  <a:schemeClr val="tx2"/>
                </a:solidFill>
                <a:effectLst/>
                <a:latin typeface="+mj-lt"/>
                <a:ea typeface="+mj-ea"/>
                <a:cs typeface="+mj-cs"/>
              </a:defRPr>
            </a:lvl1pPr>
          </a:lstStyle>
          <a:p>
            <a:r>
              <a:rPr lang="vi-VN" sz="4000" dirty="0" smtClean="0"/>
              <a:t>Một số mẫu thống kê, biểu đồ mẫu (tt)</a:t>
            </a:r>
            <a:endParaRPr lang="en-US" sz="4000" dirty="0"/>
          </a:p>
        </p:txBody>
      </p:sp>
      <p:pic>
        <p:nvPicPr>
          <p:cNvPr id="6" name="Picture 5"/>
          <p:cNvPicPr>
            <a:picLocks noChangeAspect="1"/>
          </p:cNvPicPr>
          <p:nvPr/>
        </p:nvPicPr>
        <p:blipFill>
          <a:blip r:embed="rId3"/>
          <a:stretch>
            <a:fillRect/>
          </a:stretch>
        </p:blipFill>
        <p:spPr>
          <a:xfrm>
            <a:off x="1553467" y="1842860"/>
            <a:ext cx="6546925" cy="4673401"/>
          </a:xfrm>
          <a:prstGeom prst="rect">
            <a:avLst/>
          </a:prstGeom>
        </p:spPr>
      </p:pic>
    </p:spTree>
    <p:extLst>
      <p:ext uri="{BB962C8B-B14F-4D97-AF65-F5344CB8AC3E}">
        <p14:creationId xmlns:p14="http://schemas.microsoft.com/office/powerpoint/2010/main" val="2968619363"/>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115616" y="6415252"/>
            <a:ext cx="6984776" cy="369332"/>
          </a:xfrm>
          <a:prstGeom prst="rect">
            <a:avLst/>
          </a:prstGeom>
          <a:noFill/>
        </p:spPr>
        <p:txBody>
          <a:bodyPr wrap="square" rtlCol="0">
            <a:spAutoFit/>
          </a:bodyPr>
          <a:lstStyle/>
          <a:p>
            <a:r>
              <a:rPr lang="vi-VN" dirty="0" smtClean="0"/>
              <a:t>8. </a:t>
            </a:r>
            <a:r>
              <a:rPr lang="vi-VN" dirty="0"/>
              <a:t>Biểu đồ </a:t>
            </a:r>
            <a:r>
              <a:rPr lang="vi-VN" dirty="0" smtClean="0"/>
              <a:t>sự </a:t>
            </a:r>
            <a:r>
              <a:rPr lang="vi-VN" dirty="0"/>
              <a:t>hài </a:t>
            </a:r>
            <a:r>
              <a:rPr lang="vi-VN" dirty="0" smtClean="0"/>
              <a:t>lòng chung </a:t>
            </a:r>
            <a:r>
              <a:rPr lang="vi-VN" dirty="0"/>
              <a:t>về sự phục vụ của cán </a:t>
            </a:r>
            <a:r>
              <a:rPr lang="vi-VN" dirty="0" smtClean="0"/>
              <a:t>bộ ở tất cả đơn vị</a:t>
            </a:r>
            <a:endParaRPr lang="en-US" dirty="0"/>
          </a:p>
        </p:txBody>
      </p:sp>
      <p:graphicFrame>
        <p:nvGraphicFramePr>
          <p:cNvPr id="5" name="Chart 4"/>
          <p:cNvGraphicFramePr/>
          <p:nvPr>
            <p:extLst>
              <p:ext uri="{D42A27DB-BD31-4B8C-83A1-F6EECF244321}">
                <p14:modId xmlns:p14="http://schemas.microsoft.com/office/powerpoint/2010/main" val="1379627580"/>
              </p:ext>
            </p:extLst>
          </p:nvPr>
        </p:nvGraphicFramePr>
        <p:xfrm>
          <a:off x="0" y="1847089"/>
          <a:ext cx="9143999" cy="4462232"/>
        </p:xfrm>
        <a:graphic>
          <a:graphicData uri="http://schemas.openxmlformats.org/drawingml/2006/chart">
            <c:chart xmlns:c="http://schemas.openxmlformats.org/drawingml/2006/chart" xmlns:r="http://schemas.openxmlformats.org/officeDocument/2006/relationships" r:id="rId3"/>
          </a:graphicData>
        </a:graphic>
      </p:graphicFrame>
      <p:sp>
        <p:nvSpPr>
          <p:cNvPr id="7" name="Title 1"/>
          <p:cNvSpPr>
            <a:spLocks noGrp="1"/>
          </p:cNvSpPr>
          <p:nvPr>
            <p:ph type="title"/>
          </p:nvPr>
        </p:nvSpPr>
        <p:spPr>
          <a:xfrm>
            <a:off x="205680" y="704088"/>
            <a:ext cx="8686800" cy="1143000"/>
          </a:xfrm>
        </p:spPr>
        <p:txBody>
          <a:bodyPr>
            <a:noAutofit/>
          </a:bodyPr>
          <a:lstStyle/>
          <a:p>
            <a:r>
              <a:rPr lang="vi-VN" sz="4000" dirty="0"/>
              <a:t>Một số mẫu thống </a:t>
            </a:r>
            <a:r>
              <a:rPr lang="vi-VN" sz="4000" dirty="0" smtClean="0"/>
              <a:t>kê, </a:t>
            </a:r>
            <a:r>
              <a:rPr lang="vi-VN" sz="4000" dirty="0"/>
              <a:t>biểu đồ </a:t>
            </a:r>
            <a:r>
              <a:rPr lang="vi-VN" sz="4000" dirty="0" smtClean="0"/>
              <a:t>mẫu (tt)</a:t>
            </a:r>
            <a:endParaRPr lang="en-US" sz="4000" dirty="0"/>
          </a:p>
        </p:txBody>
      </p:sp>
    </p:spTree>
    <p:extLst>
      <p:ext uri="{BB962C8B-B14F-4D97-AF65-F5344CB8AC3E}">
        <p14:creationId xmlns:p14="http://schemas.microsoft.com/office/powerpoint/2010/main" val="810479100"/>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scene3d>
            <a:camera prst="orthographicFront">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1138</TotalTime>
  <Words>2024</Words>
  <Application>Microsoft Office PowerPoint</Application>
  <PresentationFormat>On-screen Show (4:3)</PresentationFormat>
  <Paragraphs>318</Paragraphs>
  <Slides>27</Slides>
  <Notes>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27</vt:i4>
      </vt:variant>
    </vt:vector>
  </HeadingPairs>
  <TitlesOfParts>
    <vt:vector size="34" baseType="lpstr">
      <vt:lpstr>.VnTime</vt:lpstr>
      <vt:lpstr>Arial</vt:lpstr>
      <vt:lpstr>Calibri</vt:lpstr>
      <vt:lpstr>Constantia</vt:lpstr>
      <vt:lpstr>Times New Roman</vt:lpstr>
      <vt:lpstr>Wingdings 2</vt:lpstr>
      <vt:lpstr>Flow</vt:lpstr>
      <vt:lpstr>GIẢI PHÁP  TRIỂN KHAI HỆ THỐNG ĐÁNH GIÁ CÁN BỘ CÔNG CHỨC TOÀN THÀNH PHỐ</vt:lpstr>
      <vt:lpstr>Mục tiêu, yêu cầu</vt:lpstr>
      <vt:lpstr>Các điều kiện</vt:lpstr>
      <vt:lpstr>Phạm vi áp dụng</vt:lpstr>
      <vt:lpstr>Các hình thức đánh giá</vt:lpstr>
      <vt:lpstr>Qui trình vận hành của hệ thống</vt:lpstr>
      <vt:lpstr>Trình tự đánh giá trực tiếp và qua mạng</vt:lpstr>
      <vt:lpstr>Trình tự đánh giá với SMS và email</vt:lpstr>
      <vt:lpstr>Các chức năng của hệ thống</vt:lpstr>
      <vt:lpstr>Mô hình triển khai</vt:lpstr>
      <vt:lpstr>Các thiết bị cần đầu tư</vt:lpstr>
      <vt:lpstr>Một số màn hình minh họa</vt:lpstr>
      <vt:lpstr>PowerPoint Presentation</vt:lpstr>
      <vt:lpstr>PowerPoint Presentation</vt:lpstr>
      <vt:lpstr>PowerPoint Presentation</vt:lpstr>
      <vt:lpstr>Các chức năng tổng hợp lại</vt:lpstr>
      <vt:lpstr>Các phương án đánh giá cán bộ</vt:lpstr>
      <vt:lpstr>Các phương án đánh giá cán bộ</vt:lpstr>
      <vt:lpstr>Các phương án đánh giá cán bộ</vt:lpstr>
      <vt:lpstr>Một số mẫu thống kê, biểu đồ mẫu (tt)</vt:lpstr>
      <vt:lpstr>Một số mẫu thống kê, biểu đồ mẫu (tt)</vt:lpstr>
      <vt:lpstr>Một số mẫu thống kê, biểu đồ mẫu (tt)</vt:lpstr>
      <vt:lpstr>Một số mẫu thống kê, biểu đồ mẫu</vt:lpstr>
      <vt:lpstr>Một số mẫu thống kê, biểu đồ mẫu (tt)</vt:lpstr>
      <vt:lpstr>PowerPoint Presentation</vt:lpstr>
      <vt:lpstr>PowerPoint Presentation</vt:lpstr>
      <vt:lpstr>Một số mẫu thống kê, biểu đồ mẫu (tt)</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GIẢI PHÁP ĐÁNH GIÁ CÁN BỘ CÔNG CHỨC</dc:title>
  <dc:creator>Nguyen Thanh An</dc:creator>
  <cp:lastModifiedBy>Sinbad911</cp:lastModifiedBy>
  <cp:revision>62</cp:revision>
  <dcterms:created xsi:type="dcterms:W3CDTF">2015-05-19T15:13:05Z</dcterms:created>
  <dcterms:modified xsi:type="dcterms:W3CDTF">2015-07-20T01:34:44Z</dcterms:modified>
</cp:coreProperties>
</file>